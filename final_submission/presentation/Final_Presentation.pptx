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the extended version of my watermarking project. The first submission tested a hybrid DWT-DCT-SVD scheme on two images. Since then I audited the code, rebuilt the evaluation on 100 unique images, added control experiments, compared the scheme with existing technology, and tried it on real video. I will show what held up, what did not, and what I corrected.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images are copied in one click. An invisible watermark carries an ownership signal inside the pixels. Three constraints must hold at once: imperceptible, robust, explainable. The project's third constraint is explainability: every step is a closed-form linear-algebra operation, no learned component. In this extended work I test whether the first two constraints hold at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one to three are from the first submission: implement, measure imperceptibility, measure robustness. The new ones are: characterise alpha, find and explain failure modes including false positives, and compare with existing technology and video. Scope boundaries matter: grey-scale only, no machine learning, non-blind scheme, video exploratory.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timeline. Spatial LSB marks by van Schyndel et al. 1994 are fragile. Cox et al. 1997 put a spread-spectrum watermark into significant spectral coefficients. Liu and Tan 2002 introduced SVD ownership watermarking; Ganic and Eskicioglu 2004 combined DWT and SVD. Later hybrids cascade DWT, DCT and SVD. The important warning: comments by Zhang and Li in 2005 and Ting in 2005 concern false positives and ambiguity attacks on this family. I verified the bibliographic details of each reference; I did not re-run those papers' experiments. The claim in my first report that hybrids always beat single transforms is a literature trend, not something I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embedding pipeline: host image, one-level Haar DWT, take the LL band, apply a 2-D DCT to the whole band, take the SVD, add alpha times the singular values of the logo, and invert the transforms. Two corrections to the first submission are visible here: the DCT is global, not block-wise. The result is an 8-bit image that looks like the original; the owner keeps a key.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Extraction repeats DWT, DCT and SVD on the received, possibly attacked image and subtracts the stored original singular values, divides by alpha and rebuilds the logo from the key's singular vectors. Second correction: the scheme is non-blind, not semi-blind, because the key contains the original singular values. And note the consequence we will measure later: because the logo's singular vectors are in the key, the extractor returns the key owner's logo whatever singular values it finds.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mathematics in five lines. Haar DWT gives the approximation band. A global orthonormal DCT-II moves it to a frequency domain. SVD factors the DCT matrix and the logo. The embedding rule adds alpha times the logo's singular values to the host's singular values. Extraction subtracts the stored original singular values and divides by alpha, then rebuilds the logo from the key's singular vectors. Important consequence: the identity of the logo lives in the key, not in the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operation in the code is documented in TRANSFORMATIONS_REFERENCE with its mathematics, parameters, limitations and complexity. The core is T2 to T5. T8 to T17 are the attacks used for testing. T20, video, is new and exploratory. Generic operations such as Sobel, CLAHE or morphology are not in this project and are not claimed.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94 real images from open sample collections hosted on GitHub — OpenCV, scikit-image, torchvision, three.js textures and others — plus six synthetic controls. They are grey-standardised, square-cropped and resized to 512. Near duplicates were rejected by a hash, and a test asserts uniqueness. Important caveat: only raw GitHub and PyPI were reachable, so this is a convenience sample, not a benchmark, and rights for most photographs are not documented upstream — I record exactly what upstream says.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imperceptibility, E2 robustness with fifteen conditions — fourteen attacks plus the unattacked reference, which the first report counted as an attack — under two protocols, E3 an alpha sweep with four attacks, E4 false-positive controls. S1 and S2 are the technology comparisons and V1 is the video test. Metrics: PSNR and SSIM for imperceptibility; NC, ZNCC and BER for the recovered logo. The 0.75 threshold is the project's convention; I could not find a primary literature source for it, and I measure its false-alarm rate in E4.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100 images the mean PSNR is 36.0 dB and mean SSIM 0.992. Notice that PSNR is almost the same for most images, about 35.6 dB, because the added energy is set by the logo's singular values, not by the host. SSIM exposes exceptions: the near-black Milky Way image has PSNR 35.9 but SSIM 0.58, and the checkerboard 0.86. So PSNR alone would have hidden these failures.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1277 of 1500 trials reach NC at least 0.75 when the unattacked reference is included, as in the first submission, and 1177 of 1400 counting only the 14 attacks. Very robust: JPEG, median filter, sharpening, scaling, salt and pepper, blur, mild noise. Moderate: five and fifteen degree rotation, strong noise. Weak: histogram equalisation, 44 percent, and border cropping, 1 percent. The first submission said moderate rotation and scaling had mean NC above 0.93; with 100 images that holds for scaling, 0.938, but not for 5 degree rotation, 0.880.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100 images, NC after noise and rotation is negatively correlated with image contrast — Spearman rho about minus 0.65 for strong Gaussian noise, minus 0.68 for salt and pepper and minus 0.55 for 15 degree rotation. Histogram equalisation instead correlates with mean brightness. These are associations, with uncorrected p-values and n of 100, not demonstrated causes. By category, the two document-text images are the weakest, portraits and documents are most sensitive to equalisation; several categories have only one to four images so I treat them as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corrects the first submission. Its trade-off figure used two y-axes with the NC axis zoomed to 0.93 to 0.99, and its JPEG simulation truncated floats, which lowered NC only at alpha 0.02. I re-created its conditions exactly and got the same numbers, then showed that rounding removes the dip. With 100 images and four attacks the picture is clear: after JPEG the NC is flat, but under noise, blur and rotation robustness grows with alpha while PSNR falls. For Gaussian noise the pass rate goes from 9 percent at alpha 0.02 to 85 percent at 0.10 and 95 percent at 0.40, while PSNR falls below 30 dB from alpha 0.20.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finding. Control C: embed a different logo in the same host and decode with the key of logo A. The extractor returns the key owner's logo, NC 0.975 against 0.977 for the genuine pair. That is the false-positive problem described for SVD schemes in the literature, now measured for this implementation. Controls A and B: unrelated images decoded with a wrong key score 0.37 to 0.40 on average, and about 10 to 13 percent exceed the 0.75 threshold. A claim of ownership therefore needs an additional safeguard such as an image-bound signature; I did not implement one. I also tried embedding the principal component instead; that made things worse, the unwatermarked image still decoded at 0.98.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Border cropping: mean NC 0.02; with 43.75 percent of the area zeroed every singular value changes. The first report called this 25 percent cropping; 25 percent of each dimension is 43.75 percent of the area. Histogram equalisation: 44 percent pass; it varies between images, 0.10 for the cameraman and 0.66 for the astronaut in the first submission. Near-constant images: SSIM collapses though PSNR is fine. Rotation: 72 percent pass at 15 degrees; there is no re-registration.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benchmark: the same operation on the same input in different libraries, one thread, in memory, warm-up and repeats. Results agree numerically: DCT and SVD to ten to the minus sixteen, Pillow and OpenCV JPEG bit-identical. OpenCV is much faster for the attack operations — about 340 times for the 3 by 3 median — partly because it works on uint8. But the whole 100-image experiment takes about 80 seconds, so changing libraries is not justified on speed. ImageMagick as a command line tool costs about 49 milliseconds per call, dominated by process start-up.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Scheme-level comparison with the same 4095-bit payload and the same attacks on 30 images. The block-DCT baseline was tuned to match the project's PSNR. LSB is imperceptible but destroyed by any processing. The open-source blind-watermark package, which is also DWT-DCT-SVD but block-based and blind, has lower bit-error rates under most attacks at higher PSNR, 42 against 36 dB. But it is 13 times slower to embed, 18 times slower to extract, and worse under rotation and strong JPEG. Caveat: its YUV design and my channel-wise attacks may favour it. So the project is a simple, explainable, key-based alternative, not a better algorithm.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project's future-scope slide mentioned video, I tested it: 60 frames from each of two real clips, read with OpenCV, watermarked frame by frame, each with its own key, re-encoded with FFmpeg as lossless FFV1, H.264 at three quality levels, and MJPEG at two. All 720 decoded frames gave NC at least 0.972. So lossy codecs are not the difficulty. The caveats are important: keys are per frame, about 2 megabytes each; temporal attacks such as frame dropping or re-timing were not tested; and a naive misaligned frame-drop test still gave NC 0.97, presumably because neighbouring frames are similar — another sign that NC does not bind a mark to a frame.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direct comparison of the first submission's claims with the 100-image evidence. The headline numbers are reproducible and mostly hold. What changed: moderate rotation is weaker than claimed, the alpha trade-off figure was an artefact for JPEG, the block-DCT and semi-blind labels were wrong, the suite is fourteen attacks plus a reference, and — most importantly — extraction does not prove ownership.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the embed and extract numerics are unchanged, so the first submission's numbers remain reproducible — I re-ran its experiment and got the same table within 0.004. Added: input validation, a safe image loader, a dataset builder, a multiprocessing batch runner that records status and time per operation and re-opens every output, seeded attacks, and 43 tests. Bug found during development, for transparency: a debug flag overwrote the metadata file; fixed, with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false positives, non-blind key, cropping and rotation, histogram equalisation, grey-scale only, a lossy clean extraction of about 1 percent BER, and a dataset that is a convenience sample. Future work is ordered by evidence: first bind the logo to the image; then block-based redundant embedding for cropping; then geometric re-synchronisation; colour via luminance; and a proper video design with shared or index-aware keys.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The scheme is transparent and survives re-compression and filtering well: 85 percent of all trials, 84 percent of attack trials. Imperceptibility is good on typical images with exceptions. The extension changed the story in four ways: the alpha trade-off exists only for harsher attacks, rotation and equalisation are weaker than claimed, a high NC does not prove ownership, and an existing package beats the project on most attacks. What I would do next is bind the logo to the image. Thank you; questions welcome.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All bibliographic details were checked against publisher or secondary records; entries that could not be verified were not cited. The full list with verification status is in research/REFERENCES.md.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949440" y="914400"/>
            <a:ext cx="4754880" cy="4754880"/>
          </a:xfrm>
          <a:prstGeom prst="ellipse">
            <a:avLst/>
          </a:prstGeom>
          <a:noFill/>
          <a:ln w="12700">
            <a:solidFill>
              <a:srgbClr val="1F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06640" y="1371600"/>
            <a:ext cx="3840480" cy="3840480"/>
          </a:xfrm>
          <a:prstGeom prst="ellipse">
            <a:avLst/>
          </a:prstGeom>
          <a:noFill/>
          <a:ln w="12700">
            <a:solidFill>
              <a:srgbClr val="1B2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0" y="1828800"/>
            <a:ext cx="2926080" cy="2926080"/>
          </a:xfrm>
          <a:prstGeom prst="ellipse">
            <a:avLst/>
          </a:prstGeom>
          <a:noFill/>
          <a:ln w="12700">
            <a:solidFill>
              <a:srgbClr val="1F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86000"/>
            <a:ext cx="2011680" cy="2011680"/>
          </a:xfrm>
          <a:prstGeom prst="ellipse">
            <a:avLst/>
          </a:prstGeom>
          <a:noFill/>
          <a:ln w="12700">
            <a:solidFill>
              <a:srgbClr val="1B2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78240" y="2743200"/>
            <a:ext cx="1097280" cy="1097280"/>
          </a:xfrm>
          <a:prstGeom prst="ellipse">
            <a:avLst/>
          </a:prstGeom>
          <a:noFill/>
          <a:ln w="12700">
            <a:solidFill>
              <a:srgbClr val="1F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62872" y="3227832"/>
            <a:ext cx="128016" cy="128016"/>
          </a:xfrm>
          <a:prstGeom prst="ellipse">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0080"/>
            <a:ext cx="8229600" cy="320040"/>
          </a:xfrm>
          <a:prstGeom prst="rect">
            <a:avLst/>
          </a:prstGeom>
          <a:noFill/>
        </p:spPr>
        <p:txBody>
          <a:bodyPr wrap="square" lIns="36576" rIns="36576" tIns="18288" bIns="18288" anchor="t">
            <a:spAutoFit/>
          </a:bodyPr>
          <a:lstStyle/>
          <a:p>
            <a:r>
              <a:rPr b="1" sz="1050" i="0">
                <a:solidFill>
                  <a:srgbClr val="17B8B0"/>
                </a:solidFill>
                <a:latin typeface="Calibri"/>
              </a:rPr>
              <a:t>NMIMS  MPSTME   ·   B.TECH COMPUTER ENGINEERING</a:t>
            </a:r>
          </a:p>
        </p:txBody>
      </p:sp>
      <p:sp>
        <p:nvSpPr>
          <p:cNvPr id="10" name="TextBox 9"/>
          <p:cNvSpPr txBox="1"/>
          <p:nvPr/>
        </p:nvSpPr>
        <p:spPr>
          <a:xfrm>
            <a:off x="731520" y="1554480"/>
            <a:ext cx="8229600" cy="1645920"/>
          </a:xfrm>
          <a:prstGeom prst="rect">
            <a:avLst/>
          </a:prstGeom>
          <a:noFill/>
        </p:spPr>
        <p:txBody>
          <a:bodyPr wrap="square" lIns="36576" rIns="36576" tIns="18288" bIns="18288" anchor="t">
            <a:spAutoFit/>
          </a:bodyPr>
          <a:lstStyle/>
          <a:p>
            <a:pPr>
              <a:lnSpc>
                <a:spcPct val="90000"/>
              </a:lnSpc>
            </a:pPr>
            <a:r>
              <a:rPr b="1" sz="5000" i="0">
                <a:solidFill>
                  <a:srgbClr val="FFFFFF"/>
                </a:solidFill>
                <a:latin typeface="Calibri"/>
              </a:rPr>
              <a:t>Digital Image</a:t>
            </a:r>
          </a:p>
          <a:p>
            <a:pPr>
              <a:lnSpc>
                <a:spcPct val="90000"/>
              </a:lnSpc>
            </a:pPr>
            <a:r>
              <a:rPr b="1" sz="5000" i="0">
                <a:solidFill>
                  <a:srgbClr val="FFFFFF"/>
                </a:solidFill>
                <a:latin typeface="Calibri"/>
              </a:rPr>
              <a:t>Watermarking</a:t>
            </a:r>
          </a:p>
        </p:txBody>
      </p:sp>
      <p:sp>
        <p:nvSpPr>
          <p:cNvPr id="11" name="TextBox 10"/>
          <p:cNvSpPr txBox="1"/>
          <p:nvPr/>
        </p:nvSpPr>
        <p:spPr>
          <a:xfrm>
            <a:off x="731520" y="3337560"/>
            <a:ext cx="7863840" cy="822960"/>
          </a:xfrm>
          <a:prstGeom prst="rect">
            <a:avLst/>
          </a:prstGeom>
          <a:noFill/>
        </p:spPr>
        <p:txBody>
          <a:bodyPr wrap="square" lIns="36576" rIns="36576" tIns="18288" bIns="18288" anchor="t">
            <a:spAutoFit/>
          </a:bodyPr>
          <a:lstStyle/>
          <a:p>
            <a:r>
              <a:rPr b="0" sz="1500" i="0">
                <a:solidFill>
                  <a:srgbClr val="93A8C7"/>
                </a:solidFill>
                <a:latin typeface="Calibri"/>
              </a:rPr>
              <a:t>A hybrid DWT–DCT–SVD approach — extended evaluation on 100 images, controls, technology comparison and a video feasibility test</a:t>
            </a:r>
          </a:p>
        </p:txBody>
      </p:sp>
      <p:sp>
        <p:nvSpPr>
          <p:cNvPr id="12" name="Rounded Rectangle 11"/>
          <p:cNvSpPr/>
          <p:nvPr/>
        </p:nvSpPr>
        <p:spPr>
          <a:xfrm>
            <a:off x="731520" y="4343400"/>
            <a:ext cx="5440680" cy="384048"/>
          </a:xfrm>
          <a:prstGeom prst="roundRect">
            <a:avLst>
              <a:gd name="adj" fmla="val 30000"/>
            </a:avLst>
          </a:prstGeom>
          <a:noFill/>
          <a:ln w="9525">
            <a:solidFill>
              <a:srgbClr val="17B8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43400"/>
            <a:ext cx="5440680" cy="384048"/>
          </a:xfrm>
          <a:prstGeom prst="rect">
            <a:avLst/>
          </a:prstGeom>
          <a:noFill/>
        </p:spPr>
        <p:txBody>
          <a:bodyPr wrap="square" lIns="36576" rIns="36576" tIns="18288" bIns="18288" anchor="ctr">
            <a:spAutoFit/>
          </a:bodyPr>
          <a:lstStyle/>
          <a:p>
            <a:pPr algn="ctr"/>
            <a:r>
              <a:rPr b="1" sz="950" i="0">
                <a:solidFill>
                  <a:srgbClr val="17B8B0"/>
                </a:solidFill>
                <a:latin typeface="Calibri"/>
              </a:rPr>
              <a:t>CLASSICAL SIGNAL PROCESSING  —  NO MACHINE LEARNING / DEEP LEARNING</a:t>
            </a:r>
          </a:p>
        </p:txBody>
      </p:sp>
      <p:sp>
        <p:nvSpPr>
          <p:cNvPr id="14" name="TextBox 13"/>
          <p:cNvSpPr txBox="1"/>
          <p:nvPr/>
        </p:nvSpPr>
        <p:spPr>
          <a:xfrm>
            <a:off x="731520" y="5440680"/>
            <a:ext cx="8229600" cy="822960"/>
          </a:xfrm>
          <a:prstGeom prst="rect">
            <a:avLst/>
          </a:prstGeom>
          <a:noFill/>
        </p:spPr>
        <p:txBody>
          <a:bodyPr wrap="square" lIns="36576" rIns="36576" tIns="18288" bIns="18288" anchor="t">
            <a:spAutoFit/>
          </a:bodyPr>
          <a:lstStyle/>
          <a:p>
            <a:pPr>
              <a:spcAft>
                <a:spcPts val="200"/>
              </a:spcAft>
            </a:pPr>
            <a:r>
              <a:rPr b="1" sz="1150" i="0">
                <a:solidFill>
                  <a:srgbClr val="FFFFFF"/>
                </a:solidFill>
                <a:latin typeface="Calibri"/>
              </a:rPr>
              <a:t>Krishang Vikram Singh</a:t>
            </a:r>
          </a:p>
          <a:p>
            <a:pPr>
              <a:spcAft>
                <a:spcPts val="200"/>
              </a:spcAft>
            </a:pPr>
            <a:r>
              <a:rPr b="0" sz="1150" i="0">
                <a:solidFill>
                  <a:srgbClr val="FFFFFF"/>
                </a:solidFill>
                <a:latin typeface="Calibri"/>
              </a:rPr>
              <a:t>Roll No. B106  ·  Batch C1</a:t>
            </a:r>
          </a:p>
          <a:p>
            <a:pPr>
              <a:spcAft>
                <a:spcPts val="200"/>
              </a:spcAft>
            </a:pPr>
            <a:r>
              <a:rPr b="0" sz="1150" i="0">
                <a:solidFill>
                  <a:srgbClr val="FFFFFF"/>
                </a:solidFill>
                <a:latin typeface="Calibri"/>
              </a:rPr>
              <a:t>Subject: Image and Video Processing (IVP)  ·  First submission July 2026 · extended edition October 2026</a:t>
            </a:r>
          </a:p>
        </p:txBody>
      </p:sp>
      <p:sp>
        <p:nvSpPr>
          <p:cNvPr id="15" name="TextBox 14"/>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93A8C7"/>
                </a:solidFill>
                <a:latin typeface="Calibri"/>
              </a:rPr>
              <a:t>NMIMS MPSTME  ·  Image &amp; Video Processing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02</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INTRODUCTION · MOTIVATION</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Copying an image takes a second — proving who owns it is the hard part</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02</a:t>
            </a:r>
          </a:p>
        </p:txBody>
      </p:sp>
      <p:sp>
        <p:nvSpPr>
          <p:cNvPr id="8" name="Rounded Rectangle 7"/>
          <p:cNvSpPr/>
          <p:nvPr/>
        </p:nvSpPr>
        <p:spPr>
          <a:xfrm>
            <a:off x="502920" y="1828800"/>
            <a:ext cx="3611880" cy="23317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3337560" cy="320040"/>
          </a:xfrm>
          <a:prstGeom prst="rect">
            <a:avLst/>
          </a:prstGeom>
          <a:noFill/>
        </p:spPr>
        <p:txBody>
          <a:bodyPr wrap="square" lIns="36576" rIns="36576" tIns="18288" bIns="18288" anchor="t">
            <a:spAutoFit/>
          </a:bodyPr>
          <a:lstStyle/>
          <a:p>
            <a:r>
              <a:rPr b="1" sz="1250" i="0">
                <a:solidFill>
                  <a:srgbClr val="132347"/>
                </a:solidFill>
                <a:latin typeface="Calibri"/>
              </a:rPr>
              <a:t>Imperceptible</a:t>
            </a:r>
          </a:p>
        </p:txBody>
      </p:sp>
      <p:sp>
        <p:nvSpPr>
          <p:cNvPr id="10" name="TextBox 9"/>
          <p:cNvSpPr txBox="1"/>
          <p:nvPr/>
        </p:nvSpPr>
        <p:spPr>
          <a:xfrm>
            <a:off x="640080" y="2286000"/>
            <a:ext cx="3337560" cy="1828799"/>
          </a:xfrm>
          <a:prstGeom prst="rect">
            <a:avLst/>
          </a:prstGeom>
          <a:noFill/>
        </p:spPr>
        <p:txBody>
          <a:bodyPr wrap="square" lIns="36576" rIns="36576" tIns="18288" bIns="18288" anchor="t">
            <a:spAutoFit/>
          </a:bodyPr>
          <a:lstStyle/>
          <a:p>
            <a:r>
              <a:rPr b="0" sz="1400" i="0">
                <a:solidFill>
                  <a:srgbClr val="1A2233"/>
                </a:solidFill>
                <a:latin typeface="Calibri"/>
              </a:rPr>
              <a:t>The watermark must not visibly change the image. Measured with PSNR and SSIM against the </a:t>
            </a:r>
            <a:r>
              <a:rPr b="1" sz="1400" i="0">
                <a:solidFill>
                  <a:srgbClr val="1A2233"/>
                </a:solidFill>
                <a:latin typeface="Calibri"/>
              </a:rPr>
              <a:t>unwatermarked original</a:t>
            </a:r>
            <a:r>
              <a:rPr b="0" sz="1400" i="0">
                <a:solidFill>
                  <a:srgbClr val="1A2233"/>
                </a:solidFill>
                <a:latin typeface="Calibri"/>
              </a:rPr>
              <a:t>.</a:t>
            </a:r>
          </a:p>
        </p:txBody>
      </p:sp>
      <p:sp>
        <p:nvSpPr>
          <p:cNvPr id="11" name="Rounded Rectangle 10"/>
          <p:cNvSpPr/>
          <p:nvPr/>
        </p:nvSpPr>
        <p:spPr>
          <a:xfrm>
            <a:off x="4288536" y="1828800"/>
            <a:ext cx="3611880" cy="23317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5696" y="1920240"/>
            <a:ext cx="3337560" cy="320040"/>
          </a:xfrm>
          <a:prstGeom prst="rect">
            <a:avLst/>
          </a:prstGeom>
          <a:noFill/>
        </p:spPr>
        <p:txBody>
          <a:bodyPr wrap="square" lIns="36576" rIns="36576" tIns="18288" bIns="18288" anchor="t">
            <a:spAutoFit/>
          </a:bodyPr>
          <a:lstStyle/>
          <a:p>
            <a:r>
              <a:rPr b="1" sz="1250" i="0">
                <a:solidFill>
                  <a:srgbClr val="132347"/>
                </a:solidFill>
                <a:latin typeface="Calibri"/>
              </a:rPr>
              <a:t>Robust</a:t>
            </a:r>
          </a:p>
        </p:txBody>
      </p:sp>
      <p:sp>
        <p:nvSpPr>
          <p:cNvPr id="13" name="TextBox 12"/>
          <p:cNvSpPr txBox="1"/>
          <p:nvPr/>
        </p:nvSpPr>
        <p:spPr>
          <a:xfrm>
            <a:off x="4425696" y="2286000"/>
            <a:ext cx="3337560" cy="1828799"/>
          </a:xfrm>
          <a:prstGeom prst="rect">
            <a:avLst/>
          </a:prstGeom>
          <a:noFill/>
        </p:spPr>
        <p:txBody>
          <a:bodyPr wrap="square" lIns="36576" rIns="36576" tIns="18288" bIns="18288" anchor="t">
            <a:spAutoFit/>
          </a:bodyPr>
          <a:lstStyle/>
          <a:p>
            <a:r>
              <a:rPr b="0" sz="1400" i="0">
                <a:solidFill>
                  <a:srgbClr val="1A2233"/>
                </a:solidFill>
                <a:latin typeface="Calibri"/>
              </a:rPr>
              <a:t>It must survive compression, noise, filtering and geometric change. Measured with NC / ZNCC / BER of the recovered logo.</a:t>
            </a:r>
          </a:p>
        </p:txBody>
      </p:sp>
      <p:sp>
        <p:nvSpPr>
          <p:cNvPr id="14" name="Rounded Rectangle 13"/>
          <p:cNvSpPr/>
          <p:nvPr/>
        </p:nvSpPr>
        <p:spPr>
          <a:xfrm>
            <a:off x="8074152" y="1828800"/>
            <a:ext cx="3611880" cy="23317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20240"/>
            <a:ext cx="3337560" cy="320040"/>
          </a:xfrm>
          <a:prstGeom prst="rect">
            <a:avLst/>
          </a:prstGeom>
          <a:noFill/>
        </p:spPr>
        <p:txBody>
          <a:bodyPr wrap="square" lIns="36576" rIns="36576" tIns="18288" bIns="18288" anchor="t">
            <a:spAutoFit/>
          </a:bodyPr>
          <a:lstStyle/>
          <a:p>
            <a:r>
              <a:rPr b="1" sz="1250" i="0">
                <a:solidFill>
                  <a:srgbClr val="132347"/>
                </a:solidFill>
                <a:latin typeface="Calibri"/>
              </a:rPr>
              <a:t>Explainable</a:t>
            </a:r>
          </a:p>
        </p:txBody>
      </p:sp>
      <p:sp>
        <p:nvSpPr>
          <p:cNvPr id="16" name="TextBox 15"/>
          <p:cNvSpPr txBox="1"/>
          <p:nvPr/>
        </p:nvSpPr>
        <p:spPr>
          <a:xfrm>
            <a:off x="8211312" y="2286000"/>
            <a:ext cx="3337560" cy="1828799"/>
          </a:xfrm>
          <a:prstGeom prst="rect">
            <a:avLst/>
          </a:prstGeom>
          <a:noFill/>
        </p:spPr>
        <p:txBody>
          <a:bodyPr wrap="square" lIns="36576" rIns="36576" tIns="18288" bIns="18288" anchor="t">
            <a:spAutoFit/>
          </a:bodyPr>
          <a:lstStyle/>
          <a:p>
            <a:r>
              <a:rPr b="0" sz="1400" i="0">
                <a:solidFill>
                  <a:srgbClr val="1A2233"/>
                </a:solidFill>
                <a:latin typeface="Calibri"/>
              </a:rPr>
              <a:t>DWT, DCT and SVD are closed-form and verifiable by hand — no black-box model. A deliberate scope choice, not a claim of superiority.</a:t>
            </a:r>
          </a:p>
        </p:txBody>
      </p:sp>
      <p:sp>
        <p:nvSpPr>
          <p:cNvPr id="17" name="Rounded Rectangle 16"/>
          <p:cNvSpPr/>
          <p:nvPr/>
        </p:nvSpPr>
        <p:spPr>
          <a:xfrm>
            <a:off x="502920" y="4434840"/>
            <a:ext cx="11183112" cy="1600200"/>
          </a:xfrm>
          <a:prstGeom prst="roundRect">
            <a:avLst>
              <a:gd name="adj" fmla="val 5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526280"/>
            <a:ext cx="10607040" cy="320040"/>
          </a:xfrm>
          <a:prstGeom prst="rect">
            <a:avLst/>
          </a:prstGeom>
          <a:noFill/>
        </p:spPr>
        <p:txBody>
          <a:bodyPr wrap="square" lIns="36576" rIns="36576" tIns="18288" bIns="18288" anchor="t">
            <a:spAutoFit/>
          </a:bodyPr>
          <a:lstStyle/>
          <a:p>
            <a:r>
              <a:rPr b="1" sz="1000" i="0">
                <a:solidFill>
                  <a:srgbClr val="17B8B0"/>
                </a:solidFill>
                <a:latin typeface="Calibri"/>
              </a:rPr>
              <a:t>WHAT THIS EXTENDED WORK ADDS</a:t>
            </a:r>
          </a:p>
        </p:txBody>
      </p:sp>
      <p:sp>
        <p:nvSpPr>
          <p:cNvPr id="19" name="TextBox 18"/>
          <p:cNvSpPr txBox="1"/>
          <p:nvPr/>
        </p:nvSpPr>
        <p:spPr>
          <a:xfrm>
            <a:off x="777240" y="4846320"/>
            <a:ext cx="10698480" cy="1188720"/>
          </a:xfrm>
          <a:prstGeom prst="rect">
            <a:avLst/>
          </a:prstGeom>
          <a:noFill/>
        </p:spPr>
        <p:txBody>
          <a:bodyPr wrap="square" lIns="36576" rIns="36576">
            <a:spAutoFit/>
          </a:bodyPr>
          <a:lstStyle/>
          <a:p>
            <a:pPr>
              <a:spcAft>
                <a:spcPts val="300"/>
              </a:spcAft>
            </a:pPr>
            <a:r>
              <a:rPr sz="1250">
                <a:solidFill>
                  <a:srgbClr val="17B8B0"/>
                </a:solidFill>
                <a:latin typeface="Calibri"/>
              </a:rPr>
              <a:t>▪  </a:t>
            </a:r>
            <a:r>
              <a:rPr b="1" sz="1250">
                <a:solidFill>
                  <a:srgbClr val="FFFFFF"/>
                </a:solidFill>
                <a:latin typeface="Calibri"/>
              </a:rPr>
              <a:t>100 unique images</a:t>
            </a:r>
            <a:r>
              <a:rPr sz="1250">
                <a:solidFill>
                  <a:srgbClr val="FFFFFF"/>
                </a:solidFill>
                <a:latin typeface="Calibri"/>
              </a:rPr>
              <a:t> instead of two, with seeded attacks, status logging and 43 unit tests</a:t>
            </a:r>
          </a:p>
          <a:p>
            <a:pPr>
              <a:spcAft>
                <a:spcPts val="300"/>
              </a:spcAft>
            </a:pPr>
            <a:r>
              <a:rPr sz="1250">
                <a:solidFill>
                  <a:srgbClr val="17B8B0"/>
                </a:solidFill>
                <a:latin typeface="Calibri"/>
              </a:rPr>
              <a:t>▪  </a:t>
            </a:r>
            <a:r>
              <a:rPr b="1" sz="1250">
                <a:solidFill>
                  <a:srgbClr val="FFFFFF"/>
                </a:solidFill>
                <a:latin typeface="Calibri"/>
              </a:rPr>
              <a:t>Controls</a:t>
            </a:r>
            <a:r>
              <a:rPr sz="1250">
                <a:solidFill>
                  <a:srgbClr val="FFFFFF"/>
                </a:solidFill>
                <a:latin typeface="Calibri"/>
              </a:rPr>
              <a:t> that ask whether a high NC really proves the watermark is present</a:t>
            </a:r>
          </a:p>
          <a:p>
            <a:pPr>
              <a:spcAft>
                <a:spcPts val="300"/>
              </a:spcAft>
            </a:pPr>
            <a:r>
              <a:rPr sz="1250">
                <a:solidFill>
                  <a:srgbClr val="17B8B0"/>
                </a:solidFill>
                <a:latin typeface="Calibri"/>
              </a:rPr>
              <a:t>▪  </a:t>
            </a:r>
            <a:r>
              <a:rPr b="1" sz="1250">
                <a:solidFill>
                  <a:srgbClr val="FFFFFF"/>
                </a:solidFill>
                <a:latin typeface="Calibri"/>
              </a:rPr>
              <a:t>Technology comparison</a:t>
            </a:r>
            <a:r>
              <a:rPr sz="1250">
                <a:solidFill>
                  <a:srgbClr val="FFFFFF"/>
                </a:solidFill>
                <a:latin typeface="Calibri"/>
              </a:rPr>
              <a:t> (libraries and an existing watermarking package) and an exploratory </a:t>
            </a:r>
            <a:r>
              <a:rPr b="1" sz="1250">
                <a:solidFill>
                  <a:srgbClr val="FFFFFF"/>
                </a:solidFill>
                <a:latin typeface="Calibri"/>
              </a:rPr>
              <a:t>video</a:t>
            </a:r>
            <a:r>
              <a:rPr sz="1250">
                <a:solidFill>
                  <a:srgbClr val="FFFFFF"/>
                </a:solidFill>
                <a:latin typeface="Calibri"/>
              </a:rPr>
              <a:t>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03</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OBJECTIVES AND SCOPE</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Six objectives — three inherited from the first submission, three new</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03</a:t>
            </a:r>
          </a:p>
        </p:txBody>
      </p:sp>
      <p:graphicFrame>
        <p:nvGraphicFramePr>
          <p:cNvPr id="8" name="Table 7"/>
          <p:cNvGraphicFramePr>
            <a:graphicFrameLocks noGrp="1"/>
          </p:cNvGraphicFramePr>
          <p:nvPr/>
        </p:nvGraphicFramePr>
        <p:xfrm>
          <a:off x="502920" y="1783080"/>
          <a:ext cx="6949437" cy="3328416"/>
        </p:xfrm>
        <a:graphic>
          <a:graphicData uri="http://schemas.openxmlformats.org/drawingml/2006/table">
            <a:tbl>
              <a:tblPr firstRow="1" bandRow="1">
                <a:tableStyleId>{5C22544A-7EE6-4342-B048-85BDC9FD1C3A}</a:tableStyleId>
              </a:tblPr>
              <a:tblGrid>
                <a:gridCol w="365759"/>
                <a:gridCol w="4754879"/>
                <a:gridCol w="1828799"/>
              </a:tblGrid>
              <a:tr h="475488">
                <a:tc>
                  <a:txBody>
                    <a:bodyPr wrap="square"/>
                    <a:lstStyle/>
                    <a:p>
                      <a:r>
                        <a:rPr sz="1100" b="1">
                          <a:solidFill>
                            <a:srgbClr val="FFFFFF"/>
                          </a:solidFill>
                          <a:latin typeface="Calibri"/>
                        </a:rPr>
                        <a:t>#</a:t>
                      </a:r>
                    </a:p>
                  </a:txBody>
                  <a:tcPr marL="54864" marR="54864" marT="22860" marB="22860" anchor="ctr">
                    <a:solidFill>
                      <a:srgbClr val="132347"/>
                    </a:solidFill>
                  </a:tcPr>
                </a:tc>
                <a:tc>
                  <a:txBody>
                    <a:bodyPr wrap="square"/>
                    <a:lstStyle/>
                    <a:p>
                      <a:r>
                        <a:rPr sz="1100" b="1">
                          <a:solidFill>
                            <a:srgbClr val="FFFFFF"/>
                          </a:solidFill>
                          <a:latin typeface="Calibri"/>
                        </a:rPr>
                        <a:t>Objective</a:t>
                      </a:r>
                    </a:p>
                  </a:txBody>
                  <a:tcPr marL="54864" marR="54864" marT="22860" marB="22860" anchor="ctr">
                    <a:solidFill>
                      <a:srgbClr val="132347"/>
                    </a:solidFill>
                  </a:tcPr>
                </a:tc>
                <a:tc>
                  <a:txBody>
                    <a:bodyPr wrap="square"/>
                    <a:lstStyle/>
                    <a:p>
                      <a:r>
                        <a:rPr sz="1100" b="1">
                          <a:solidFill>
                            <a:srgbClr val="FFFFFF"/>
                          </a:solidFill>
                          <a:latin typeface="Calibri"/>
                        </a:rPr>
                        <a:t>Status</a:t>
                      </a:r>
                    </a:p>
                  </a:txBody>
                  <a:tcPr marL="54864" marR="54864" marT="22860" marB="22860" anchor="ctr">
                    <a:solidFill>
                      <a:srgbClr val="132347"/>
                    </a:solidFill>
                  </a:tcPr>
                </a:tc>
              </a:tr>
              <a:tr h="475488">
                <a:tc>
                  <a:txBody>
                    <a:bodyPr wrap="square"/>
                    <a:lstStyle/>
                    <a:p>
                      <a:r>
                        <a:rPr sz="1100">
                          <a:solidFill>
                            <a:srgbClr val="1A2233"/>
                          </a:solidFill>
                          <a:latin typeface="Calibri"/>
                        </a:rPr>
                        <a:t>1</a:t>
                      </a:r>
                    </a:p>
                  </a:txBody>
                  <a:tcPr marL="54864" marR="54864" marT="22860" marB="22860" anchor="ctr">
                    <a:solidFill>
                      <a:srgbClr val="FFFFFF"/>
                    </a:solidFill>
                  </a:tcPr>
                </a:tc>
                <a:tc>
                  <a:txBody>
                    <a:bodyPr wrap="square"/>
                    <a:lstStyle/>
                    <a:p>
                      <a:r>
                        <a:rPr sz="1100">
                          <a:solidFill>
                            <a:srgbClr val="1A2233"/>
                          </a:solidFill>
                          <a:latin typeface="Calibri"/>
                        </a:rPr>
                        <a:t>Implement the hybrid DWT–DCT–SVD embed/extract pipeline</a:t>
                      </a:r>
                    </a:p>
                  </a:txBody>
                  <a:tcPr marL="54864" marR="54864" marT="22860" marB="22860" anchor="ctr">
                    <a:solidFill>
                      <a:srgbClr val="FFFFFF"/>
                    </a:solidFill>
                  </a:tcPr>
                </a:tc>
                <a:tc>
                  <a:txBody>
                    <a:bodyPr wrap="square"/>
                    <a:lstStyle/>
                    <a:p>
                      <a:r>
                        <a:rPr sz="1100">
                          <a:solidFill>
                            <a:srgbClr val="1A2233"/>
                          </a:solidFill>
                          <a:latin typeface="Calibri"/>
                        </a:rPr>
                        <a:t>inherited</a:t>
                      </a:r>
                    </a:p>
                  </a:txBody>
                  <a:tcPr marL="54864" marR="54864" marT="22860" marB="22860" anchor="ctr">
                    <a:solidFill>
                      <a:srgbClr val="FFFFFF"/>
                    </a:solidFill>
                  </a:tcPr>
                </a:tc>
              </a:tr>
              <a:tr h="475488">
                <a:tc>
                  <a:txBody>
                    <a:bodyPr wrap="square"/>
                    <a:lstStyle/>
                    <a:p>
                      <a:r>
                        <a:rPr sz="1100">
                          <a:solidFill>
                            <a:srgbClr val="1A2233"/>
                          </a:solidFill>
                          <a:latin typeface="Calibri"/>
                        </a:rPr>
                        <a:t>2</a:t>
                      </a:r>
                    </a:p>
                  </a:txBody>
                  <a:tcPr marL="54864" marR="54864" marT="22860" marB="22860" anchor="ctr">
                    <a:solidFill>
                      <a:srgbClr val="F3F5F9"/>
                    </a:solidFill>
                  </a:tcPr>
                </a:tc>
                <a:tc>
                  <a:txBody>
                    <a:bodyPr wrap="square"/>
                    <a:lstStyle/>
                    <a:p>
                      <a:r>
                        <a:rPr sz="1100">
                          <a:solidFill>
                            <a:srgbClr val="1A2233"/>
                          </a:solidFill>
                          <a:latin typeface="Calibri"/>
                        </a:rPr>
                        <a:t>Quantify imperceptibility (PSNR, SSIM)</a:t>
                      </a:r>
                    </a:p>
                  </a:txBody>
                  <a:tcPr marL="54864" marR="54864" marT="22860" marB="22860" anchor="ctr">
                    <a:solidFill>
                      <a:srgbClr val="F3F5F9"/>
                    </a:solidFill>
                  </a:tcPr>
                </a:tc>
                <a:tc>
                  <a:txBody>
                    <a:bodyPr wrap="square"/>
                    <a:lstStyle/>
                    <a:p>
                      <a:r>
                        <a:rPr sz="1100">
                          <a:solidFill>
                            <a:srgbClr val="1A2233"/>
                          </a:solidFill>
                          <a:latin typeface="Calibri"/>
                        </a:rPr>
                        <a:t>inherited · now 100 images</a:t>
                      </a:r>
                    </a:p>
                  </a:txBody>
                  <a:tcPr marL="54864" marR="54864" marT="22860" marB="22860" anchor="ctr">
                    <a:solidFill>
                      <a:srgbClr val="F3F5F9"/>
                    </a:solidFill>
                  </a:tcPr>
                </a:tc>
              </a:tr>
              <a:tr h="475488">
                <a:tc>
                  <a:txBody>
                    <a:bodyPr wrap="square"/>
                    <a:lstStyle/>
                    <a:p>
                      <a:r>
                        <a:rPr sz="1100">
                          <a:solidFill>
                            <a:srgbClr val="1A2233"/>
                          </a:solidFill>
                          <a:latin typeface="Calibri"/>
                        </a:rPr>
                        <a:t>3</a:t>
                      </a:r>
                    </a:p>
                  </a:txBody>
                  <a:tcPr marL="54864" marR="54864" marT="22860" marB="22860" anchor="ctr">
                    <a:solidFill>
                      <a:srgbClr val="FFFFFF"/>
                    </a:solidFill>
                  </a:tcPr>
                </a:tc>
                <a:tc>
                  <a:txBody>
                    <a:bodyPr wrap="square"/>
                    <a:lstStyle/>
                    <a:p>
                      <a:r>
                        <a:rPr sz="1100">
                          <a:solidFill>
                            <a:srgbClr val="1A2233"/>
                          </a:solidFill>
                          <a:latin typeface="Calibri"/>
                        </a:rPr>
                        <a:t>Quantify robustness (NC, BER + ZNCC) under 14 attacks and a no-attack reference</a:t>
                      </a:r>
                    </a:p>
                  </a:txBody>
                  <a:tcPr marL="54864" marR="54864" marT="22860" marB="22860" anchor="ctr">
                    <a:solidFill>
                      <a:srgbClr val="FFFFFF"/>
                    </a:solidFill>
                  </a:tcPr>
                </a:tc>
                <a:tc>
                  <a:txBody>
                    <a:bodyPr wrap="square"/>
                    <a:lstStyle/>
                    <a:p>
                      <a:r>
                        <a:rPr sz="1100">
                          <a:solidFill>
                            <a:srgbClr val="1A2233"/>
                          </a:solidFill>
                          <a:latin typeface="Calibri"/>
                        </a:rPr>
                        <a:t>inherited · now 100 images</a:t>
                      </a:r>
                    </a:p>
                  </a:txBody>
                  <a:tcPr marL="54864" marR="54864" marT="22860" marB="22860" anchor="ctr">
                    <a:solidFill>
                      <a:srgbClr val="FFFFFF"/>
                    </a:solidFill>
                  </a:tcPr>
                </a:tc>
              </a:tr>
              <a:tr h="475488">
                <a:tc>
                  <a:txBody>
                    <a:bodyPr wrap="square"/>
                    <a:lstStyle/>
                    <a:p>
                      <a:r>
                        <a:rPr sz="1100">
                          <a:solidFill>
                            <a:srgbClr val="1A2233"/>
                          </a:solidFill>
                          <a:latin typeface="Calibri"/>
                        </a:rPr>
                        <a:t>4</a:t>
                      </a:r>
                    </a:p>
                  </a:txBody>
                  <a:tcPr marL="54864" marR="54864" marT="22860" marB="22860" anchor="ctr">
                    <a:solidFill>
                      <a:srgbClr val="F3F5F9"/>
                    </a:solidFill>
                  </a:tcPr>
                </a:tc>
                <a:tc>
                  <a:txBody>
                    <a:bodyPr wrap="square"/>
                    <a:lstStyle/>
                    <a:p>
                      <a:r>
                        <a:rPr sz="1100">
                          <a:solidFill>
                            <a:srgbClr val="1A2233"/>
                          </a:solidFill>
                          <a:latin typeface="Calibri"/>
                        </a:rPr>
                        <a:t>Characterise the α trade-off</a:t>
                      </a:r>
                    </a:p>
                  </a:txBody>
                  <a:tcPr marL="54864" marR="54864" marT="22860" marB="22860" anchor="ctr">
                    <a:solidFill>
                      <a:srgbClr val="F3F5F9"/>
                    </a:solidFill>
                  </a:tcPr>
                </a:tc>
                <a:tc>
                  <a:txBody>
                    <a:bodyPr wrap="square"/>
                    <a:lstStyle/>
                    <a:p>
                      <a:r>
                        <a:rPr sz="1100">
                          <a:solidFill>
                            <a:srgbClr val="1A2233"/>
                          </a:solidFill>
                          <a:latin typeface="Calibri"/>
                        </a:rPr>
                        <a:t>re-done, 4 attacks</a:t>
                      </a:r>
                    </a:p>
                  </a:txBody>
                  <a:tcPr marL="54864" marR="54864" marT="22860" marB="22860" anchor="ctr">
                    <a:solidFill>
                      <a:srgbClr val="F3F5F9"/>
                    </a:solidFill>
                  </a:tcPr>
                </a:tc>
              </a:tr>
              <a:tr h="475488">
                <a:tc>
                  <a:txBody>
                    <a:bodyPr wrap="square"/>
                    <a:lstStyle/>
                    <a:p>
                      <a:r>
                        <a:rPr sz="1100">
                          <a:solidFill>
                            <a:srgbClr val="1A2233"/>
                          </a:solidFill>
                          <a:latin typeface="Calibri"/>
                        </a:rPr>
                        <a:t>5</a:t>
                      </a:r>
                    </a:p>
                  </a:txBody>
                  <a:tcPr marL="54864" marR="54864" marT="22860" marB="22860" anchor="ctr">
                    <a:solidFill>
                      <a:srgbClr val="FFFFFF"/>
                    </a:solidFill>
                  </a:tcPr>
                </a:tc>
                <a:tc>
                  <a:txBody>
                    <a:bodyPr wrap="square"/>
                    <a:lstStyle/>
                    <a:p>
                      <a:r>
                        <a:rPr sz="1100">
                          <a:solidFill>
                            <a:srgbClr val="1A2233"/>
                          </a:solidFill>
                          <a:latin typeface="Calibri"/>
                        </a:rPr>
                        <a:t>Find failure modes — including false positives (controls)</a:t>
                      </a:r>
                    </a:p>
                  </a:txBody>
                  <a:tcPr marL="54864" marR="54864" marT="22860" marB="22860" anchor="ctr">
                    <a:solidFill>
                      <a:srgbClr val="FFFFFF"/>
                    </a:solidFill>
                  </a:tcPr>
                </a:tc>
                <a:tc>
                  <a:txBody>
                    <a:bodyPr wrap="square"/>
                    <a:lstStyle/>
                    <a:p>
                      <a:r>
                        <a:rPr b="1" sz="1100">
                          <a:solidFill>
                            <a:srgbClr val="1A2233"/>
                          </a:solidFill>
                          <a:latin typeface="Calibri"/>
                        </a:rPr>
                        <a:t>new</a:t>
                      </a:r>
                    </a:p>
                  </a:txBody>
                  <a:tcPr marL="54864" marR="54864" marT="22860" marB="22860" anchor="ctr">
                    <a:solidFill>
                      <a:srgbClr val="FFFFFF"/>
                    </a:solidFill>
                  </a:tcPr>
                </a:tc>
              </a:tr>
              <a:tr h="475488">
                <a:tc>
                  <a:txBody>
                    <a:bodyPr wrap="square"/>
                    <a:lstStyle/>
                    <a:p>
                      <a:r>
                        <a:rPr sz="1100">
                          <a:solidFill>
                            <a:srgbClr val="1A2233"/>
                          </a:solidFill>
                          <a:latin typeface="Calibri"/>
                        </a:rPr>
                        <a:t>6</a:t>
                      </a:r>
                    </a:p>
                  </a:txBody>
                  <a:tcPr marL="54864" marR="54864" marT="22860" marB="22860" anchor="ctr">
                    <a:solidFill>
                      <a:srgbClr val="F3F5F9"/>
                    </a:solidFill>
                  </a:tcPr>
                </a:tc>
                <a:tc>
                  <a:txBody>
                    <a:bodyPr wrap="square"/>
                    <a:lstStyle/>
                    <a:p>
                      <a:r>
                        <a:rPr sz="1100">
                          <a:solidFill>
                            <a:srgbClr val="1A2233"/>
                          </a:solidFill>
                          <a:latin typeface="Calibri"/>
                        </a:rPr>
                        <a:t>Compare with libraries and an existing package; test video</a:t>
                      </a:r>
                    </a:p>
                  </a:txBody>
                  <a:tcPr marL="54864" marR="54864" marT="22860" marB="22860" anchor="ctr">
                    <a:solidFill>
                      <a:srgbClr val="F3F5F9"/>
                    </a:solidFill>
                  </a:tcPr>
                </a:tc>
                <a:tc>
                  <a:txBody>
                    <a:bodyPr wrap="square"/>
                    <a:lstStyle/>
                    <a:p>
                      <a:r>
                        <a:rPr b="1" sz="1100">
                          <a:solidFill>
                            <a:srgbClr val="1A2233"/>
                          </a:solidFill>
                          <a:latin typeface="Calibri"/>
                        </a:rPr>
                        <a:t>new</a:t>
                      </a:r>
                    </a:p>
                  </a:txBody>
                  <a:tcPr marL="54864" marR="54864" marT="22860" marB="22860" anchor="ctr">
                    <a:solidFill>
                      <a:srgbClr val="F3F5F9"/>
                    </a:solidFill>
                  </a:tcPr>
                </a:tc>
              </a:tr>
            </a:tbl>
          </a:graphicData>
        </a:graphic>
      </p:graphicFrame>
      <p:sp>
        <p:nvSpPr>
          <p:cNvPr id="9" name="Rounded Rectangle 8"/>
          <p:cNvSpPr/>
          <p:nvPr/>
        </p:nvSpPr>
        <p:spPr>
          <a:xfrm>
            <a:off x="7726679" y="1783080"/>
            <a:ext cx="3959352" cy="32461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874519"/>
            <a:ext cx="3685032" cy="320040"/>
          </a:xfrm>
          <a:prstGeom prst="rect">
            <a:avLst/>
          </a:prstGeom>
          <a:noFill/>
        </p:spPr>
        <p:txBody>
          <a:bodyPr wrap="square" lIns="36576" rIns="36576" tIns="18288" bIns="18288" anchor="t">
            <a:spAutoFit/>
          </a:bodyPr>
          <a:lstStyle/>
          <a:p>
            <a:r>
              <a:rPr b="1" sz="1250" i="0">
                <a:solidFill>
                  <a:srgbClr val="132347"/>
                </a:solidFill>
                <a:latin typeface="Calibri"/>
              </a:rPr>
              <a:t>Scope boundaries</a:t>
            </a:r>
          </a:p>
        </p:txBody>
      </p:sp>
      <p:sp>
        <p:nvSpPr>
          <p:cNvPr id="11" name="TextBox 10"/>
          <p:cNvSpPr txBox="1"/>
          <p:nvPr/>
        </p:nvSpPr>
        <p:spPr>
          <a:xfrm>
            <a:off x="7836407" y="2240280"/>
            <a:ext cx="3730752" cy="2743200"/>
          </a:xfrm>
          <a:prstGeom prst="rect">
            <a:avLst/>
          </a:prstGeom>
          <a:noFill/>
        </p:spPr>
        <p:txBody>
          <a:bodyPr wrap="square" lIns="36576" rIns="36576">
            <a:spAutoFit/>
          </a:bodyPr>
          <a:lstStyle/>
          <a:p>
            <a:pPr>
              <a:spcAft>
                <a:spcPts val="300"/>
              </a:spcAft>
            </a:pPr>
            <a:r>
              <a:rPr sz="1300">
                <a:solidFill>
                  <a:srgbClr val="17B8B0"/>
                </a:solidFill>
                <a:latin typeface="Calibri"/>
              </a:rPr>
              <a:t>▪  </a:t>
            </a:r>
            <a:r>
              <a:rPr sz="1300">
                <a:solidFill>
                  <a:srgbClr val="1A2233"/>
                </a:solidFill>
                <a:latin typeface="Calibri"/>
              </a:rPr>
              <a:t>8-bit </a:t>
            </a:r>
            <a:r>
              <a:rPr b="1" sz="1300">
                <a:solidFill>
                  <a:srgbClr val="1A2233"/>
                </a:solidFill>
                <a:latin typeface="Calibri"/>
              </a:rPr>
              <a:t>grey-scale</a:t>
            </a:r>
            <a:r>
              <a:rPr sz="1300">
                <a:solidFill>
                  <a:srgbClr val="1A2233"/>
                </a:solidFill>
                <a:latin typeface="Calibri"/>
              </a:rPr>
              <a:t> images (colour only via luminance)</a:t>
            </a:r>
          </a:p>
          <a:p>
            <a:pPr>
              <a:spcAft>
                <a:spcPts val="300"/>
              </a:spcAft>
            </a:pPr>
            <a:r>
              <a:rPr sz="1300">
                <a:solidFill>
                  <a:srgbClr val="17B8B0"/>
                </a:solidFill>
                <a:latin typeface="Calibri"/>
              </a:rPr>
              <a:t>▪  </a:t>
            </a:r>
            <a:r>
              <a:rPr b="1" sz="1300">
                <a:solidFill>
                  <a:srgbClr val="1A2233"/>
                </a:solidFill>
                <a:latin typeface="Calibri"/>
              </a:rPr>
              <a:t>No</a:t>
            </a:r>
            <a:r>
              <a:rPr sz="1300">
                <a:solidFill>
                  <a:srgbClr val="1A2233"/>
                </a:solidFill>
                <a:latin typeface="Calibri"/>
              </a:rPr>
              <a:t> machine / deep learning</a:t>
            </a:r>
          </a:p>
          <a:p>
            <a:pPr>
              <a:spcAft>
                <a:spcPts val="300"/>
              </a:spcAft>
            </a:pPr>
            <a:r>
              <a:rPr sz="1300">
                <a:solidFill>
                  <a:srgbClr val="17B8B0"/>
                </a:solidFill>
                <a:latin typeface="Calibri"/>
              </a:rPr>
              <a:t>▪  </a:t>
            </a:r>
            <a:r>
              <a:rPr sz="1300">
                <a:solidFill>
                  <a:srgbClr val="1A2233"/>
                </a:solidFill>
                <a:latin typeface="Calibri"/>
              </a:rPr>
              <a:t>Scheme is </a:t>
            </a:r>
            <a:r>
              <a:rPr b="1" sz="1300">
                <a:solidFill>
                  <a:srgbClr val="1A2233"/>
                </a:solidFill>
                <a:latin typeface="Calibri"/>
              </a:rPr>
              <a:t>non-blind</a:t>
            </a:r>
            <a:r>
              <a:rPr sz="1300">
                <a:solidFill>
                  <a:srgbClr val="1A2233"/>
                </a:solidFill>
                <a:latin typeface="Calibri"/>
              </a:rPr>
              <a:t>: needs a key with the original singular values</a:t>
            </a:r>
          </a:p>
          <a:p>
            <a:pPr>
              <a:spcAft>
                <a:spcPts val="300"/>
              </a:spcAft>
            </a:pPr>
            <a:r>
              <a:rPr sz="1300">
                <a:solidFill>
                  <a:srgbClr val="17B8B0"/>
                </a:solidFill>
                <a:latin typeface="Calibri"/>
              </a:rPr>
              <a:t>▪  </a:t>
            </a:r>
            <a:r>
              <a:rPr sz="1300">
                <a:solidFill>
                  <a:srgbClr val="1A2233"/>
                </a:solidFill>
                <a:latin typeface="Calibri"/>
              </a:rPr>
              <a:t>Video = </a:t>
            </a:r>
            <a:r>
              <a:rPr b="1" sz="1300">
                <a:solidFill>
                  <a:srgbClr val="1A2233"/>
                </a:solidFill>
                <a:latin typeface="Calibri"/>
              </a:rPr>
              <a:t>exploratory</a:t>
            </a:r>
            <a:r>
              <a:rPr sz="1300">
                <a:solidFill>
                  <a:srgbClr val="1A2233"/>
                </a:solidFill>
                <a:latin typeface="Calibri"/>
              </a:rPr>
              <a:t> (2 clips × 60 frames)</a:t>
            </a:r>
          </a:p>
          <a:p>
            <a:pPr>
              <a:spcAft>
                <a:spcPts val="300"/>
              </a:spcAft>
            </a:pPr>
            <a:r>
              <a:rPr sz="1300">
                <a:solidFill>
                  <a:srgbClr val="17B8B0"/>
                </a:solidFill>
                <a:latin typeface="Calibri"/>
              </a:rPr>
              <a:t>▪  </a:t>
            </a:r>
            <a:r>
              <a:rPr sz="1300">
                <a:solidFill>
                  <a:srgbClr val="1A2233"/>
                </a:solidFill>
                <a:latin typeface="Calibri"/>
              </a:rPr>
              <a:t>Only operations that exist in the code are documented</a:t>
            </a:r>
          </a:p>
        </p:txBody>
      </p:sp>
      <p:sp>
        <p:nvSpPr>
          <p:cNvPr id="12" name="Rounded Rectangle 11"/>
          <p:cNvSpPr/>
          <p:nvPr/>
        </p:nvSpPr>
        <p:spPr>
          <a:xfrm>
            <a:off x="502920" y="5257800"/>
            <a:ext cx="11183112" cy="777240"/>
          </a:xfrm>
          <a:prstGeom prst="roundRect">
            <a:avLst>
              <a:gd name="adj" fmla="val 8000"/>
            </a:avLst>
          </a:prstGeom>
          <a:solidFill>
            <a:srgbClr val="E6F6F5"/>
          </a:solidFill>
          <a:ln w="9525">
            <a:solidFill>
              <a:srgbClr val="17B8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03520"/>
            <a:ext cx="10789920" cy="685800"/>
          </a:xfrm>
          <a:prstGeom prst="rect">
            <a:avLst/>
          </a:prstGeom>
          <a:noFill/>
        </p:spPr>
        <p:txBody>
          <a:bodyPr wrap="square" lIns="36576" rIns="36576" tIns="18288" bIns="18288" anchor="ctr">
            <a:spAutoFit/>
          </a:bodyPr>
          <a:lstStyle/>
          <a:p>
            <a:r>
              <a:rPr b="1" sz="1250" i="0">
                <a:solidFill>
                  <a:srgbClr val="132347"/>
                </a:solidFill>
                <a:latin typeface="Calibri"/>
              </a:rPr>
              <a:t>Honesty rule:</a:t>
            </a:r>
            <a:r>
              <a:rPr b="0" sz="1250" i="0">
                <a:solidFill>
                  <a:srgbClr val="132347"/>
                </a:solidFill>
                <a:latin typeface="Calibri"/>
              </a:rPr>
              <a:t> every number in this deck comes from a recorded experiment file; limits, unverified claims and corrections to the first submission are stated explicitly.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04</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EXISTING TECHNOLOGY · LITERATURE</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From LSB to hybrids — and an old warning about SVD schemes</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04</a:t>
            </a:r>
          </a:p>
        </p:txBody>
      </p:sp>
      <p:sp>
        <p:nvSpPr>
          <p:cNvPr id="8" name="Rectangle 7"/>
          <p:cNvSpPr/>
          <p:nvPr/>
        </p:nvSpPr>
        <p:spPr>
          <a:xfrm>
            <a:off x="731520" y="2304288"/>
            <a:ext cx="10789920" cy="45720"/>
          </a:xfrm>
          <a:prstGeom prst="rect">
            <a:avLst/>
          </a:prstGeom>
          <a:solidFill>
            <a:srgbClr val="DCE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25880" y="2194560"/>
            <a:ext cx="256032" cy="256032"/>
          </a:xfrm>
          <a:prstGeom prst="ellipse">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83080"/>
            <a:ext cx="2011680" cy="320040"/>
          </a:xfrm>
          <a:prstGeom prst="rect">
            <a:avLst/>
          </a:prstGeom>
          <a:noFill/>
        </p:spPr>
        <p:txBody>
          <a:bodyPr wrap="square" lIns="36576" rIns="36576" tIns="18288" bIns="18288" anchor="t">
            <a:spAutoFit/>
          </a:bodyPr>
          <a:lstStyle/>
          <a:p>
            <a:pPr algn="ctr"/>
            <a:r>
              <a:rPr b="1" sz="1200" i="0">
                <a:solidFill>
                  <a:srgbClr val="0E8F89"/>
                </a:solidFill>
                <a:latin typeface="Calibri"/>
              </a:rPr>
              <a:t>1994</a:t>
            </a:r>
          </a:p>
        </p:txBody>
      </p:sp>
      <p:sp>
        <p:nvSpPr>
          <p:cNvPr id="11" name="Rounded Rectangle 10"/>
          <p:cNvSpPr/>
          <p:nvPr/>
        </p:nvSpPr>
        <p:spPr>
          <a:xfrm>
            <a:off x="502920" y="2697480"/>
            <a:ext cx="2103120" cy="192024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788920"/>
            <a:ext cx="1828799" cy="320040"/>
          </a:xfrm>
          <a:prstGeom prst="rect">
            <a:avLst/>
          </a:prstGeom>
          <a:noFill/>
        </p:spPr>
        <p:txBody>
          <a:bodyPr wrap="square" lIns="36576" rIns="36576" tIns="18288" bIns="18288" anchor="t">
            <a:spAutoFit/>
          </a:bodyPr>
          <a:lstStyle/>
          <a:p>
            <a:r>
              <a:rPr b="1" sz="1250" i="0">
                <a:solidFill>
                  <a:srgbClr val="132347"/>
                </a:solidFill>
                <a:latin typeface="Calibri"/>
              </a:rPr>
              <a:t>LSB marking</a:t>
            </a:r>
          </a:p>
        </p:txBody>
      </p:sp>
      <p:sp>
        <p:nvSpPr>
          <p:cNvPr id="13" name="TextBox 12"/>
          <p:cNvSpPr txBox="1"/>
          <p:nvPr/>
        </p:nvSpPr>
        <p:spPr>
          <a:xfrm>
            <a:off x="612648" y="3154680"/>
            <a:ext cx="1874519" cy="141732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van Schyndel et al. [10]</a:t>
            </a:r>
          </a:p>
          <a:p>
            <a:pPr>
              <a:spcAft>
                <a:spcPts val="300"/>
              </a:spcAft>
            </a:pPr>
            <a:r>
              <a:rPr sz="1200">
                <a:solidFill>
                  <a:srgbClr val="17B8B0"/>
                </a:solidFill>
                <a:latin typeface="Calibri"/>
              </a:rPr>
              <a:t>▪  </a:t>
            </a:r>
            <a:r>
              <a:rPr sz="1200">
                <a:solidFill>
                  <a:srgbClr val="1A2233"/>
                </a:solidFill>
                <a:latin typeface="Calibri"/>
              </a:rPr>
              <a:t>high capacity, fragile</a:t>
            </a:r>
          </a:p>
        </p:txBody>
      </p:sp>
      <p:sp>
        <p:nvSpPr>
          <p:cNvPr id="14" name="Oval 13"/>
          <p:cNvSpPr/>
          <p:nvPr/>
        </p:nvSpPr>
        <p:spPr>
          <a:xfrm>
            <a:off x="3566160" y="2194560"/>
            <a:ext cx="256032" cy="256032"/>
          </a:xfrm>
          <a:prstGeom prst="ellipse">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1783080"/>
            <a:ext cx="2011680" cy="320040"/>
          </a:xfrm>
          <a:prstGeom prst="rect">
            <a:avLst/>
          </a:prstGeom>
          <a:noFill/>
        </p:spPr>
        <p:txBody>
          <a:bodyPr wrap="square" lIns="36576" rIns="36576" tIns="18288" bIns="18288" anchor="t">
            <a:spAutoFit/>
          </a:bodyPr>
          <a:lstStyle/>
          <a:p>
            <a:pPr algn="ctr"/>
            <a:r>
              <a:rPr b="1" sz="1200" i="0">
                <a:solidFill>
                  <a:srgbClr val="0E8F89"/>
                </a:solidFill>
                <a:latin typeface="Calibri"/>
              </a:rPr>
              <a:t>1997</a:t>
            </a:r>
          </a:p>
        </p:txBody>
      </p:sp>
      <p:sp>
        <p:nvSpPr>
          <p:cNvPr id="16" name="Rounded Rectangle 15"/>
          <p:cNvSpPr/>
          <p:nvPr/>
        </p:nvSpPr>
        <p:spPr>
          <a:xfrm>
            <a:off x="2743200" y="2697480"/>
            <a:ext cx="2103120" cy="192024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2788920"/>
            <a:ext cx="1828799" cy="320040"/>
          </a:xfrm>
          <a:prstGeom prst="rect">
            <a:avLst/>
          </a:prstGeom>
          <a:noFill/>
        </p:spPr>
        <p:txBody>
          <a:bodyPr wrap="square" lIns="36576" rIns="36576" tIns="18288" bIns="18288" anchor="t">
            <a:spAutoFit/>
          </a:bodyPr>
          <a:lstStyle/>
          <a:p>
            <a:r>
              <a:rPr b="1" sz="1250" i="0">
                <a:solidFill>
                  <a:srgbClr val="132347"/>
                </a:solidFill>
                <a:latin typeface="Calibri"/>
              </a:rPr>
              <a:t>Spread spectrum</a:t>
            </a:r>
          </a:p>
        </p:txBody>
      </p:sp>
      <p:sp>
        <p:nvSpPr>
          <p:cNvPr id="18" name="TextBox 17"/>
          <p:cNvSpPr txBox="1"/>
          <p:nvPr/>
        </p:nvSpPr>
        <p:spPr>
          <a:xfrm>
            <a:off x="2852928" y="3154680"/>
            <a:ext cx="1874519" cy="141732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Cox et al. [1]</a:t>
            </a:r>
          </a:p>
          <a:p>
            <a:pPr>
              <a:spcAft>
                <a:spcPts val="300"/>
              </a:spcAft>
            </a:pPr>
            <a:r>
              <a:rPr sz="1200">
                <a:solidFill>
                  <a:srgbClr val="17B8B0"/>
                </a:solidFill>
                <a:latin typeface="Calibri"/>
              </a:rPr>
              <a:t>▪  </a:t>
            </a:r>
            <a:r>
              <a:rPr sz="1200">
                <a:solidFill>
                  <a:srgbClr val="1A2233"/>
                </a:solidFill>
                <a:latin typeface="Calibri"/>
              </a:rPr>
              <a:t>significant spectral coefficients</a:t>
            </a:r>
          </a:p>
        </p:txBody>
      </p:sp>
      <p:sp>
        <p:nvSpPr>
          <p:cNvPr id="19" name="Oval 18"/>
          <p:cNvSpPr/>
          <p:nvPr/>
        </p:nvSpPr>
        <p:spPr>
          <a:xfrm>
            <a:off x="5806440" y="2194560"/>
            <a:ext cx="256032" cy="256032"/>
          </a:xfrm>
          <a:prstGeom prst="ellipse">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1783080"/>
            <a:ext cx="2011680" cy="320040"/>
          </a:xfrm>
          <a:prstGeom prst="rect">
            <a:avLst/>
          </a:prstGeom>
          <a:noFill/>
        </p:spPr>
        <p:txBody>
          <a:bodyPr wrap="square" lIns="36576" rIns="36576" tIns="18288" bIns="18288" anchor="t">
            <a:spAutoFit/>
          </a:bodyPr>
          <a:lstStyle/>
          <a:p>
            <a:pPr algn="ctr"/>
            <a:r>
              <a:rPr b="1" sz="1200" i="0">
                <a:solidFill>
                  <a:srgbClr val="0E8F89"/>
                </a:solidFill>
                <a:latin typeface="Calibri"/>
              </a:rPr>
              <a:t>2002–04</a:t>
            </a:r>
          </a:p>
        </p:txBody>
      </p:sp>
      <p:sp>
        <p:nvSpPr>
          <p:cNvPr id="21" name="Rounded Rectangle 20"/>
          <p:cNvSpPr/>
          <p:nvPr/>
        </p:nvSpPr>
        <p:spPr>
          <a:xfrm>
            <a:off x="4983480" y="2697480"/>
            <a:ext cx="2103120" cy="192024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2788920"/>
            <a:ext cx="1828799" cy="320040"/>
          </a:xfrm>
          <a:prstGeom prst="rect">
            <a:avLst/>
          </a:prstGeom>
          <a:noFill/>
        </p:spPr>
        <p:txBody>
          <a:bodyPr wrap="square" lIns="36576" rIns="36576" tIns="18288" bIns="18288" anchor="t">
            <a:spAutoFit/>
          </a:bodyPr>
          <a:lstStyle/>
          <a:p>
            <a:r>
              <a:rPr b="1" sz="1250" i="0">
                <a:solidFill>
                  <a:srgbClr val="132347"/>
                </a:solidFill>
                <a:latin typeface="Calibri"/>
              </a:rPr>
              <a:t>SVD &amp; DWT-SVD</a:t>
            </a:r>
          </a:p>
        </p:txBody>
      </p:sp>
      <p:sp>
        <p:nvSpPr>
          <p:cNvPr id="23" name="TextBox 22"/>
          <p:cNvSpPr txBox="1"/>
          <p:nvPr/>
        </p:nvSpPr>
        <p:spPr>
          <a:xfrm>
            <a:off x="5093208" y="3154680"/>
            <a:ext cx="1874519" cy="141732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Liu &amp; Tan [2]; Ganic &amp; Eskicioglu [3]</a:t>
            </a:r>
          </a:p>
          <a:p>
            <a:pPr>
              <a:spcAft>
                <a:spcPts val="300"/>
              </a:spcAft>
            </a:pPr>
            <a:r>
              <a:rPr sz="1200">
                <a:solidFill>
                  <a:srgbClr val="17B8B0"/>
                </a:solidFill>
                <a:latin typeface="Calibri"/>
              </a:rPr>
              <a:t>▪  </a:t>
            </a:r>
            <a:r>
              <a:rPr sz="1200">
                <a:solidFill>
                  <a:srgbClr val="1A2233"/>
                </a:solidFill>
                <a:latin typeface="Calibri"/>
              </a:rPr>
              <a:t>singular-value embedding</a:t>
            </a:r>
          </a:p>
        </p:txBody>
      </p:sp>
      <p:sp>
        <p:nvSpPr>
          <p:cNvPr id="24" name="Oval 23"/>
          <p:cNvSpPr/>
          <p:nvPr/>
        </p:nvSpPr>
        <p:spPr>
          <a:xfrm>
            <a:off x="8046720" y="2194560"/>
            <a:ext cx="256032" cy="256032"/>
          </a:xfrm>
          <a:prstGeom prst="ellipse">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0" y="1783080"/>
            <a:ext cx="2011680" cy="320040"/>
          </a:xfrm>
          <a:prstGeom prst="rect">
            <a:avLst/>
          </a:prstGeom>
          <a:noFill/>
        </p:spPr>
        <p:txBody>
          <a:bodyPr wrap="square" lIns="36576" rIns="36576" tIns="18288" bIns="18288" anchor="t">
            <a:spAutoFit/>
          </a:bodyPr>
          <a:lstStyle/>
          <a:p>
            <a:pPr algn="ctr"/>
            <a:r>
              <a:rPr b="1" sz="1200" i="0">
                <a:solidFill>
                  <a:srgbClr val="0E8F89"/>
                </a:solidFill>
                <a:latin typeface="Calibri"/>
              </a:rPr>
              <a:t>2010–22</a:t>
            </a:r>
          </a:p>
        </p:txBody>
      </p:sp>
      <p:sp>
        <p:nvSpPr>
          <p:cNvPr id="26" name="Rounded Rectangle 25"/>
          <p:cNvSpPr/>
          <p:nvPr/>
        </p:nvSpPr>
        <p:spPr>
          <a:xfrm>
            <a:off x="7223760" y="2697480"/>
            <a:ext cx="2103120" cy="192024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0920" y="2788920"/>
            <a:ext cx="1828799" cy="320040"/>
          </a:xfrm>
          <a:prstGeom prst="rect">
            <a:avLst/>
          </a:prstGeom>
          <a:noFill/>
        </p:spPr>
        <p:txBody>
          <a:bodyPr wrap="square" lIns="36576" rIns="36576" tIns="18288" bIns="18288" anchor="t">
            <a:spAutoFit/>
          </a:bodyPr>
          <a:lstStyle/>
          <a:p>
            <a:r>
              <a:rPr b="1" sz="1250" i="0">
                <a:solidFill>
                  <a:srgbClr val="132347"/>
                </a:solidFill>
                <a:latin typeface="Calibri"/>
              </a:rPr>
              <a:t>Hybrid DWT-DCT-SVD</a:t>
            </a:r>
          </a:p>
        </p:txBody>
      </p:sp>
      <p:sp>
        <p:nvSpPr>
          <p:cNvPr id="28" name="TextBox 27"/>
          <p:cNvSpPr txBox="1"/>
          <p:nvPr/>
        </p:nvSpPr>
        <p:spPr>
          <a:xfrm>
            <a:off x="7333488" y="3154680"/>
            <a:ext cx="1874519" cy="141732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[7] [8] [9]</a:t>
            </a:r>
          </a:p>
          <a:p>
            <a:pPr>
              <a:spcAft>
                <a:spcPts val="300"/>
              </a:spcAft>
            </a:pPr>
            <a:r>
              <a:rPr sz="1200">
                <a:solidFill>
                  <a:srgbClr val="17B8B0"/>
                </a:solidFill>
                <a:latin typeface="Calibri"/>
              </a:rPr>
              <a:t>▪  </a:t>
            </a:r>
            <a:r>
              <a:rPr sz="1200">
                <a:solidFill>
                  <a:srgbClr val="1A2233"/>
                </a:solidFill>
                <a:latin typeface="Calibri"/>
              </a:rPr>
              <a:t>reported gains; not re-tested here</a:t>
            </a:r>
          </a:p>
        </p:txBody>
      </p:sp>
      <p:sp>
        <p:nvSpPr>
          <p:cNvPr id="29" name="Oval 28"/>
          <p:cNvSpPr/>
          <p:nvPr/>
        </p:nvSpPr>
        <p:spPr>
          <a:xfrm>
            <a:off x="10287000" y="2194560"/>
            <a:ext cx="256032" cy="256032"/>
          </a:xfrm>
          <a:prstGeom prst="ellipse">
            <a:avLst/>
          </a:prstGeom>
          <a:solidFill>
            <a:srgbClr val="C1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64040" y="1783080"/>
            <a:ext cx="2011680" cy="320040"/>
          </a:xfrm>
          <a:prstGeom prst="rect">
            <a:avLst/>
          </a:prstGeom>
          <a:noFill/>
        </p:spPr>
        <p:txBody>
          <a:bodyPr wrap="square" lIns="36576" rIns="36576" tIns="18288" bIns="18288" anchor="t">
            <a:spAutoFit/>
          </a:bodyPr>
          <a:lstStyle/>
          <a:p>
            <a:pPr algn="ctr"/>
            <a:r>
              <a:rPr b="1" sz="1200" i="0">
                <a:solidFill>
                  <a:srgbClr val="C1443C"/>
                </a:solidFill>
                <a:latin typeface="Calibri"/>
              </a:rPr>
              <a:t>2005</a:t>
            </a:r>
          </a:p>
        </p:txBody>
      </p:sp>
      <p:sp>
        <p:nvSpPr>
          <p:cNvPr id="31" name="Rounded Rectangle 30"/>
          <p:cNvSpPr/>
          <p:nvPr/>
        </p:nvSpPr>
        <p:spPr>
          <a:xfrm>
            <a:off x="9464040" y="2697480"/>
            <a:ext cx="2103120" cy="192024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788920"/>
            <a:ext cx="1828799" cy="320040"/>
          </a:xfrm>
          <a:prstGeom prst="rect">
            <a:avLst/>
          </a:prstGeom>
          <a:noFill/>
        </p:spPr>
        <p:txBody>
          <a:bodyPr wrap="square" lIns="36576" rIns="36576" tIns="18288" bIns="18288" anchor="t">
            <a:spAutoFit/>
          </a:bodyPr>
          <a:lstStyle/>
          <a:p>
            <a:r>
              <a:rPr b="1" sz="1250" i="0">
                <a:solidFill>
                  <a:srgbClr val="132347"/>
                </a:solidFill>
                <a:latin typeface="Calibri"/>
              </a:rPr>
              <a:t>False-positive critique</a:t>
            </a:r>
          </a:p>
        </p:txBody>
      </p:sp>
      <p:sp>
        <p:nvSpPr>
          <p:cNvPr id="33" name="TextBox 32"/>
          <p:cNvSpPr txBox="1"/>
          <p:nvPr/>
        </p:nvSpPr>
        <p:spPr>
          <a:xfrm>
            <a:off x="9573767" y="3154680"/>
            <a:ext cx="1874519" cy="141732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Zhang &amp; Li [4]; Ting [5]</a:t>
            </a:r>
          </a:p>
          <a:p>
            <a:pPr>
              <a:spcAft>
                <a:spcPts val="300"/>
              </a:spcAft>
            </a:pPr>
            <a:r>
              <a:rPr sz="1200">
                <a:solidFill>
                  <a:srgbClr val="17B8B0"/>
                </a:solidFill>
                <a:latin typeface="Calibri"/>
              </a:rPr>
              <a:t>▪  </a:t>
            </a:r>
            <a:r>
              <a:rPr sz="1200">
                <a:solidFill>
                  <a:srgbClr val="1A2233"/>
                </a:solidFill>
                <a:latin typeface="Calibri"/>
              </a:rPr>
              <a:t>key owner's mark can be 'found' anywhere</a:t>
            </a:r>
          </a:p>
        </p:txBody>
      </p:sp>
      <p:sp>
        <p:nvSpPr>
          <p:cNvPr id="34" name="Rounded Rectangle 33"/>
          <p:cNvSpPr/>
          <p:nvPr/>
        </p:nvSpPr>
        <p:spPr>
          <a:xfrm>
            <a:off x="502920" y="4892040"/>
            <a:ext cx="11183112" cy="1188720"/>
          </a:xfrm>
          <a:prstGeom prst="roundRect">
            <a:avLst>
              <a:gd name="adj" fmla="val 6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983480"/>
            <a:ext cx="10698480" cy="1097280"/>
          </a:xfrm>
          <a:prstGeom prst="rect">
            <a:avLst/>
          </a:prstGeom>
          <a:noFill/>
        </p:spPr>
        <p:txBody>
          <a:bodyPr wrap="square" lIns="36576" rIns="36576">
            <a:spAutoFit/>
          </a:bodyPr>
          <a:lstStyle/>
          <a:p>
            <a:pPr>
              <a:spcAft>
                <a:spcPts val="200"/>
              </a:spcAft>
            </a:pPr>
            <a:r>
              <a:rPr sz="1150">
                <a:solidFill>
                  <a:srgbClr val="17B8B0"/>
                </a:solidFill>
                <a:latin typeface="Calibri"/>
              </a:rPr>
              <a:t>▪  </a:t>
            </a:r>
            <a:r>
              <a:rPr sz="1150">
                <a:solidFill>
                  <a:srgbClr val="FFFFFF"/>
                </a:solidFill>
                <a:latin typeface="Calibri"/>
              </a:rPr>
              <a:t>Gap 1 — </a:t>
            </a:r>
            <a:r>
              <a:rPr b="1" sz="1150">
                <a:solidFill>
                  <a:srgbClr val="FFFFFF"/>
                </a:solidFill>
                <a:latin typeface="Calibri"/>
              </a:rPr>
              <a:t>identity binding</a:t>
            </a:r>
            <a:r>
              <a:rPr sz="1150">
                <a:solidFill>
                  <a:srgbClr val="FFFFFF"/>
                </a:solidFill>
                <a:latin typeface="Calibri"/>
              </a:rPr>
              <a:t>: SVD schemes can report the key owner's logo whatever was embedded (measured on slide 15)</a:t>
            </a:r>
          </a:p>
          <a:p>
            <a:pPr>
              <a:spcAft>
                <a:spcPts val="200"/>
              </a:spcAft>
            </a:pPr>
            <a:r>
              <a:rPr sz="1150">
                <a:solidFill>
                  <a:srgbClr val="17B8B0"/>
                </a:solidFill>
                <a:latin typeface="Calibri"/>
              </a:rPr>
              <a:t>▪  </a:t>
            </a:r>
            <a:r>
              <a:rPr sz="1150">
                <a:solidFill>
                  <a:srgbClr val="FFFFFF"/>
                </a:solidFill>
                <a:latin typeface="Calibri"/>
              </a:rPr>
              <a:t>Gap 2 — </a:t>
            </a:r>
            <a:r>
              <a:rPr b="1" sz="1150">
                <a:solidFill>
                  <a:srgbClr val="FFFFFF"/>
                </a:solidFill>
                <a:latin typeface="Calibri"/>
              </a:rPr>
              <a:t>geometry</a:t>
            </a:r>
            <a:r>
              <a:rPr sz="1150">
                <a:solidFill>
                  <a:srgbClr val="FFFFFF"/>
                </a:solidFill>
                <a:latin typeface="Calibri"/>
              </a:rPr>
              <a:t>: global embedding breaks under cropping/rotation, the standard remedy being invariant or block-based domains [22]</a:t>
            </a:r>
          </a:p>
          <a:p>
            <a:pPr>
              <a:spcAft>
                <a:spcPts val="200"/>
              </a:spcAft>
            </a:pPr>
            <a:r>
              <a:rPr sz="1150">
                <a:solidFill>
                  <a:srgbClr val="17B8B0"/>
                </a:solidFill>
                <a:latin typeface="Calibri"/>
              </a:rPr>
              <a:t>▪  </a:t>
            </a:r>
            <a:r>
              <a:rPr sz="1150">
                <a:solidFill>
                  <a:srgbClr val="FFFFFF"/>
                </a:solidFill>
                <a:latin typeface="Calibri"/>
              </a:rPr>
              <a:t>Gap 3 — </a:t>
            </a:r>
            <a:r>
              <a:rPr b="1" sz="1150">
                <a:solidFill>
                  <a:srgbClr val="FFFFFF"/>
                </a:solidFill>
                <a:latin typeface="Calibri"/>
              </a:rPr>
              <a:t>evaluation breadth</a:t>
            </a:r>
            <a:r>
              <a:rPr sz="1150">
                <a:solidFill>
                  <a:srgbClr val="FFFFFF"/>
                </a:solidFill>
                <a:latin typeface="Calibri"/>
              </a:rPr>
              <a:t>: published hybrids are typically shown on a few standard images; here 100</a:t>
            </a:r>
          </a:p>
        </p:txBody>
      </p:sp>
      <p:sp>
        <p:nvSpPr>
          <p:cNvPr id="36" name="TextBox 35"/>
          <p:cNvSpPr txBox="1"/>
          <p:nvPr/>
        </p:nvSpPr>
        <p:spPr>
          <a:xfrm>
            <a:off x="502920" y="6144768"/>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Bibliographic details verified against publisher / secondary records; status flags in research/REFERENCES.md.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05</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SYSTEM ARCHITECTURE · EMBEDDING</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Embedding: add the logo's singular values to the host's — once, by the owner</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05</a:t>
            </a:r>
          </a:p>
        </p:txBody>
      </p:sp>
      <p:pic>
        <p:nvPicPr>
          <p:cNvPr id="8" name="Picture 7" descr="diagram_embedding.png"/>
          <p:cNvPicPr>
            <a:picLocks noChangeAspect="1"/>
          </p:cNvPicPr>
          <p:nvPr/>
        </p:nvPicPr>
        <p:blipFill>
          <a:blip r:embed="rId3"/>
          <a:stretch>
            <a:fillRect/>
          </a:stretch>
        </p:blipFill>
        <p:spPr>
          <a:xfrm>
            <a:off x="502920" y="1756479"/>
            <a:ext cx="11155680" cy="4259441"/>
          </a:xfrm>
          <a:prstGeom prst="rect">
            <a:avLst/>
          </a:prstGeom>
        </p:spPr>
      </p:pic>
      <p:sp>
        <p:nvSpPr>
          <p:cNvPr id="9" name="TextBox 8"/>
          <p:cNvSpPr txBox="1"/>
          <p:nvPr/>
        </p:nvSpPr>
        <p:spPr>
          <a:xfrm>
            <a:off x="502920" y="6144768"/>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Correction vs first submission: the DCT is applied to the whole LL band (not 8×8 blocks). Alpha = 0.10 in the main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06</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SYSTEM ARCHITECTURE · VERIFICATION</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Extraction needs the owner's key — and rebuilds the owner's logo from it</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06</a:t>
            </a:r>
          </a:p>
        </p:txBody>
      </p:sp>
      <p:pic>
        <p:nvPicPr>
          <p:cNvPr id="8" name="Picture 7" descr="diagram_extraction.png"/>
          <p:cNvPicPr>
            <a:picLocks noChangeAspect="1"/>
          </p:cNvPicPr>
          <p:nvPr/>
        </p:nvPicPr>
        <p:blipFill>
          <a:blip r:embed="rId3"/>
          <a:stretch>
            <a:fillRect/>
          </a:stretch>
        </p:blipFill>
        <p:spPr>
          <a:xfrm>
            <a:off x="502920" y="1857894"/>
            <a:ext cx="11155680" cy="4056610"/>
          </a:xfrm>
          <a:prstGeom prst="rect">
            <a:avLst/>
          </a:prstGeom>
        </p:spPr>
      </p:pic>
      <p:sp>
        <p:nvSpPr>
          <p:cNvPr id="9" name="TextBox 8"/>
          <p:cNvSpPr txBox="1"/>
          <p:nvPr/>
        </p:nvSpPr>
        <p:spPr>
          <a:xfrm>
            <a:off x="502920" y="6144768"/>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Correction vs first submission: extraction is non-blind (needs S_orig of the unmarked host); the key holds U_w and V_w, i.e. the logo's identity.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07</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MATHEMATICAL FOUNDATIONS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One tunable parameter: add α times the logo's singular values</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07</a:t>
            </a:r>
          </a:p>
        </p:txBody>
      </p:sp>
      <p:sp>
        <p:nvSpPr>
          <p:cNvPr id="8" name="Rounded Rectangle 7"/>
          <p:cNvSpPr/>
          <p:nvPr/>
        </p:nvSpPr>
        <p:spPr>
          <a:xfrm>
            <a:off x="502920" y="1783080"/>
            <a:ext cx="7498079" cy="640080"/>
          </a:xfrm>
          <a:prstGeom prst="roundRect">
            <a:avLst>
              <a:gd name="adj" fmla="val 8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10512"/>
            <a:ext cx="7223760" cy="256032"/>
          </a:xfrm>
          <a:prstGeom prst="rect">
            <a:avLst/>
          </a:prstGeom>
          <a:noFill/>
        </p:spPr>
        <p:txBody>
          <a:bodyPr wrap="square" lIns="36576" rIns="36576" tIns="18288" bIns="18288" anchor="t">
            <a:spAutoFit/>
          </a:bodyPr>
          <a:lstStyle/>
          <a:p>
            <a:r>
              <a:rPr b="1" sz="900" i="0">
                <a:solidFill>
                  <a:srgbClr val="0E8F89"/>
                </a:solidFill>
                <a:latin typeface="Calibri"/>
              </a:rPr>
              <a:t>DWT (HAAR, LL)</a:t>
            </a:r>
          </a:p>
        </p:txBody>
      </p:sp>
      <p:sp>
        <p:nvSpPr>
          <p:cNvPr id="10" name="TextBox 9"/>
          <p:cNvSpPr txBox="1"/>
          <p:nvPr/>
        </p:nvSpPr>
        <p:spPr>
          <a:xfrm>
            <a:off x="640080" y="2039112"/>
            <a:ext cx="7223760" cy="365760"/>
          </a:xfrm>
          <a:prstGeom prst="rect">
            <a:avLst/>
          </a:prstGeom>
          <a:noFill/>
        </p:spPr>
        <p:txBody>
          <a:bodyPr wrap="square" lIns="36576" rIns="36576" tIns="18288" bIns="18288" anchor="t">
            <a:spAutoFit/>
          </a:bodyPr>
          <a:lstStyle/>
          <a:p>
            <a:r>
              <a:rPr b="0" sz="1400" i="0">
                <a:solidFill>
                  <a:srgbClr val="132347"/>
                </a:solidFill>
                <a:latin typeface="Calibri"/>
              </a:rPr>
              <a:t>LL = (a + b + c + d) / 2   for each 2×2 block</a:t>
            </a:r>
          </a:p>
        </p:txBody>
      </p:sp>
      <p:sp>
        <p:nvSpPr>
          <p:cNvPr id="11" name="Rounded Rectangle 10"/>
          <p:cNvSpPr/>
          <p:nvPr/>
        </p:nvSpPr>
        <p:spPr>
          <a:xfrm>
            <a:off x="502920" y="2532888"/>
            <a:ext cx="7498079" cy="640080"/>
          </a:xfrm>
          <a:prstGeom prst="roundRect">
            <a:avLst>
              <a:gd name="adj" fmla="val 8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60320"/>
            <a:ext cx="7223760" cy="256032"/>
          </a:xfrm>
          <a:prstGeom prst="rect">
            <a:avLst/>
          </a:prstGeom>
          <a:noFill/>
        </p:spPr>
        <p:txBody>
          <a:bodyPr wrap="square" lIns="36576" rIns="36576" tIns="18288" bIns="18288" anchor="t">
            <a:spAutoFit/>
          </a:bodyPr>
          <a:lstStyle/>
          <a:p>
            <a:r>
              <a:rPr b="1" sz="900" i="0">
                <a:solidFill>
                  <a:srgbClr val="0E8F89"/>
                </a:solidFill>
                <a:latin typeface="Calibri"/>
              </a:rPr>
              <a:t>DCT-II (GLOBAL, ORTHONORMAL)</a:t>
            </a:r>
          </a:p>
        </p:txBody>
      </p:sp>
      <p:sp>
        <p:nvSpPr>
          <p:cNvPr id="13" name="TextBox 12"/>
          <p:cNvSpPr txBox="1"/>
          <p:nvPr/>
        </p:nvSpPr>
        <p:spPr>
          <a:xfrm>
            <a:off x="640080" y="2788920"/>
            <a:ext cx="7223760" cy="365760"/>
          </a:xfrm>
          <a:prstGeom prst="rect">
            <a:avLst/>
          </a:prstGeom>
          <a:noFill/>
        </p:spPr>
        <p:txBody>
          <a:bodyPr wrap="square" lIns="36576" rIns="36576" tIns="18288" bIns="18288" anchor="t">
            <a:spAutoFit/>
          </a:bodyPr>
          <a:lstStyle/>
          <a:p>
            <a:r>
              <a:rPr b="0" sz="1400" i="0">
                <a:solidFill>
                  <a:srgbClr val="132347"/>
                </a:solidFill>
                <a:latin typeface="Calibri"/>
              </a:rPr>
              <a:t>F(u,v) = α(u)α(v) ΣΣ f(x,y) cos[(2x+1)uπ/2M] cos[(2y+1)vπ/2N]</a:t>
            </a:r>
          </a:p>
        </p:txBody>
      </p:sp>
      <p:sp>
        <p:nvSpPr>
          <p:cNvPr id="14" name="Rounded Rectangle 13"/>
          <p:cNvSpPr/>
          <p:nvPr/>
        </p:nvSpPr>
        <p:spPr>
          <a:xfrm>
            <a:off x="502920" y="3282696"/>
            <a:ext cx="7498079" cy="640080"/>
          </a:xfrm>
          <a:prstGeom prst="roundRect">
            <a:avLst>
              <a:gd name="adj" fmla="val 8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10127"/>
            <a:ext cx="7223760" cy="256032"/>
          </a:xfrm>
          <a:prstGeom prst="rect">
            <a:avLst/>
          </a:prstGeom>
          <a:noFill/>
        </p:spPr>
        <p:txBody>
          <a:bodyPr wrap="square" lIns="36576" rIns="36576" tIns="18288" bIns="18288" anchor="t">
            <a:spAutoFit/>
          </a:bodyPr>
          <a:lstStyle/>
          <a:p>
            <a:r>
              <a:rPr b="1" sz="900" i="0">
                <a:solidFill>
                  <a:srgbClr val="0E8F89"/>
                </a:solidFill>
                <a:latin typeface="Calibri"/>
              </a:rPr>
              <a:t>SVD</a:t>
            </a:r>
          </a:p>
        </p:txBody>
      </p:sp>
      <p:sp>
        <p:nvSpPr>
          <p:cNvPr id="16" name="TextBox 15"/>
          <p:cNvSpPr txBox="1"/>
          <p:nvPr/>
        </p:nvSpPr>
        <p:spPr>
          <a:xfrm>
            <a:off x="640080" y="3538728"/>
            <a:ext cx="7223760" cy="365760"/>
          </a:xfrm>
          <a:prstGeom prst="rect">
            <a:avLst/>
          </a:prstGeom>
          <a:noFill/>
        </p:spPr>
        <p:txBody>
          <a:bodyPr wrap="square" lIns="36576" rIns="36576" tIns="18288" bIns="18288" anchor="t">
            <a:spAutoFit/>
          </a:bodyPr>
          <a:lstStyle/>
          <a:p>
            <a:r>
              <a:rPr b="0" sz="1400" i="0">
                <a:solidFill>
                  <a:srgbClr val="132347"/>
                </a:solidFill>
                <a:latin typeface="Calibri"/>
              </a:rPr>
              <a:t>A = U·diag(S)·Vᵀ        W = U_w·diag(S_w)·V_wᵀ</a:t>
            </a:r>
          </a:p>
        </p:txBody>
      </p:sp>
      <p:sp>
        <p:nvSpPr>
          <p:cNvPr id="17" name="Rounded Rectangle 16"/>
          <p:cNvSpPr/>
          <p:nvPr/>
        </p:nvSpPr>
        <p:spPr>
          <a:xfrm>
            <a:off x="502920" y="4032504"/>
            <a:ext cx="7498079" cy="640080"/>
          </a:xfrm>
          <a:prstGeom prst="roundRect">
            <a:avLst>
              <a:gd name="adj" fmla="val 8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59936"/>
            <a:ext cx="7223760" cy="256032"/>
          </a:xfrm>
          <a:prstGeom prst="rect">
            <a:avLst/>
          </a:prstGeom>
          <a:noFill/>
        </p:spPr>
        <p:txBody>
          <a:bodyPr wrap="square" lIns="36576" rIns="36576" tIns="18288" bIns="18288" anchor="t">
            <a:spAutoFit/>
          </a:bodyPr>
          <a:lstStyle/>
          <a:p>
            <a:r>
              <a:rPr b="1" sz="900" i="0">
                <a:solidFill>
                  <a:srgbClr val="0E8F89"/>
                </a:solidFill>
                <a:latin typeface="Calibri"/>
              </a:rPr>
              <a:t>EMBEDDING</a:t>
            </a:r>
          </a:p>
        </p:txBody>
      </p:sp>
      <p:sp>
        <p:nvSpPr>
          <p:cNvPr id="19" name="TextBox 18"/>
          <p:cNvSpPr txBox="1"/>
          <p:nvPr/>
        </p:nvSpPr>
        <p:spPr>
          <a:xfrm>
            <a:off x="640080" y="4288536"/>
            <a:ext cx="7223760" cy="365760"/>
          </a:xfrm>
          <a:prstGeom prst="rect">
            <a:avLst/>
          </a:prstGeom>
          <a:noFill/>
        </p:spPr>
        <p:txBody>
          <a:bodyPr wrap="square" lIns="36576" rIns="36576" tIns="18288" bIns="18288" anchor="t">
            <a:spAutoFit/>
          </a:bodyPr>
          <a:lstStyle/>
          <a:p>
            <a:r>
              <a:rPr b="0" sz="1400" i="0">
                <a:solidFill>
                  <a:srgbClr val="132347"/>
                </a:solidFill>
                <a:latin typeface="Calibri"/>
              </a:rPr>
              <a:t>S′ = S + α·S_w ,   A′ = U·diag(S′)·Vᵀ  →  IDCT → IDWT → clip</a:t>
            </a:r>
          </a:p>
        </p:txBody>
      </p:sp>
      <p:sp>
        <p:nvSpPr>
          <p:cNvPr id="20" name="Rounded Rectangle 19"/>
          <p:cNvSpPr/>
          <p:nvPr/>
        </p:nvSpPr>
        <p:spPr>
          <a:xfrm>
            <a:off x="502920" y="4782312"/>
            <a:ext cx="7498079" cy="640080"/>
          </a:xfrm>
          <a:prstGeom prst="roundRect">
            <a:avLst>
              <a:gd name="adj" fmla="val 8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809744"/>
            <a:ext cx="7223760" cy="256032"/>
          </a:xfrm>
          <a:prstGeom prst="rect">
            <a:avLst/>
          </a:prstGeom>
          <a:noFill/>
        </p:spPr>
        <p:txBody>
          <a:bodyPr wrap="square" lIns="36576" rIns="36576" tIns="18288" bIns="18288" anchor="t">
            <a:spAutoFit/>
          </a:bodyPr>
          <a:lstStyle/>
          <a:p>
            <a:r>
              <a:rPr b="1" sz="900" i="0">
                <a:solidFill>
                  <a:srgbClr val="0E8F89"/>
                </a:solidFill>
                <a:latin typeface="Calibri"/>
              </a:rPr>
              <a:t>EXTRACTION (KEY: S_ORIG, U_W, V_W, Α)</a:t>
            </a:r>
          </a:p>
        </p:txBody>
      </p:sp>
      <p:sp>
        <p:nvSpPr>
          <p:cNvPr id="22" name="TextBox 21"/>
          <p:cNvSpPr txBox="1"/>
          <p:nvPr/>
        </p:nvSpPr>
        <p:spPr>
          <a:xfrm>
            <a:off x="640080" y="5038344"/>
            <a:ext cx="7223760" cy="365760"/>
          </a:xfrm>
          <a:prstGeom prst="rect">
            <a:avLst/>
          </a:prstGeom>
          <a:noFill/>
        </p:spPr>
        <p:txBody>
          <a:bodyPr wrap="square" lIns="36576" rIns="36576" tIns="18288" bIns="18288" anchor="t">
            <a:spAutoFit/>
          </a:bodyPr>
          <a:lstStyle/>
          <a:p>
            <a:r>
              <a:rPr b="0" sz="1400" i="0">
                <a:solidFill>
                  <a:srgbClr val="132347"/>
                </a:solidFill>
                <a:latin typeface="Calibri"/>
              </a:rPr>
              <a:t>S_w′ = (S_att − S_orig) / α ,   W′ = U_w·diag(S_w′)·V_wᵀ</a:t>
            </a:r>
          </a:p>
        </p:txBody>
      </p:sp>
      <p:sp>
        <p:nvSpPr>
          <p:cNvPr id="23" name="Rounded Rectangle 22"/>
          <p:cNvSpPr/>
          <p:nvPr/>
        </p:nvSpPr>
        <p:spPr>
          <a:xfrm>
            <a:off x="8275320" y="1783080"/>
            <a:ext cx="3410712" cy="37033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1874519"/>
            <a:ext cx="3136392" cy="320040"/>
          </a:xfrm>
          <a:prstGeom prst="rect">
            <a:avLst/>
          </a:prstGeom>
          <a:noFill/>
        </p:spPr>
        <p:txBody>
          <a:bodyPr wrap="square" lIns="36576" rIns="36576" tIns="18288" bIns="18288" anchor="t">
            <a:spAutoFit/>
          </a:bodyPr>
          <a:lstStyle/>
          <a:p>
            <a:r>
              <a:rPr b="1" sz="1250" i="0">
                <a:solidFill>
                  <a:srgbClr val="132347"/>
                </a:solidFill>
                <a:latin typeface="Calibri"/>
              </a:rPr>
              <a:t>What follows from the maths</a:t>
            </a:r>
          </a:p>
        </p:txBody>
      </p:sp>
      <p:sp>
        <p:nvSpPr>
          <p:cNvPr id="25" name="TextBox 24"/>
          <p:cNvSpPr txBox="1"/>
          <p:nvPr/>
        </p:nvSpPr>
        <p:spPr>
          <a:xfrm>
            <a:off x="8385048" y="2240280"/>
            <a:ext cx="3182112" cy="3200400"/>
          </a:xfrm>
          <a:prstGeom prst="rect">
            <a:avLst/>
          </a:prstGeom>
          <a:noFill/>
        </p:spPr>
        <p:txBody>
          <a:bodyPr wrap="square" lIns="36576" rIns="36576">
            <a:spAutoFit/>
          </a:bodyPr>
          <a:lstStyle/>
          <a:p>
            <a:pPr>
              <a:spcAft>
                <a:spcPts val="300"/>
              </a:spcAft>
            </a:pPr>
            <a:r>
              <a:rPr sz="1250">
                <a:solidFill>
                  <a:srgbClr val="17B8B0"/>
                </a:solidFill>
                <a:latin typeface="Calibri"/>
              </a:rPr>
              <a:t>▪  </a:t>
            </a:r>
            <a:r>
              <a:rPr b="1" sz="1250">
                <a:solidFill>
                  <a:srgbClr val="1A2233"/>
                </a:solidFill>
                <a:latin typeface="Calibri"/>
              </a:rPr>
              <a:t>Non-blind:</a:t>
            </a:r>
            <a:r>
              <a:rPr sz="1250">
                <a:solidFill>
                  <a:srgbClr val="1A2233"/>
                </a:solidFill>
                <a:latin typeface="Calibri"/>
              </a:rPr>
              <a:t> needs S_orig of the unmarked host</a:t>
            </a:r>
          </a:p>
          <a:p>
            <a:pPr>
              <a:spcAft>
                <a:spcPts val="300"/>
              </a:spcAft>
            </a:pPr>
            <a:r>
              <a:rPr sz="1250">
                <a:solidFill>
                  <a:srgbClr val="17B8B0"/>
                </a:solidFill>
                <a:latin typeface="Calibri"/>
              </a:rPr>
              <a:t>▪  </a:t>
            </a:r>
            <a:r>
              <a:rPr b="1" sz="1250">
                <a:solidFill>
                  <a:srgbClr val="1A2233"/>
                </a:solidFill>
                <a:latin typeface="Calibri"/>
              </a:rPr>
              <a:t>Global DCT:</a:t>
            </a:r>
            <a:r>
              <a:rPr sz="1250">
                <a:solidFill>
                  <a:srgbClr val="1A2233"/>
                </a:solidFill>
                <a:latin typeface="Calibri"/>
              </a:rPr>
              <a:t> not tied to JPEG's 8×8 blocks — JPEG robustness comes from SVD</a:t>
            </a:r>
          </a:p>
          <a:p>
            <a:pPr>
              <a:spcAft>
                <a:spcPts val="300"/>
              </a:spcAft>
            </a:pPr>
            <a:r>
              <a:rPr sz="1250">
                <a:solidFill>
                  <a:srgbClr val="17B8B0"/>
                </a:solidFill>
                <a:latin typeface="Calibri"/>
              </a:rPr>
              <a:t>▪  </a:t>
            </a:r>
            <a:r>
              <a:rPr b="1" sz="1250">
                <a:solidFill>
                  <a:srgbClr val="1A2233"/>
                </a:solidFill>
                <a:latin typeface="Calibri"/>
              </a:rPr>
              <a:t>Identity in the key:</a:t>
            </a:r>
            <a:r>
              <a:rPr sz="1250">
                <a:solidFill>
                  <a:srgbClr val="1A2233"/>
                </a:solidFill>
                <a:latin typeface="Calibri"/>
              </a:rPr>
              <a:t> </a:t>
            </a:r>
            <a:r>
              <a:rPr sz="1150">
                <a:solidFill>
                  <a:srgbClr val="0E8F89"/>
                </a:solidFill>
                <a:latin typeface="Consolas"/>
              </a:rPr>
              <a:t>U_w</a:t>
            </a:r>
            <a:r>
              <a:rPr sz="1250">
                <a:solidFill>
                  <a:srgbClr val="1A2233"/>
                </a:solidFill>
                <a:latin typeface="Calibri"/>
              </a:rPr>
              <a:t>, </a:t>
            </a:r>
            <a:r>
              <a:rPr sz="1150">
                <a:solidFill>
                  <a:srgbClr val="0E8F89"/>
                </a:solidFill>
                <a:latin typeface="Consolas"/>
              </a:rPr>
              <a:t>V_w</a:t>
            </a:r>
            <a:r>
              <a:rPr sz="1250">
                <a:solidFill>
                  <a:srgbClr val="1A2233"/>
                </a:solidFill>
                <a:latin typeface="Calibri"/>
              </a:rPr>
              <a:t> rebuild *the owner's* logo from any singular values</a:t>
            </a:r>
          </a:p>
          <a:p>
            <a:pPr>
              <a:spcAft>
                <a:spcPts val="300"/>
              </a:spcAft>
            </a:pPr>
            <a:r>
              <a:rPr sz="1250">
                <a:solidFill>
                  <a:srgbClr val="17B8B0"/>
                </a:solidFill>
                <a:latin typeface="Calibri"/>
              </a:rPr>
              <a:t>▪  </a:t>
            </a:r>
            <a:r>
              <a:rPr sz="1250">
                <a:solidFill>
                  <a:srgbClr val="1A2233"/>
                </a:solidFill>
                <a:latin typeface="Calibri"/>
              </a:rPr>
              <a:t>Metric caution: a blank white image already scores NC = </a:t>
            </a:r>
            <a:r>
              <a:rPr b="1" sz="1250">
                <a:solidFill>
                  <a:srgbClr val="1A2233"/>
                </a:solidFill>
                <a:latin typeface="Calibri"/>
              </a:rPr>
              <a:t>0.36</a:t>
            </a:r>
            <a:r>
              <a:rPr sz="1250">
                <a:solidFill>
                  <a:srgbClr val="1A2233"/>
                </a:solidFill>
                <a:latin typeface="Calibri"/>
              </a:rPr>
              <a:t> against this logo</a:t>
            </a:r>
          </a:p>
        </p:txBody>
      </p:sp>
      <p:sp>
        <p:nvSpPr>
          <p:cNvPr id="26" name="TextBox 25"/>
          <p:cNvSpPr txBox="1"/>
          <p:nvPr/>
        </p:nvSpPr>
        <p:spPr>
          <a:xfrm>
            <a:off x="502920" y="6144768"/>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Equations (1)–(5) of the report; numerics unchanged from the first submission (re-run reproduces its table within 0.004 NC).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08</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TRANSFORMATIONS IMPLEMENTED</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Twenty documented operations — only those that exist in the code</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08</a:t>
            </a:r>
          </a:p>
        </p:txBody>
      </p:sp>
      <p:graphicFrame>
        <p:nvGraphicFramePr>
          <p:cNvPr id="8" name="Table 7"/>
          <p:cNvGraphicFramePr>
            <a:graphicFrameLocks noGrp="1"/>
          </p:cNvGraphicFramePr>
          <p:nvPr/>
        </p:nvGraphicFramePr>
        <p:xfrm>
          <a:off x="502920" y="1783080"/>
          <a:ext cx="11183109" cy="3657600"/>
        </p:xfrm>
        <a:graphic>
          <a:graphicData uri="http://schemas.openxmlformats.org/drawingml/2006/table">
            <a:tbl>
              <a:tblPr firstRow="1" bandRow="1">
                <a:tableStyleId>{5C22544A-7EE6-4342-B048-85BDC9FD1C3A}</a:tableStyleId>
              </a:tblPr>
              <a:tblGrid>
                <a:gridCol w="674842"/>
                <a:gridCol w="4049057"/>
                <a:gridCol w="1542498"/>
                <a:gridCol w="867655"/>
                <a:gridCol w="4049057"/>
              </a:tblGrid>
              <a:tr h="457200">
                <a:tc>
                  <a:txBody>
                    <a:bodyPr wrap="square"/>
                    <a:lstStyle/>
                    <a:p>
                      <a:r>
                        <a:rPr sz="1050" b="1">
                          <a:solidFill>
                            <a:srgbClr val="FFFFFF"/>
                          </a:solidFill>
                          <a:latin typeface="Calibri"/>
                        </a:rPr>
                        <a:t>#</a:t>
                      </a:r>
                    </a:p>
                  </a:txBody>
                  <a:tcPr marL="54864" marR="54864" marT="22860" marB="22860" anchor="ctr">
                    <a:solidFill>
                      <a:srgbClr val="132347"/>
                    </a:solidFill>
                  </a:tcPr>
                </a:tc>
                <a:tc>
                  <a:txBody>
                    <a:bodyPr wrap="square"/>
                    <a:lstStyle/>
                    <a:p>
                      <a:r>
                        <a:rPr sz="1050" b="1">
                          <a:solidFill>
                            <a:srgbClr val="FFFFFF"/>
                          </a:solidFill>
                          <a:latin typeface="Calibri"/>
                        </a:rPr>
                        <a:t>Transformation</a:t>
                      </a:r>
                    </a:p>
                  </a:txBody>
                  <a:tcPr marL="54864" marR="54864" marT="22860" marB="22860" anchor="ctr">
                    <a:solidFill>
                      <a:srgbClr val="132347"/>
                    </a:solidFill>
                  </a:tcPr>
                </a:tc>
                <a:tc>
                  <a:txBody>
                    <a:bodyPr wrap="square"/>
                    <a:lstStyle/>
                    <a:p>
                      <a:r>
                        <a:rPr sz="1050" b="1">
                          <a:solidFill>
                            <a:srgbClr val="FFFFFF"/>
                          </a:solidFill>
                          <a:latin typeface="Calibri"/>
                        </a:rPr>
                        <a:t>Library</a:t>
                      </a:r>
                    </a:p>
                  </a:txBody>
                  <a:tcPr marL="54864" marR="54864" marT="22860" marB="22860" anchor="ctr">
                    <a:solidFill>
                      <a:srgbClr val="132347"/>
                    </a:solidFill>
                  </a:tcPr>
                </a:tc>
                <a:tc>
                  <a:txBody>
                    <a:bodyPr wrap="square"/>
                    <a:lstStyle/>
                    <a:p>
                      <a:r>
                        <a:rPr sz="1050" b="1">
                          <a:solidFill>
                            <a:srgbClr val="FFFFFF"/>
                          </a:solidFill>
                          <a:latin typeface="Calibri"/>
                        </a:rPr>
                        <a:t>#</a:t>
                      </a:r>
                    </a:p>
                  </a:txBody>
                  <a:tcPr marL="54864" marR="54864" marT="22860" marB="22860" anchor="ctr">
                    <a:solidFill>
                      <a:srgbClr val="132347"/>
                    </a:solidFill>
                  </a:tcPr>
                </a:tc>
                <a:tc>
                  <a:txBody>
                    <a:bodyPr wrap="square"/>
                    <a:lstStyle/>
                    <a:p>
                      <a:r>
                        <a:rPr sz="1050" b="1">
                          <a:solidFill>
                            <a:srgbClr val="FFFFFF"/>
                          </a:solidFill>
                          <a:latin typeface="Calibri"/>
                        </a:rPr>
                        <a:t>Transformation</a:t>
                      </a:r>
                    </a:p>
                  </a:txBody>
                  <a:tcPr marL="54864" marR="54864" marT="22860" marB="22860" anchor="ctr">
                    <a:solidFill>
                      <a:srgbClr val="132347"/>
                    </a:solidFill>
                  </a:tcPr>
                </a:tc>
              </a:tr>
              <a:tr h="457200">
                <a:tc>
                  <a:txBody>
                    <a:bodyPr wrap="square"/>
                    <a:lstStyle/>
                    <a:p>
                      <a:r>
                        <a:rPr sz="1050">
                          <a:solidFill>
                            <a:srgbClr val="1A2233"/>
                          </a:solidFill>
                          <a:latin typeface="Calibri"/>
                        </a:rPr>
                        <a:t>T1</a:t>
                      </a:r>
                    </a:p>
                  </a:txBody>
                  <a:tcPr marL="54864" marR="54864" marT="22860" marB="22860" anchor="ctr">
                    <a:solidFill>
                      <a:srgbClr val="FFFFFF"/>
                    </a:solidFill>
                  </a:tcPr>
                </a:tc>
                <a:tc>
                  <a:txBody>
                    <a:bodyPr wrap="square"/>
                    <a:lstStyle/>
                    <a:p>
                      <a:r>
                        <a:rPr sz="1050">
                          <a:solidFill>
                            <a:srgbClr val="1A2233"/>
                          </a:solidFill>
                          <a:latin typeface="Calibri"/>
                        </a:rPr>
                        <a:t>Grey conversion, centre-crop, Lanczos resize</a:t>
                      </a:r>
                    </a:p>
                  </a:txBody>
                  <a:tcPr marL="54864" marR="54864" marT="22860" marB="22860" anchor="ctr">
                    <a:solidFill>
                      <a:srgbClr val="FFFFFF"/>
                    </a:solidFill>
                  </a:tcPr>
                </a:tc>
                <a:tc>
                  <a:txBody>
                    <a:bodyPr wrap="square"/>
                    <a:lstStyle/>
                    <a:p>
                      <a:r>
                        <a:rPr sz="1050">
                          <a:solidFill>
                            <a:srgbClr val="1A2233"/>
                          </a:solidFill>
                          <a:latin typeface="Calibri"/>
                        </a:rPr>
                        <a:t>Pillow</a:t>
                      </a:r>
                    </a:p>
                  </a:txBody>
                  <a:tcPr marL="54864" marR="54864" marT="22860" marB="22860" anchor="ctr">
                    <a:solidFill>
                      <a:srgbClr val="FFFFFF"/>
                    </a:solidFill>
                  </a:tcPr>
                </a:tc>
                <a:tc>
                  <a:txBody>
                    <a:bodyPr wrap="square"/>
                    <a:lstStyle/>
                    <a:p>
                      <a:r>
                        <a:rPr sz="1050">
                          <a:solidFill>
                            <a:srgbClr val="1A2233"/>
                          </a:solidFill>
                          <a:latin typeface="Calibri"/>
                        </a:rPr>
                        <a:t>T11–T12</a:t>
                      </a:r>
                    </a:p>
                  </a:txBody>
                  <a:tcPr marL="54864" marR="54864" marT="22860" marB="22860" anchor="ctr">
                    <a:solidFill>
                      <a:srgbClr val="FFFFFF"/>
                    </a:solidFill>
                  </a:tcPr>
                </a:tc>
                <a:tc>
                  <a:txBody>
                    <a:bodyPr wrap="square"/>
                    <a:lstStyle/>
                    <a:p>
                      <a:r>
                        <a:rPr sz="1050">
                          <a:solidFill>
                            <a:srgbClr val="1A2233"/>
                          </a:solidFill>
                          <a:latin typeface="Calibri"/>
                        </a:rPr>
                        <a:t>Median 3×3, Gaussian blur σ=1.5</a:t>
                      </a:r>
                    </a:p>
                  </a:txBody>
                  <a:tcPr marL="54864" marR="54864" marT="22860" marB="22860" anchor="ctr">
                    <a:solidFill>
                      <a:srgbClr val="FFFFFF"/>
                    </a:solidFill>
                  </a:tcPr>
                </a:tc>
              </a:tr>
              <a:tr h="457200">
                <a:tc>
                  <a:txBody>
                    <a:bodyPr wrap="square"/>
                    <a:lstStyle/>
                    <a:p>
                      <a:r>
                        <a:rPr sz="1050">
                          <a:solidFill>
                            <a:srgbClr val="1A2233"/>
                          </a:solidFill>
                          <a:latin typeface="Calibri"/>
                        </a:rPr>
                        <a:t>T2</a:t>
                      </a:r>
                    </a:p>
                  </a:txBody>
                  <a:tcPr marL="54864" marR="54864" marT="22860" marB="22860" anchor="ctr">
                    <a:solidFill>
                      <a:srgbClr val="F3F5F9"/>
                    </a:solidFill>
                  </a:tcPr>
                </a:tc>
                <a:tc>
                  <a:txBody>
                    <a:bodyPr wrap="square"/>
                    <a:lstStyle/>
                    <a:p>
                      <a:r>
                        <a:rPr sz="1050">
                          <a:solidFill>
                            <a:srgbClr val="1A2233"/>
                          </a:solidFill>
                          <a:latin typeface="Calibri"/>
                        </a:rPr>
                        <a:t>1-level Haar DWT / inverse</a:t>
                      </a:r>
                    </a:p>
                  </a:txBody>
                  <a:tcPr marL="54864" marR="54864" marT="22860" marB="22860" anchor="ctr">
                    <a:solidFill>
                      <a:srgbClr val="F3F5F9"/>
                    </a:solidFill>
                  </a:tcPr>
                </a:tc>
                <a:tc>
                  <a:txBody>
                    <a:bodyPr wrap="square"/>
                    <a:lstStyle/>
                    <a:p>
                      <a:r>
                        <a:rPr sz="1050">
                          <a:solidFill>
                            <a:srgbClr val="1A2233"/>
                          </a:solidFill>
                          <a:latin typeface="Calibri"/>
                        </a:rPr>
                        <a:t>PyWavelets</a:t>
                      </a:r>
                    </a:p>
                  </a:txBody>
                  <a:tcPr marL="54864" marR="54864" marT="22860" marB="22860" anchor="ctr">
                    <a:solidFill>
                      <a:srgbClr val="F3F5F9"/>
                    </a:solidFill>
                  </a:tcPr>
                </a:tc>
                <a:tc>
                  <a:txBody>
                    <a:bodyPr wrap="square"/>
                    <a:lstStyle/>
                    <a:p>
                      <a:r>
                        <a:rPr sz="1050">
                          <a:solidFill>
                            <a:srgbClr val="1A2233"/>
                          </a:solidFill>
                          <a:latin typeface="Calibri"/>
                        </a:rPr>
                        <a:t>T13–T15</a:t>
                      </a:r>
                    </a:p>
                  </a:txBody>
                  <a:tcPr marL="54864" marR="54864" marT="22860" marB="22860" anchor="ctr">
                    <a:solidFill>
                      <a:srgbClr val="F3F5F9"/>
                    </a:solidFill>
                  </a:tcPr>
                </a:tc>
                <a:tc>
                  <a:txBody>
                    <a:bodyPr wrap="square"/>
                    <a:lstStyle/>
                    <a:p>
                      <a:r>
                        <a:rPr sz="1050">
                          <a:solidFill>
                            <a:srgbClr val="1A2233"/>
                          </a:solidFill>
                          <a:latin typeface="Calibri"/>
                        </a:rPr>
                        <a:t>Rotation 5°/15°, border cropping, 0.5× scaling</a:t>
                      </a:r>
                    </a:p>
                  </a:txBody>
                  <a:tcPr marL="54864" marR="54864" marT="22860" marB="22860" anchor="ctr">
                    <a:solidFill>
                      <a:srgbClr val="F3F5F9"/>
                    </a:solidFill>
                  </a:tcPr>
                </a:tc>
              </a:tr>
              <a:tr h="457200">
                <a:tc>
                  <a:txBody>
                    <a:bodyPr wrap="square"/>
                    <a:lstStyle/>
                    <a:p>
                      <a:r>
                        <a:rPr sz="1050">
                          <a:solidFill>
                            <a:srgbClr val="1A2233"/>
                          </a:solidFill>
                          <a:latin typeface="Calibri"/>
                        </a:rPr>
                        <a:t>T3</a:t>
                      </a:r>
                    </a:p>
                  </a:txBody>
                  <a:tcPr marL="54864" marR="54864" marT="22860" marB="22860" anchor="ctr">
                    <a:solidFill>
                      <a:srgbClr val="FFFFFF"/>
                    </a:solidFill>
                  </a:tcPr>
                </a:tc>
                <a:tc>
                  <a:txBody>
                    <a:bodyPr wrap="square"/>
                    <a:lstStyle/>
                    <a:p>
                      <a:r>
                        <a:rPr sz="1050">
                          <a:solidFill>
                            <a:srgbClr val="1A2233"/>
                          </a:solidFill>
                          <a:latin typeface="Calibri"/>
                        </a:rPr>
                        <a:t>2-D DCT-II / inverse (global)</a:t>
                      </a:r>
                    </a:p>
                  </a:txBody>
                  <a:tcPr marL="54864" marR="54864" marT="22860" marB="22860" anchor="ctr">
                    <a:solidFill>
                      <a:srgbClr val="FFFFFF"/>
                    </a:solidFill>
                  </a:tcPr>
                </a:tc>
                <a:tc>
                  <a:txBody>
                    <a:bodyPr wrap="square"/>
                    <a:lstStyle/>
                    <a:p>
                      <a:r>
                        <a:rPr sz="1050">
                          <a:solidFill>
                            <a:srgbClr val="1A2233"/>
                          </a:solidFill>
                          <a:latin typeface="Calibri"/>
                        </a:rPr>
                        <a:t>SciPy</a:t>
                      </a:r>
                    </a:p>
                  </a:txBody>
                  <a:tcPr marL="54864" marR="54864" marT="22860" marB="22860" anchor="ctr">
                    <a:solidFill>
                      <a:srgbClr val="FFFFFF"/>
                    </a:solidFill>
                  </a:tcPr>
                </a:tc>
                <a:tc>
                  <a:txBody>
                    <a:bodyPr wrap="square"/>
                    <a:lstStyle/>
                    <a:p>
                      <a:r>
                        <a:rPr sz="1050">
                          <a:solidFill>
                            <a:srgbClr val="1A2233"/>
                          </a:solidFill>
                          <a:latin typeface="Calibri"/>
                        </a:rPr>
                        <a:t>T16–T17</a:t>
                      </a:r>
                    </a:p>
                  </a:txBody>
                  <a:tcPr marL="54864" marR="54864" marT="22860" marB="22860" anchor="ctr">
                    <a:solidFill>
                      <a:srgbClr val="FFFFFF"/>
                    </a:solidFill>
                  </a:tcPr>
                </a:tc>
                <a:tc>
                  <a:txBody>
                    <a:bodyPr wrap="square"/>
                    <a:lstStyle/>
                    <a:p>
                      <a:r>
                        <a:rPr sz="1050">
                          <a:solidFill>
                            <a:srgbClr val="1A2233"/>
                          </a:solidFill>
                          <a:latin typeface="Calibri"/>
                        </a:rPr>
                        <a:t>Histogram equalisation, unsharp mask</a:t>
                      </a:r>
                    </a:p>
                  </a:txBody>
                  <a:tcPr marL="54864" marR="54864" marT="22860" marB="22860" anchor="ctr">
                    <a:solidFill>
                      <a:srgbClr val="FFFFFF"/>
                    </a:solidFill>
                  </a:tcPr>
                </a:tc>
              </a:tr>
              <a:tr h="457200">
                <a:tc>
                  <a:txBody>
                    <a:bodyPr wrap="square"/>
                    <a:lstStyle/>
                    <a:p>
                      <a:r>
                        <a:rPr sz="1050">
                          <a:solidFill>
                            <a:srgbClr val="1A2233"/>
                          </a:solidFill>
                          <a:latin typeface="Calibri"/>
                        </a:rPr>
                        <a:t>T4</a:t>
                      </a:r>
                    </a:p>
                  </a:txBody>
                  <a:tcPr marL="54864" marR="54864" marT="22860" marB="22860" anchor="ctr">
                    <a:solidFill>
                      <a:srgbClr val="F3F5F9"/>
                    </a:solidFill>
                  </a:tcPr>
                </a:tc>
                <a:tc>
                  <a:txBody>
                    <a:bodyPr wrap="square"/>
                    <a:lstStyle/>
                    <a:p>
                      <a:r>
                        <a:rPr sz="1050">
                          <a:solidFill>
                            <a:srgbClr val="1A2233"/>
                          </a:solidFill>
                          <a:latin typeface="Calibri"/>
                        </a:rPr>
                        <a:t>SVD of host sub-band and logo</a:t>
                      </a:r>
                    </a:p>
                  </a:txBody>
                  <a:tcPr marL="54864" marR="54864" marT="22860" marB="22860" anchor="ctr">
                    <a:solidFill>
                      <a:srgbClr val="F3F5F9"/>
                    </a:solidFill>
                  </a:tcPr>
                </a:tc>
                <a:tc>
                  <a:txBody>
                    <a:bodyPr wrap="square"/>
                    <a:lstStyle/>
                    <a:p>
                      <a:r>
                        <a:rPr sz="1050">
                          <a:solidFill>
                            <a:srgbClr val="1A2233"/>
                          </a:solidFill>
                          <a:latin typeface="Calibri"/>
                        </a:rPr>
                        <a:t>NumPy</a:t>
                      </a:r>
                    </a:p>
                  </a:txBody>
                  <a:tcPr marL="54864" marR="54864" marT="22860" marB="22860" anchor="ctr">
                    <a:solidFill>
                      <a:srgbClr val="F3F5F9"/>
                    </a:solidFill>
                  </a:tcPr>
                </a:tc>
                <a:tc>
                  <a:txBody>
                    <a:bodyPr wrap="square"/>
                    <a:lstStyle/>
                    <a:p>
                      <a:r>
                        <a:rPr sz="1050">
                          <a:solidFill>
                            <a:srgbClr val="1A2233"/>
                          </a:solidFill>
                          <a:latin typeface="Calibri"/>
                        </a:rPr>
                        <a:t>T18</a:t>
                      </a:r>
                    </a:p>
                  </a:txBody>
                  <a:tcPr marL="54864" marR="54864" marT="22860" marB="22860" anchor="ctr">
                    <a:solidFill>
                      <a:srgbClr val="F3F5F9"/>
                    </a:solidFill>
                  </a:tcPr>
                </a:tc>
                <a:tc>
                  <a:txBody>
                    <a:bodyPr wrap="square"/>
                    <a:lstStyle/>
                    <a:p>
                      <a:r>
                        <a:rPr sz="1050">
                          <a:solidFill>
                            <a:srgbClr val="1A2233"/>
                          </a:solidFill>
                          <a:latin typeface="Calibri"/>
                        </a:rPr>
                        <a:t>PSNR, SSIM, MSE</a:t>
                      </a:r>
                    </a:p>
                  </a:txBody>
                  <a:tcPr marL="54864" marR="54864" marT="22860" marB="22860" anchor="ctr">
                    <a:solidFill>
                      <a:srgbClr val="F3F5F9"/>
                    </a:solidFill>
                  </a:tcPr>
                </a:tc>
              </a:tr>
              <a:tr h="457200">
                <a:tc>
                  <a:txBody>
                    <a:bodyPr wrap="square"/>
                    <a:lstStyle/>
                    <a:p>
                      <a:r>
                        <a:rPr sz="1050">
                          <a:solidFill>
                            <a:srgbClr val="1A2233"/>
                          </a:solidFill>
                          <a:latin typeface="Calibri"/>
                        </a:rPr>
                        <a:t>T5</a:t>
                      </a:r>
                    </a:p>
                  </a:txBody>
                  <a:tcPr marL="54864" marR="54864" marT="22860" marB="22860" anchor="ctr">
                    <a:solidFill>
                      <a:srgbClr val="FFFFFF"/>
                    </a:solidFill>
                  </a:tcPr>
                </a:tc>
                <a:tc>
                  <a:txBody>
                    <a:bodyPr wrap="square"/>
                    <a:lstStyle/>
                    <a:p>
                      <a:r>
                        <a:rPr sz="1050">
                          <a:solidFill>
                            <a:srgbClr val="1A2233"/>
                          </a:solidFill>
                          <a:latin typeface="Calibri"/>
                        </a:rPr>
                        <a:t>Singular-value embedding and extraction</a:t>
                      </a:r>
                    </a:p>
                  </a:txBody>
                  <a:tcPr marL="54864" marR="54864" marT="22860" marB="22860" anchor="ctr">
                    <a:solidFill>
                      <a:srgbClr val="FFFFFF"/>
                    </a:solidFill>
                  </a:tcPr>
                </a:tc>
                <a:tc>
                  <a:txBody>
                    <a:bodyPr wrap="square"/>
                    <a:lstStyle/>
                    <a:p>
                      <a:r>
                        <a:rPr sz="1050">
                          <a:solidFill>
                            <a:srgbClr val="1A2233"/>
                          </a:solidFill>
                          <a:latin typeface="Calibri"/>
                        </a:rPr>
                        <a:t>NumPy</a:t>
                      </a:r>
                    </a:p>
                  </a:txBody>
                  <a:tcPr marL="54864" marR="54864" marT="22860" marB="22860" anchor="ctr">
                    <a:solidFill>
                      <a:srgbClr val="FFFFFF"/>
                    </a:solidFill>
                  </a:tcPr>
                </a:tc>
                <a:tc>
                  <a:txBody>
                    <a:bodyPr wrap="square"/>
                    <a:lstStyle/>
                    <a:p>
                      <a:r>
                        <a:rPr sz="1050">
                          <a:solidFill>
                            <a:srgbClr val="1A2233"/>
                          </a:solidFill>
                          <a:latin typeface="Calibri"/>
                        </a:rPr>
                        <a:t>T19</a:t>
                      </a:r>
                    </a:p>
                  </a:txBody>
                  <a:tcPr marL="54864" marR="54864" marT="22860" marB="22860" anchor="ctr">
                    <a:solidFill>
                      <a:srgbClr val="FFFFFF"/>
                    </a:solidFill>
                  </a:tcPr>
                </a:tc>
                <a:tc>
                  <a:txBody>
                    <a:bodyPr wrap="square"/>
                    <a:lstStyle/>
                    <a:p>
                      <a:r>
                        <a:rPr sz="1050">
                          <a:solidFill>
                            <a:srgbClr val="1A2233"/>
                          </a:solidFill>
                          <a:latin typeface="Calibri"/>
                        </a:rPr>
                        <a:t>NC, ZNCC (new), BER</a:t>
                      </a:r>
                    </a:p>
                  </a:txBody>
                  <a:tcPr marL="54864" marR="54864" marT="22860" marB="22860" anchor="ctr">
                    <a:solidFill>
                      <a:srgbClr val="FFFFFF"/>
                    </a:solidFill>
                  </a:tcPr>
                </a:tc>
              </a:tr>
              <a:tr h="457200">
                <a:tc>
                  <a:txBody>
                    <a:bodyPr wrap="square"/>
                    <a:lstStyle/>
                    <a:p>
                      <a:r>
                        <a:rPr sz="1050">
                          <a:solidFill>
                            <a:srgbClr val="1A2233"/>
                          </a:solidFill>
                          <a:latin typeface="Calibri"/>
                        </a:rPr>
                        <a:t>T6–T7</a:t>
                      </a:r>
                    </a:p>
                  </a:txBody>
                  <a:tcPr marL="54864" marR="54864" marT="22860" marB="22860" anchor="ctr">
                    <a:solidFill>
                      <a:srgbClr val="F3F5F9"/>
                    </a:solidFill>
                  </a:tcPr>
                </a:tc>
                <a:tc>
                  <a:txBody>
                    <a:bodyPr wrap="square"/>
                    <a:lstStyle/>
                    <a:p>
                      <a:r>
                        <a:rPr sz="1050">
                          <a:solidFill>
                            <a:srgbClr val="1A2233"/>
                          </a:solidFill>
                          <a:latin typeface="Calibri"/>
                        </a:rPr>
                        <a:t>Anti-aliased resize; procedural logo</a:t>
                      </a:r>
                    </a:p>
                  </a:txBody>
                  <a:tcPr marL="54864" marR="54864" marT="22860" marB="22860" anchor="ctr">
                    <a:solidFill>
                      <a:srgbClr val="F3F5F9"/>
                    </a:solidFill>
                  </a:tcPr>
                </a:tc>
                <a:tc>
                  <a:txBody>
                    <a:bodyPr wrap="square"/>
                    <a:lstStyle/>
                    <a:p>
                      <a:r>
                        <a:rPr sz="1050">
                          <a:solidFill>
                            <a:srgbClr val="1A2233"/>
                          </a:solidFill>
                          <a:latin typeface="Calibri"/>
                        </a:rPr>
                        <a:t>scikit-image, Pillow</a:t>
                      </a:r>
                    </a:p>
                  </a:txBody>
                  <a:tcPr marL="54864" marR="54864" marT="22860" marB="22860" anchor="ctr">
                    <a:solidFill>
                      <a:srgbClr val="F3F5F9"/>
                    </a:solidFill>
                  </a:tcPr>
                </a:tc>
                <a:tc>
                  <a:txBody>
                    <a:bodyPr wrap="square"/>
                    <a:lstStyle/>
                    <a:p>
                      <a:r>
                        <a:rPr sz="1050">
                          <a:solidFill>
                            <a:srgbClr val="1A2233"/>
                          </a:solidFill>
                          <a:latin typeface="Calibri"/>
                        </a:rPr>
                        <a:t>T20</a:t>
                      </a:r>
                    </a:p>
                  </a:txBody>
                  <a:tcPr marL="54864" marR="54864" marT="22860" marB="22860" anchor="ctr">
                    <a:solidFill>
                      <a:srgbClr val="F3F5F9"/>
                    </a:solidFill>
                  </a:tcPr>
                </a:tc>
                <a:tc>
                  <a:txBody>
                    <a:bodyPr wrap="square"/>
                    <a:lstStyle/>
                    <a:p>
                      <a:r>
                        <a:rPr sz="1050">
                          <a:solidFill>
                            <a:srgbClr val="1A2233"/>
                          </a:solidFill>
                          <a:latin typeface="Calibri"/>
                        </a:rPr>
                        <a:t>Frame I/O, per-frame embed, codec round trip (new)</a:t>
                      </a:r>
                    </a:p>
                  </a:txBody>
                  <a:tcPr marL="54864" marR="54864" marT="22860" marB="22860" anchor="ctr">
                    <a:solidFill>
                      <a:srgbClr val="F3F5F9"/>
                    </a:solidFill>
                  </a:tcPr>
                </a:tc>
              </a:tr>
              <a:tr h="457200">
                <a:tc>
                  <a:txBody>
                    <a:bodyPr wrap="square"/>
                    <a:lstStyle/>
                    <a:p>
                      <a:r>
                        <a:rPr sz="1050">
                          <a:solidFill>
                            <a:srgbClr val="1A2233"/>
                          </a:solidFill>
                          <a:latin typeface="Calibri"/>
                        </a:rPr>
                        <a:t>T8</a:t>
                      </a:r>
                    </a:p>
                  </a:txBody>
                  <a:tcPr marL="54864" marR="54864" marT="22860" marB="22860" anchor="ctr">
                    <a:solidFill>
                      <a:srgbClr val="FFFFFF"/>
                    </a:solidFill>
                  </a:tcPr>
                </a:tc>
                <a:tc>
                  <a:txBody>
                    <a:bodyPr wrap="square"/>
                    <a:lstStyle/>
                    <a:p>
                      <a:r>
                        <a:rPr sz="1050">
                          <a:solidFill>
                            <a:srgbClr val="1A2233"/>
                          </a:solidFill>
                          <a:latin typeface="Calibri"/>
                        </a:rPr>
                        <a:t>JPEG Q=90/50/20</a:t>
                      </a:r>
                    </a:p>
                  </a:txBody>
                  <a:tcPr marL="54864" marR="54864" marT="22860" marB="22860" anchor="ctr">
                    <a:solidFill>
                      <a:srgbClr val="FFFFFF"/>
                    </a:solidFill>
                  </a:tcPr>
                </a:tc>
                <a:tc>
                  <a:txBody>
                    <a:bodyPr wrap="square"/>
                    <a:lstStyle/>
                    <a:p>
                      <a:r>
                        <a:rPr sz="1050">
                          <a:solidFill>
                            <a:srgbClr val="1A2233"/>
                          </a:solidFill>
                          <a:latin typeface="Calibri"/>
                        </a:rPr>
                        <a:t>Pillow</a:t>
                      </a:r>
                    </a:p>
                  </a:txBody>
                  <a:tcPr marL="54864" marR="54864" marT="22860" marB="22860" anchor="ctr">
                    <a:solidFill>
                      <a:srgbClr val="FFFFFF"/>
                    </a:solidFill>
                  </a:tcPr>
                </a:tc>
                <a:tc>
                  <a:txBody>
                    <a:bodyPr wrap="square"/>
                    <a:lstStyle/>
                    <a:p>
                      <a:r>
                        <a:rPr sz="1050">
                          <a:solidFill>
                            <a:srgbClr val="1A2233"/>
                          </a:solidFill>
                          <a:latin typeface="Calibri"/>
                        </a:rPr>
                        <a:t>T9–T10</a:t>
                      </a:r>
                    </a:p>
                  </a:txBody>
                  <a:tcPr marL="54864" marR="54864" marT="22860" marB="22860" anchor="ctr">
                    <a:solidFill>
                      <a:srgbClr val="FFFFFF"/>
                    </a:solidFill>
                  </a:tcPr>
                </a:tc>
                <a:tc>
                  <a:txBody>
                    <a:bodyPr wrap="square"/>
                    <a:lstStyle/>
                    <a:p>
                      <a:r>
                        <a:rPr sz="1050">
                          <a:solidFill>
                            <a:srgbClr val="1A2233"/>
                          </a:solidFill>
                          <a:latin typeface="Calibri"/>
                        </a:rPr>
                        <a:t>Gaussian σ²=0.005/0.02; salt-and-pepper 2 %</a:t>
                      </a:r>
                    </a:p>
                  </a:txBody>
                  <a:tcPr marL="54864" marR="54864" marT="22860" marB="22860" anchor="ctr">
                    <a:solidFill>
                      <a:srgbClr val="FFFFFF"/>
                    </a:solidFill>
                  </a:tcPr>
                </a:tc>
              </a:tr>
            </a:tbl>
          </a:graphicData>
        </a:graphic>
      </p:graphicFrame>
      <p:sp>
        <p:nvSpPr>
          <p:cNvPr id="9" name="Rounded Rectangle 8"/>
          <p:cNvSpPr/>
          <p:nvPr/>
        </p:nvSpPr>
        <p:spPr>
          <a:xfrm>
            <a:off x="502920" y="5394960"/>
            <a:ext cx="11183112" cy="685800"/>
          </a:xfrm>
          <a:prstGeom prst="roundRect">
            <a:avLst>
              <a:gd name="adj" fmla="val 8000"/>
            </a:avLst>
          </a:prstGeom>
          <a:solidFill>
            <a:srgbClr val="E6F6F5"/>
          </a:solidFill>
          <a:ln w="9525">
            <a:solidFill>
              <a:srgbClr val="17B8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22392"/>
            <a:ext cx="10789920" cy="640080"/>
          </a:xfrm>
          <a:prstGeom prst="rect">
            <a:avLst/>
          </a:prstGeom>
          <a:noFill/>
        </p:spPr>
        <p:txBody>
          <a:bodyPr wrap="square" lIns="36576" rIns="36576" tIns="18288" bIns="18288" anchor="ctr">
            <a:spAutoFit/>
          </a:bodyPr>
          <a:lstStyle/>
          <a:p>
            <a:r>
              <a:rPr b="0" sz="1150" i="0">
                <a:solidFill>
                  <a:srgbClr val="132347"/>
                </a:solidFill>
                <a:latin typeface="Calibri"/>
              </a:rPr>
              <a:t>Pipeline order matters: DWT → DCT → SVD → embed → </a:t>
            </a:r>
            <a:r>
              <a:rPr b="1" sz="1150" i="0">
                <a:solidFill>
                  <a:srgbClr val="132347"/>
                </a:solidFill>
                <a:latin typeface="Calibri"/>
              </a:rPr>
              <a:t>round to 8 bit</a:t>
            </a:r>
            <a:r>
              <a:rPr b="0" sz="1150" i="0">
                <a:solidFill>
                  <a:srgbClr val="132347"/>
                </a:solidFill>
                <a:latin typeface="Calibri"/>
              </a:rPr>
              <a:t> → attack → DWT → DCT → SVD → extract. The first submission attacked the float image; the 8-bit protocol is primary here (difference &lt; 0.001 mean NC except histogram equalisation).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09</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DATASET DESIGN</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100 unique images: 94 real, 6 labelled synthetic — rights and provenance recorded</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09</a:t>
            </a:r>
          </a:p>
        </p:txBody>
      </p:sp>
      <p:pic>
        <p:nvPicPr>
          <p:cNvPr id="8" name="Picture 7" descr="dataset_contact_sheet.png"/>
          <p:cNvPicPr>
            <a:picLocks noChangeAspect="1"/>
          </p:cNvPicPr>
          <p:nvPr/>
        </p:nvPicPr>
        <p:blipFill>
          <a:blip r:embed="rId3"/>
          <a:stretch>
            <a:fillRect/>
          </a:stretch>
        </p:blipFill>
        <p:spPr>
          <a:xfrm>
            <a:off x="1675964" y="1737360"/>
            <a:ext cx="4054710" cy="4434840"/>
          </a:xfrm>
          <a:prstGeom prst="rect">
            <a:avLst/>
          </a:prstGeom>
        </p:spPr>
      </p:pic>
      <p:sp>
        <p:nvSpPr>
          <p:cNvPr id="9" name="Rounded Rectangle 8"/>
          <p:cNvSpPr/>
          <p:nvPr/>
        </p:nvSpPr>
        <p:spPr>
          <a:xfrm>
            <a:off x="7178040" y="1783080"/>
            <a:ext cx="1417320"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874519"/>
            <a:ext cx="1143000" cy="578358"/>
          </a:xfrm>
          <a:prstGeom prst="rect">
            <a:avLst/>
          </a:prstGeom>
          <a:noFill/>
        </p:spPr>
        <p:txBody>
          <a:bodyPr wrap="square" lIns="36576" rIns="36576" tIns="18288" bIns="18288" anchor="ctr">
            <a:spAutoFit/>
          </a:bodyPr>
          <a:lstStyle/>
          <a:p>
            <a:r>
              <a:rPr b="1" sz="2600" i="0">
                <a:solidFill>
                  <a:srgbClr val="17B8B0"/>
                </a:solidFill>
                <a:latin typeface="Calibri"/>
              </a:rPr>
              <a:t>94</a:t>
            </a:r>
          </a:p>
        </p:txBody>
      </p:sp>
      <p:sp>
        <p:nvSpPr>
          <p:cNvPr id="11" name="TextBox 10"/>
          <p:cNvSpPr txBox="1"/>
          <p:nvPr/>
        </p:nvSpPr>
        <p:spPr>
          <a:xfrm>
            <a:off x="7315200" y="2392984"/>
            <a:ext cx="1143000" cy="420623"/>
          </a:xfrm>
          <a:prstGeom prst="rect">
            <a:avLst/>
          </a:prstGeom>
          <a:noFill/>
        </p:spPr>
        <p:txBody>
          <a:bodyPr wrap="square" lIns="36576" rIns="36576" tIns="18288" bIns="18288" anchor="t">
            <a:spAutoFit/>
          </a:bodyPr>
          <a:lstStyle/>
          <a:p>
            <a:r>
              <a:rPr b="0" sz="1050" i="0">
                <a:solidFill>
                  <a:srgbClr val="93A8C7"/>
                </a:solidFill>
                <a:latin typeface="Calibri"/>
              </a:rPr>
              <a:t>real images</a:t>
            </a:r>
          </a:p>
        </p:txBody>
      </p:sp>
      <p:sp>
        <p:nvSpPr>
          <p:cNvPr id="12" name="Rounded Rectangle 11"/>
          <p:cNvSpPr/>
          <p:nvPr/>
        </p:nvSpPr>
        <p:spPr>
          <a:xfrm>
            <a:off x="8686800" y="1783080"/>
            <a:ext cx="1417320"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1874519"/>
            <a:ext cx="1143000" cy="578358"/>
          </a:xfrm>
          <a:prstGeom prst="rect">
            <a:avLst/>
          </a:prstGeom>
          <a:noFill/>
        </p:spPr>
        <p:txBody>
          <a:bodyPr wrap="square" lIns="36576" rIns="36576" tIns="18288" bIns="18288" anchor="ctr">
            <a:spAutoFit/>
          </a:bodyPr>
          <a:lstStyle/>
          <a:p>
            <a:r>
              <a:rPr b="1" sz="2600" i="0">
                <a:solidFill>
                  <a:srgbClr val="17B8B0"/>
                </a:solidFill>
                <a:latin typeface="Calibri"/>
              </a:rPr>
              <a:t>6</a:t>
            </a:r>
          </a:p>
        </p:txBody>
      </p:sp>
      <p:sp>
        <p:nvSpPr>
          <p:cNvPr id="14" name="TextBox 13"/>
          <p:cNvSpPr txBox="1"/>
          <p:nvPr/>
        </p:nvSpPr>
        <p:spPr>
          <a:xfrm>
            <a:off x="8823960" y="2392984"/>
            <a:ext cx="1143000" cy="420623"/>
          </a:xfrm>
          <a:prstGeom prst="rect">
            <a:avLst/>
          </a:prstGeom>
          <a:noFill/>
        </p:spPr>
        <p:txBody>
          <a:bodyPr wrap="square" lIns="36576" rIns="36576" tIns="18288" bIns="18288" anchor="t">
            <a:spAutoFit/>
          </a:bodyPr>
          <a:lstStyle/>
          <a:p>
            <a:r>
              <a:rPr b="0" sz="1050" i="0">
                <a:solidFill>
                  <a:srgbClr val="93A8C7"/>
                </a:solidFill>
                <a:latin typeface="Calibri"/>
              </a:rPr>
              <a:t>synthetic controls</a:t>
            </a:r>
          </a:p>
        </p:txBody>
      </p:sp>
      <p:sp>
        <p:nvSpPr>
          <p:cNvPr id="15" name="Rounded Rectangle 14"/>
          <p:cNvSpPr/>
          <p:nvPr/>
        </p:nvSpPr>
        <p:spPr>
          <a:xfrm>
            <a:off x="10195560" y="1783080"/>
            <a:ext cx="1490472"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20" y="1874519"/>
            <a:ext cx="1216151" cy="578358"/>
          </a:xfrm>
          <a:prstGeom prst="rect">
            <a:avLst/>
          </a:prstGeom>
          <a:noFill/>
        </p:spPr>
        <p:txBody>
          <a:bodyPr wrap="square" lIns="36576" rIns="36576" tIns="18288" bIns="18288" anchor="ctr">
            <a:spAutoFit/>
          </a:bodyPr>
          <a:lstStyle/>
          <a:p>
            <a:r>
              <a:rPr b="1" sz="2600" i="0">
                <a:solidFill>
                  <a:srgbClr val="17B8B0"/>
                </a:solidFill>
                <a:latin typeface="Calibri"/>
              </a:rPr>
              <a:t>18</a:t>
            </a:r>
          </a:p>
        </p:txBody>
      </p:sp>
      <p:sp>
        <p:nvSpPr>
          <p:cNvPr id="17" name="TextBox 16"/>
          <p:cNvSpPr txBox="1"/>
          <p:nvPr/>
        </p:nvSpPr>
        <p:spPr>
          <a:xfrm>
            <a:off x="10332720" y="2392984"/>
            <a:ext cx="1216151" cy="420623"/>
          </a:xfrm>
          <a:prstGeom prst="rect">
            <a:avLst/>
          </a:prstGeom>
          <a:noFill/>
        </p:spPr>
        <p:txBody>
          <a:bodyPr wrap="square" lIns="36576" rIns="36576" tIns="18288" bIns="18288" anchor="t">
            <a:spAutoFit/>
          </a:bodyPr>
          <a:lstStyle/>
          <a:p>
            <a:r>
              <a:rPr b="0" sz="1050" i="0">
                <a:solidFill>
                  <a:srgbClr val="93A8C7"/>
                </a:solidFill>
                <a:latin typeface="Calibri"/>
              </a:rPr>
              <a:t>categories</a:t>
            </a:r>
          </a:p>
        </p:txBody>
      </p:sp>
      <p:sp>
        <p:nvSpPr>
          <p:cNvPr id="18" name="Rounded Rectangle 17"/>
          <p:cNvSpPr/>
          <p:nvPr/>
        </p:nvSpPr>
        <p:spPr>
          <a:xfrm>
            <a:off x="7178040" y="3017520"/>
            <a:ext cx="4507992" cy="301752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3108960"/>
            <a:ext cx="4233672" cy="320040"/>
          </a:xfrm>
          <a:prstGeom prst="rect">
            <a:avLst/>
          </a:prstGeom>
          <a:noFill/>
        </p:spPr>
        <p:txBody>
          <a:bodyPr wrap="square" lIns="36576" rIns="36576" tIns="18288" bIns="18288" anchor="t">
            <a:spAutoFit/>
          </a:bodyPr>
          <a:lstStyle/>
          <a:p>
            <a:r>
              <a:rPr b="1" sz="1250" i="0">
                <a:solidFill>
                  <a:srgbClr val="132347"/>
                </a:solidFill>
                <a:latin typeface="Calibri"/>
              </a:rPr>
              <a:t>Provenance, diversity, limits</a:t>
            </a:r>
          </a:p>
        </p:txBody>
      </p:sp>
      <p:sp>
        <p:nvSpPr>
          <p:cNvPr id="20" name="TextBox 19"/>
          <p:cNvSpPr txBox="1"/>
          <p:nvPr/>
        </p:nvSpPr>
        <p:spPr>
          <a:xfrm>
            <a:off x="7287768" y="3474720"/>
            <a:ext cx="4279392" cy="251460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Sources: OpenCV (+extra), scikit-image, darknet, torchvision, three.js, Pillow tests, …</a:t>
            </a:r>
          </a:p>
          <a:p>
            <a:pPr>
              <a:spcAft>
                <a:spcPts val="300"/>
              </a:spcAft>
            </a:pPr>
            <a:r>
              <a:rPr sz="1200">
                <a:solidFill>
                  <a:srgbClr val="17B8B0"/>
                </a:solidFill>
                <a:latin typeface="Calibri"/>
              </a:rPr>
              <a:t>▪  </a:t>
            </a:r>
            <a:r>
              <a:rPr sz="1200">
                <a:solidFill>
                  <a:srgbClr val="1A2233"/>
                </a:solidFill>
                <a:latin typeface="Calibri"/>
              </a:rPr>
              <a:t>Brightness: mid 87, dark 7, bright 6; contrast: medium 62, low 19, high 19</a:t>
            </a:r>
          </a:p>
          <a:p>
            <a:pPr>
              <a:spcAft>
                <a:spcPts val="300"/>
              </a:spcAft>
            </a:pPr>
            <a:r>
              <a:rPr sz="1200">
                <a:solidFill>
                  <a:srgbClr val="17B8B0"/>
                </a:solidFill>
                <a:latin typeface="Calibri"/>
              </a:rPr>
              <a:t>▪  </a:t>
            </a:r>
            <a:r>
              <a:rPr sz="1200">
                <a:solidFill>
                  <a:srgbClr val="1A2233"/>
                </a:solidFill>
                <a:latin typeface="Calibri"/>
              </a:rPr>
              <a:t>SHA-256, URL, licence and rights note per image in </a:t>
            </a:r>
            <a:r>
              <a:rPr sz="1100">
                <a:solidFill>
                  <a:srgbClr val="0E8F89"/>
                </a:solidFill>
                <a:latin typeface="Consolas"/>
              </a:rPr>
              <a:t>metadata.csv</a:t>
            </a:r>
          </a:p>
          <a:p>
            <a:pPr>
              <a:spcAft>
                <a:spcPts val="300"/>
              </a:spcAft>
            </a:pPr>
            <a:r>
              <a:rPr sz="1200">
                <a:solidFill>
                  <a:srgbClr val="17B8B0"/>
                </a:solidFill>
                <a:latin typeface="Calibri"/>
              </a:rPr>
              <a:t>▪  </a:t>
            </a:r>
            <a:r>
              <a:rPr sz="1200">
                <a:solidFill>
                  <a:srgbClr val="1A2233"/>
                </a:solidFill>
                <a:latin typeface="Calibri"/>
              </a:rPr>
              <a:t>Convenience sample — </a:t>
            </a:r>
            <a:r>
              <a:rPr b="1" sz="1200">
                <a:solidFill>
                  <a:srgbClr val="1A2233"/>
                </a:solidFill>
                <a:latin typeface="Calibri"/>
              </a:rPr>
              <a:t>not</a:t>
            </a:r>
            <a:r>
              <a:rPr sz="1200">
                <a:solidFill>
                  <a:srgbClr val="1A2233"/>
                </a:solidFill>
                <a:latin typeface="Calibri"/>
              </a:rPr>
              <a:t> a benchmark; colour removed; 1–4 images in several categories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10</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QUANTITATIVE EVALUATION METHODOLOGY</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Seven experiments, 14 attacks plus a reference, four metrics — all seeded and logged</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10</a:t>
            </a:r>
          </a:p>
        </p:txBody>
      </p:sp>
      <p:graphicFrame>
        <p:nvGraphicFramePr>
          <p:cNvPr id="8" name="Table 7"/>
          <p:cNvGraphicFramePr>
            <a:graphicFrameLocks noGrp="1"/>
          </p:cNvGraphicFramePr>
          <p:nvPr/>
        </p:nvGraphicFramePr>
        <p:xfrm>
          <a:off x="502920" y="1783080"/>
          <a:ext cx="7223759" cy="2944368"/>
        </p:xfrm>
        <a:graphic>
          <a:graphicData uri="http://schemas.openxmlformats.org/drawingml/2006/table">
            <a:tbl>
              <a:tblPr firstRow="1" bandRow="1">
                <a:tableStyleId>{5C22544A-7EE6-4342-B048-85BDC9FD1C3A}</a:tableStyleId>
              </a:tblPr>
              <a:tblGrid>
                <a:gridCol w="740898"/>
                <a:gridCol w="4630615"/>
                <a:gridCol w="1852246"/>
              </a:tblGrid>
              <a:tr h="420624">
                <a:tc>
                  <a:txBody>
                    <a:bodyPr wrap="square"/>
                    <a:lstStyle/>
                    <a:p>
                      <a:r>
                        <a:rPr sz="1100" b="1">
                          <a:solidFill>
                            <a:srgbClr val="FFFFFF"/>
                          </a:solidFill>
                          <a:latin typeface="Calibri"/>
                        </a:rPr>
                        <a:t>ID</a:t>
                      </a:r>
                    </a:p>
                  </a:txBody>
                  <a:tcPr marL="54864" marR="54864" marT="22860" marB="22860" anchor="ctr">
                    <a:solidFill>
                      <a:srgbClr val="132347"/>
                    </a:solidFill>
                  </a:tcPr>
                </a:tc>
                <a:tc>
                  <a:txBody>
                    <a:bodyPr wrap="square"/>
                    <a:lstStyle/>
                    <a:p>
                      <a:r>
                        <a:rPr sz="1100" b="1">
                          <a:solidFill>
                            <a:srgbClr val="FFFFFF"/>
                          </a:solidFill>
                          <a:latin typeface="Calibri"/>
                        </a:rPr>
                        <a:t>What</a:t>
                      </a:r>
                    </a:p>
                  </a:txBody>
                  <a:tcPr marL="54864" marR="54864" marT="22860" marB="22860" anchor="ctr">
                    <a:solidFill>
                      <a:srgbClr val="132347"/>
                    </a:solidFill>
                  </a:tcPr>
                </a:tc>
                <a:tc>
                  <a:txBody>
                    <a:bodyPr wrap="square"/>
                    <a:lstStyle/>
                    <a:p>
                      <a:r>
                        <a:rPr sz="1100" b="1">
                          <a:solidFill>
                            <a:srgbClr val="FFFFFF"/>
                          </a:solidFill>
                          <a:latin typeface="Calibri"/>
                        </a:rPr>
                        <a:t>Size</a:t>
                      </a:r>
                    </a:p>
                  </a:txBody>
                  <a:tcPr marL="54864" marR="54864" marT="22860" marB="22860" anchor="ctr">
                    <a:solidFill>
                      <a:srgbClr val="132347"/>
                    </a:solidFill>
                  </a:tcPr>
                </a:tc>
              </a:tr>
              <a:tr h="420624">
                <a:tc>
                  <a:txBody>
                    <a:bodyPr wrap="square"/>
                    <a:lstStyle/>
                    <a:p>
                      <a:r>
                        <a:rPr sz="1100">
                          <a:solidFill>
                            <a:srgbClr val="1A2233"/>
                          </a:solidFill>
                          <a:latin typeface="Calibri"/>
                        </a:rPr>
                        <a:t>E1</a:t>
                      </a:r>
                    </a:p>
                  </a:txBody>
                  <a:tcPr marL="54864" marR="54864" marT="22860" marB="22860" anchor="ctr">
                    <a:solidFill>
                      <a:srgbClr val="FFFFFF"/>
                    </a:solidFill>
                  </a:tcPr>
                </a:tc>
                <a:tc>
                  <a:txBody>
                    <a:bodyPr wrap="square"/>
                    <a:lstStyle/>
                    <a:p>
                      <a:r>
                        <a:rPr sz="1100">
                          <a:solidFill>
                            <a:srgbClr val="1A2233"/>
                          </a:solidFill>
                          <a:latin typeface="Calibri"/>
                        </a:rPr>
                        <a:t>embed α = 0.10, save 8-bit PNG, verify</a:t>
                      </a:r>
                    </a:p>
                  </a:txBody>
                  <a:tcPr marL="54864" marR="54864" marT="22860" marB="22860" anchor="ctr">
                    <a:solidFill>
                      <a:srgbClr val="FFFFFF"/>
                    </a:solidFill>
                  </a:tcPr>
                </a:tc>
                <a:tc>
                  <a:txBody>
                    <a:bodyPr wrap="square"/>
                    <a:lstStyle/>
                    <a:p>
                      <a:r>
                        <a:rPr sz="1100">
                          <a:solidFill>
                            <a:srgbClr val="1A2233"/>
                          </a:solidFill>
                          <a:latin typeface="Calibri"/>
                        </a:rPr>
                        <a:t>100 images</a:t>
                      </a:r>
                    </a:p>
                  </a:txBody>
                  <a:tcPr marL="54864" marR="54864" marT="22860" marB="22860" anchor="ctr">
                    <a:solidFill>
                      <a:srgbClr val="FFFFFF"/>
                    </a:solidFill>
                  </a:tcPr>
                </a:tc>
              </a:tr>
              <a:tr h="420624">
                <a:tc>
                  <a:txBody>
                    <a:bodyPr wrap="square"/>
                    <a:lstStyle/>
                    <a:p>
                      <a:r>
                        <a:rPr sz="1100">
                          <a:solidFill>
                            <a:srgbClr val="1A2233"/>
                          </a:solidFill>
                          <a:latin typeface="Calibri"/>
                        </a:rPr>
                        <a:t>E2</a:t>
                      </a:r>
                    </a:p>
                  </a:txBody>
                  <a:tcPr marL="54864" marR="54864" marT="22860" marB="22860" anchor="ctr">
                    <a:solidFill>
                      <a:srgbClr val="F3F5F9"/>
                    </a:solidFill>
                  </a:tcPr>
                </a:tc>
                <a:tc>
                  <a:txBody>
                    <a:bodyPr wrap="square"/>
                    <a:lstStyle/>
                    <a:p>
                      <a:r>
                        <a:rPr sz="1100">
                          <a:solidFill>
                            <a:srgbClr val="1A2233"/>
                          </a:solidFill>
                          <a:latin typeface="Calibri"/>
                        </a:rPr>
                        <a:t>15 conditions × 2 protocols</a:t>
                      </a:r>
                    </a:p>
                  </a:txBody>
                  <a:tcPr marL="54864" marR="54864" marT="22860" marB="22860" anchor="ctr">
                    <a:solidFill>
                      <a:srgbClr val="F3F5F9"/>
                    </a:solidFill>
                  </a:tcPr>
                </a:tc>
                <a:tc>
                  <a:txBody>
                    <a:bodyPr wrap="square"/>
                    <a:lstStyle/>
                    <a:p>
                      <a:r>
                        <a:rPr sz="1100">
                          <a:solidFill>
                            <a:srgbClr val="1A2233"/>
                          </a:solidFill>
                          <a:latin typeface="Calibri"/>
                        </a:rPr>
                        <a:t>3000 trials</a:t>
                      </a:r>
                    </a:p>
                  </a:txBody>
                  <a:tcPr marL="54864" marR="54864" marT="22860" marB="22860" anchor="ctr">
                    <a:solidFill>
                      <a:srgbClr val="F3F5F9"/>
                    </a:solidFill>
                  </a:tcPr>
                </a:tc>
              </a:tr>
              <a:tr h="420624">
                <a:tc>
                  <a:txBody>
                    <a:bodyPr wrap="square"/>
                    <a:lstStyle/>
                    <a:p>
                      <a:r>
                        <a:rPr sz="1100">
                          <a:solidFill>
                            <a:srgbClr val="1A2233"/>
                          </a:solidFill>
                          <a:latin typeface="Calibri"/>
                        </a:rPr>
                        <a:t>E3</a:t>
                      </a:r>
                    </a:p>
                  </a:txBody>
                  <a:tcPr marL="54864" marR="54864" marT="22860" marB="22860" anchor="ctr">
                    <a:solidFill>
                      <a:srgbClr val="FFFFFF"/>
                    </a:solidFill>
                  </a:tcPr>
                </a:tc>
                <a:tc>
                  <a:txBody>
                    <a:bodyPr wrap="square"/>
                    <a:lstStyle/>
                    <a:p>
                      <a:r>
                        <a:rPr sz="1100">
                          <a:solidFill>
                            <a:srgbClr val="1A2233"/>
                          </a:solidFill>
                          <a:latin typeface="Calibri"/>
                        </a:rPr>
                        <a:t>α sweep × 4 attacks</a:t>
                      </a:r>
                    </a:p>
                  </a:txBody>
                  <a:tcPr marL="54864" marR="54864" marT="22860" marB="22860" anchor="ctr">
                    <a:solidFill>
                      <a:srgbClr val="FFFFFF"/>
                    </a:solidFill>
                  </a:tcPr>
                </a:tc>
                <a:tc>
                  <a:txBody>
                    <a:bodyPr wrap="square"/>
                    <a:lstStyle/>
                    <a:p>
                      <a:r>
                        <a:rPr sz="1100">
                          <a:solidFill>
                            <a:srgbClr val="1A2233"/>
                          </a:solidFill>
                          <a:latin typeface="Calibri"/>
                        </a:rPr>
                        <a:t>4000 rows</a:t>
                      </a:r>
                    </a:p>
                  </a:txBody>
                  <a:tcPr marL="54864" marR="54864" marT="22860" marB="22860" anchor="ctr">
                    <a:solidFill>
                      <a:srgbClr val="FFFFFF"/>
                    </a:solidFill>
                  </a:tcPr>
                </a:tc>
              </a:tr>
              <a:tr h="420624">
                <a:tc>
                  <a:txBody>
                    <a:bodyPr wrap="square"/>
                    <a:lstStyle/>
                    <a:p>
                      <a:r>
                        <a:rPr sz="1100">
                          <a:solidFill>
                            <a:srgbClr val="1A2233"/>
                          </a:solidFill>
                          <a:latin typeface="Calibri"/>
                        </a:rPr>
                        <a:t>E4</a:t>
                      </a:r>
                    </a:p>
                  </a:txBody>
                  <a:tcPr marL="54864" marR="54864" marT="22860" marB="22860" anchor="ctr">
                    <a:solidFill>
                      <a:srgbClr val="F3F5F9"/>
                    </a:solidFill>
                  </a:tcPr>
                </a:tc>
                <a:tc>
                  <a:txBody>
                    <a:bodyPr wrap="square"/>
                    <a:lstStyle/>
                    <a:p>
                      <a:r>
                        <a:rPr sz="1100">
                          <a:solidFill>
                            <a:srgbClr val="1A2233"/>
                          </a:solidFill>
                          <a:latin typeface="Calibri"/>
                        </a:rPr>
                        <a:t>false-positive controls (a–d)</a:t>
                      </a:r>
                    </a:p>
                  </a:txBody>
                  <a:tcPr marL="54864" marR="54864" marT="22860" marB="22860" anchor="ctr">
                    <a:solidFill>
                      <a:srgbClr val="F3F5F9"/>
                    </a:solidFill>
                  </a:tcPr>
                </a:tc>
                <a:tc>
                  <a:txBody>
                    <a:bodyPr wrap="square"/>
                    <a:lstStyle/>
                    <a:p>
                      <a:r>
                        <a:rPr sz="1100">
                          <a:solidFill>
                            <a:srgbClr val="1A2233"/>
                          </a:solidFill>
                          <a:latin typeface="Calibri"/>
                        </a:rPr>
                        <a:t>1600 rows</a:t>
                      </a:r>
                    </a:p>
                  </a:txBody>
                  <a:tcPr marL="54864" marR="54864" marT="22860" marB="22860" anchor="ctr">
                    <a:solidFill>
                      <a:srgbClr val="F3F5F9"/>
                    </a:solidFill>
                  </a:tcPr>
                </a:tc>
              </a:tr>
              <a:tr h="420624">
                <a:tc>
                  <a:txBody>
                    <a:bodyPr wrap="square"/>
                    <a:lstStyle/>
                    <a:p>
                      <a:r>
                        <a:rPr sz="1100">
                          <a:solidFill>
                            <a:srgbClr val="1A2233"/>
                          </a:solidFill>
                          <a:latin typeface="Calibri"/>
                        </a:rPr>
                        <a:t>S1/S2</a:t>
                      </a:r>
                    </a:p>
                  </a:txBody>
                  <a:tcPr marL="54864" marR="54864" marT="22860" marB="22860" anchor="ctr">
                    <a:solidFill>
                      <a:srgbClr val="FFFFFF"/>
                    </a:solidFill>
                  </a:tcPr>
                </a:tc>
                <a:tc>
                  <a:txBody>
                    <a:bodyPr wrap="square"/>
                    <a:lstStyle/>
                    <a:p>
                      <a:r>
                        <a:rPr sz="1100">
                          <a:solidFill>
                            <a:srgbClr val="1A2233"/>
                          </a:solidFill>
                          <a:latin typeface="Calibri"/>
                        </a:rPr>
                        <a:t>scheme / component benchmarks</a:t>
                      </a:r>
                    </a:p>
                  </a:txBody>
                  <a:tcPr marL="54864" marR="54864" marT="22860" marB="22860" anchor="ctr">
                    <a:solidFill>
                      <a:srgbClr val="FFFFFF"/>
                    </a:solidFill>
                  </a:tcPr>
                </a:tc>
                <a:tc>
                  <a:txBody>
                    <a:bodyPr wrap="square"/>
                    <a:lstStyle/>
                    <a:p>
                      <a:r>
                        <a:rPr sz="1100">
                          <a:solidFill>
                            <a:srgbClr val="1A2233"/>
                          </a:solidFill>
                          <a:latin typeface="Calibri"/>
                        </a:rPr>
                        <a:t>30 imgs / 10 ops</a:t>
                      </a:r>
                    </a:p>
                  </a:txBody>
                  <a:tcPr marL="54864" marR="54864" marT="22860" marB="22860" anchor="ctr">
                    <a:solidFill>
                      <a:srgbClr val="FFFFFF"/>
                    </a:solidFill>
                  </a:tcPr>
                </a:tc>
              </a:tr>
              <a:tr h="420624">
                <a:tc>
                  <a:txBody>
                    <a:bodyPr wrap="square"/>
                    <a:lstStyle/>
                    <a:p>
                      <a:r>
                        <a:rPr sz="1100">
                          <a:solidFill>
                            <a:srgbClr val="1A2233"/>
                          </a:solidFill>
                          <a:latin typeface="Calibri"/>
                        </a:rPr>
                        <a:t>V1</a:t>
                      </a:r>
                    </a:p>
                  </a:txBody>
                  <a:tcPr marL="54864" marR="54864" marT="22860" marB="22860" anchor="ctr">
                    <a:solidFill>
                      <a:srgbClr val="F3F5F9"/>
                    </a:solidFill>
                  </a:tcPr>
                </a:tc>
                <a:tc>
                  <a:txBody>
                    <a:bodyPr wrap="square"/>
                    <a:lstStyle/>
                    <a:p>
                      <a:r>
                        <a:rPr sz="1100">
                          <a:solidFill>
                            <a:srgbClr val="1A2233"/>
                          </a:solidFill>
                          <a:latin typeface="Calibri"/>
                        </a:rPr>
                        <a:t>video: 2 clips × 60 frames × 6 codecs</a:t>
                      </a:r>
                    </a:p>
                  </a:txBody>
                  <a:tcPr marL="54864" marR="54864" marT="22860" marB="22860" anchor="ctr">
                    <a:solidFill>
                      <a:srgbClr val="F3F5F9"/>
                    </a:solidFill>
                  </a:tcPr>
                </a:tc>
                <a:tc>
                  <a:txBody>
                    <a:bodyPr wrap="square"/>
                    <a:lstStyle/>
                    <a:p>
                      <a:r>
                        <a:rPr sz="1100">
                          <a:solidFill>
                            <a:srgbClr val="1A2233"/>
                          </a:solidFill>
                          <a:latin typeface="Calibri"/>
                        </a:rPr>
                        <a:t>720 frames</a:t>
                      </a:r>
                    </a:p>
                  </a:txBody>
                  <a:tcPr marL="54864" marR="54864" marT="22860" marB="22860" anchor="ctr">
                    <a:solidFill>
                      <a:srgbClr val="F3F5F9"/>
                    </a:solidFill>
                  </a:tcPr>
                </a:tc>
              </a:tr>
            </a:tbl>
          </a:graphicData>
        </a:graphic>
      </p:graphicFrame>
      <p:sp>
        <p:nvSpPr>
          <p:cNvPr id="9" name="Rounded Rectangle 8"/>
          <p:cNvSpPr/>
          <p:nvPr/>
        </p:nvSpPr>
        <p:spPr>
          <a:xfrm>
            <a:off x="8001000" y="1783080"/>
            <a:ext cx="3685032" cy="292608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874519"/>
            <a:ext cx="3410712" cy="320040"/>
          </a:xfrm>
          <a:prstGeom prst="rect">
            <a:avLst/>
          </a:prstGeom>
          <a:noFill/>
        </p:spPr>
        <p:txBody>
          <a:bodyPr wrap="square" lIns="36576" rIns="36576" tIns="18288" bIns="18288" anchor="t">
            <a:spAutoFit/>
          </a:bodyPr>
          <a:lstStyle/>
          <a:p>
            <a:r>
              <a:rPr b="1" sz="1250" i="0">
                <a:solidFill>
                  <a:srgbClr val="132347"/>
                </a:solidFill>
                <a:latin typeface="Calibri"/>
              </a:rPr>
              <a:t>Metrics</a:t>
            </a:r>
          </a:p>
        </p:txBody>
      </p:sp>
      <p:sp>
        <p:nvSpPr>
          <p:cNvPr id="11" name="TextBox 10"/>
          <p:cNvSpPr txBox="1"/>
          <p:nvPr/>
        </p:nvSpPr>
        <p:spPr>
          <a:xfrm>
            <a:off x="8110727" y="2240280"/>
            <a:ext cx="3456432" cy="2423160"/>
          </a:xfrm>
          <a:prstGeom prst="rect">
            <a:avLst/>
          </a:prstGeom>
          <a:noFill/>
        </p:spPr>
        <p:txBody>
          <a:bodyPr wrap="square" lIns="36576" rIns="36576">
            <a:spAutoFit/>
          </a:bodyPr>
          <a:lstStyle/>
          <a:p>
            <a:pPr>
              <a:spcAft>
                <a:spcPts val="300"/>
              </a:spcAft>
            </a:pPr>
            <a:r>
              <a:rPr sz="1300">
                <a:solidFill>
                  <a:srgbClr val="17B8B0"/>
                </a:solidFill>
                <a:latin typeface="Calibri"/>
              </a:rPr>
              <a:t>▪  </a:t>
            </a:r>
            <a:r>
              <a:rPr b="1" sz="1300">
                <a:solidFill>
                  <a:srgbClr val="1A2233"/>
                </a:solidFill>
                <a:latin typeface="Calibri"/>
              </a:rPr>
              <a:t>PSNR / SSIM</a:t>
            </a:r>
            <a:r>
              <a:rPr sz="1300">
                <a:solidFill>
                  <a:srgbClr val="1A2233"/>
                </a:solidFill>
                <a:latin typeface="Calibri"/>
              </a:rPr>
              <a:t> vs the unwatermarked original</a:t>
            </a:r>
          </a:p>
          <a:p>
            <a:pPr>
              <a:spcAft>
                <a:spcPts val="300"/>
              </a:spcAft>
            </a:pPr>
            <a:r>
              <a:rPr sz="1300">
                <a:solidFill>
                  <a:srgbClr val="17B8B0"/>
                </a:solidFill>
                <a:latin typeface="Calibri"/>
              </a:rPr>
              <a:t>▪  </a:t>
            </a:r>
            <a:r>
              <a:rPr b="1" sz="1300">
                <a:solidFill>
                  <a:srgbClr val="1A2233"/>
                </a:solidFill>
                <a:latin typeface="Calibri"/>
              </a:rPr>
              <a:t>NC</a:t>
            </a:r>
            <a:r>
              <a:rPr sz="1300">
                <a:solidFill>
                  <a:srgbClr val="1A2233"/>
                </a:solidFill>
                <a:latin typeface="Calibri"/>
              </a:rPr>
              <a:t>, </a:t>
            </a:r>
            <a:r>
              <a:rPr b="1" sz="1300">
                <a:solidFill>
                  <a:srgbClr val="1A2233"/>
                </a:solidFill>
                <a:latin typeface="Calibri"/>
              </a:rPr>
              <a:t>ZNCC</a:t>
            </a:r>
            <a:r>
              <a:rPr sz="1300">
                <a:solidFill>
                  <a:srgbClr val="1A2233"/>
                </a:solidFill>
                <a:latin typeface="Calibri"/>
              </a:rPr>
              <a:t> (mean-centred), </a:t>
            </a:r>
            <a:r>
              <a:rPr b="1" sz="1300">
                <a:solidFill>
                  <a:srgbClr val="1A2233"/>
                </a:solidFill>
                <a:latin typeface="Calibri"/>
              </a:rPr>
              <a:t>BER</a:t>
            </a:r>
            <a:r>
              <a:rPr sz="1300">
                <a:solidFill>
                  <a:srgbClr val="1A2233"/>
                </a:solidFill>
                <a:latin typeface="Calibri"/>
              </a:rPr>
              <a:t> vs the logo</a:t>
            </a:r>
          </a:p>
          <a:p>
            <a:pPr>
              <a:spcAft>
                <a:spcPts val="300"/>
              </a:spcAft>
            </a:pPr>
            <a:r>
              <a:rPr sz="1300">
                <a:solidFill>
                  <a:srgbClr val="17B8B0"/>
                </a:solidFill>
                <a:latin typeface="Calibri"/>
              </a:rPr>
              <a:t>▪  </a:t>
            </a:r>
            <a:r>
              <a:rPr sz="1300">
                <a:solidFill>
                  <a:srgbClr val="1A2233"/>
                </a:solidFill>
                <a:latin typeface="Calibri"/>
              </a:rPr>
              <a:t>Recognised if NC ≥ 0.75 (project convention)</a:t>
            </a:r>
          </a:p>
          <a:p>
            <a:pPr>
              <a:spcAft>
                <a:spcPts val="300"/>
              </a:spcAft>
            </a:pPr>
            <a:r>
              <a:rPr sz="1300">
                <a:solidFill>
                  <a:srgbClr val="17B8B0"/>
                </a:solidFill>
                <a:latin typeface="Calibri"/>
              </a:rPr>
              <a:t>▪  </a:t>
            </a:r>
            <a:r>
              <a:rPr sz="1300">
                <a:solidFill>
                  <a:srgbClr val="1A2233"/>
                </a:solidFill>
                <a:latin typeface="Calibri"/>
              </a:rPr>
              <a:t>95 % bootstrap CIs; Wilson intervals for pass rates</a:t>
            </a:r>
          </a:p>
        </p:txBody>
      </p:sp>
      <p:sp>
        <p:nvSpPr>
          <p:cNvPr id="12" name="Rounded Rectangle 11"/>
          <p:cNvSpPr/>
          <p:nvPr/>
        </p:nvSpPr>
        <p:spPr>
          <a:xfrm>
            <a:off x="502920" y="4892040"/>
            <a:ext cx="11183112" cy="1188720"/>
          </a:xfrm>
          <a:prstGeom prst="roundRect">
            <a:avLst>
              <a:gd name="adj" fmla="val 6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956048"/>
            <a:ext cx="10698480" cy="1097280"/>
          </a:xfrm>
          <a:prstGeom prst="rect">
            <a:avLst/>
          </a:prstGeom>
          <a:noFill/>
        </p:spPr>
        <p:txBody>
          <a:bodyPr wrap="square" lIns="36576" rIns="36576" tIns="18288" bIns="18288" anchor="t">
            <a:spAutoFit/>
          </a:bodyPr>
          <a:lstStyle/>
          <a:p>
            <a:pPr>
              <a:spcAft>
                <a:spcPts val="400"/>
              </a:spcAft>
            </a:pPr>
            <a:r>
              <a:rPr b="1" sz="1300" i="0">
                <a:solidFill>
                  <a:srgbClr val="FFFFFF"/>
                </a:solidFill>
                <a:latin typeface="Calibri"/>
              </a:rPr>
              <a:t>100/100</a:t>
            </a:r>
            <a:r>
              <a:rPr b="0" sz="1300" i="0">
                <a:solidFill>
                  <a:srgbClr val="FFFFFF"/>
                </a:solidFill>
                <a:latin typeface="Calibri"/>
              </a:rPr>
              <a:t> images · </a:t>
            </a:r>
            <a:r>
              <a:rPr b="1" sz="1300" i="0">
                <a:solidFill>
                  <a:srgbClr val="FFFFFF"/>
                </a:solidFill>
                <a:latin typeface="Calibri"/>
              </a:rPr>
              <a:t>3000/3000</a:t>
            </a:r>
            <a:r>
              <a:rPr b="0" sz="1300" i="0">
                <a:solidFill>
                  <a:srgbClr val="FFFFFF"/>
                </a:solidFill>
                <a:latin typeface="Calibri"/>
              </a:rPr>
              <a:t> attack trials · </a:t>
            </a:r>
            <a:r>
              <a:rPr b="1" sz="1300" i="0">
                <a:solidFill>
                  <a:srgbClr val="FFFFFF"/>
                </a:solidFill>
                <a:latin typeface="Calibri"/>
              </a:rPr>
              <a:t>4000/4000</a:t>
            </a:r>
            <a:r>
              <a:rPr b="0" sz="1300" i="0">
                <a:solidFill>
                  <a:srgbClr val="FFFFFF"/>
                </a:solidFill>
                <a:latin typeface="Calibri"/>
              </a:rPr>
              <a:t> sweep rows — </a:t>
            </a:r>
            <a:r>
              <a:rPr b="1" sz="1300" i="0">
                <a:solidFill>
                  <a:srgbClr val="FFFFFF"/>
                </a:solidFill>
                <a:latin typeface="Calibri"/>
              </a:rPr>
              <a:t>0 failures</a:t>
            </a:r>
          </a:p>
          <a:p>
            <a:pPr>
              <a:spcAft>
                <a:spcPts val="400"/>
              </a:spcAft>
            </a:pPr>
            <a:r>
              <a:rPr b="0" sz="1300" i="0">
                <a:solidFill>
                  <a:srgbClr val="FFFFFF"/>
                </a:solidFill>
                <a:latin typeface="Calibri"/>
              </a:rPr>
              <a:t>Two full runs gave </a:t>
            </a:r>
            <a:r>
              <a:rPr b="1" sz="1300" i="0">
                <a:solidFill>
                  <a:srgbClr val="FFFFFF"/>
                </a:solidFill>
                <a:latin typeface="Calibri"/>
              </a:rPr>
              <a:t>identical metrics</a:t>
            </a:r>
            <a:r>
              <a:rPr b="0" sz="1300" i="0">
                <a:solidFill>
                  <a:srgbClr val="FFFFFF"/>
                </a:solidFill>
                <a:latin typeface="Calibri"/>
              </a:rPr>
              <a:t> (max |Δ| = 0.0) · 43 tests pass · ≈ 80 s on 4 cores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11</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IMPERCEPTIBILITY</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Invisible on typical images — but PSNR alone hides some failures</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11</a:t>
            </a:r>
          </a:p>
        </p:txBody>
      </p:sp>
      <p:sp>
        <p:nvSpPr>
          <p:cNvPr id="8" name="Rounded Rectangle 7"/>
          <p:cNvSpPr/>
          <p:nvPr/>
        </p:nvSpPr>
        <p:spPr>
          <a:xfrm>
            <a:off x="502920" y="1783080"/>
            <a:ext cx="2103120" cy="109728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1828799" cy="603504"/>
          </a:xfrm>
          <a:prstGeom prst="rect">
            <a:avLst/>
          </a:prstGeom>
          <a:noFill/>
        </p:spPr>
        <p:txBody>
          <a:bodyPr wrap="square" lIns="36576" rIns="36576" tIns="18288" bIns="18288" anchor="ctr">
            <a:spAutoFit/>
          </a:bodyPr>
          <a:lstStyle/>
          <a:p>
            <a:r>
              <a:rPr b="1" sz="2800" i="0">
                <a:solidFill>
                  <a:srgbClr val="17B8B0"/>
                </a:solidFill>
                <a:latin typeface="Calibri"/>
              </a:rPr>
              <a:t>36.0 dB</a:t>
            </a:r>
          </a:p>
        </p:txBody>
      </p:sp>
      <p:sp>
        <p:nvSpPr>
          <p:cNvPr id="10" name="TextBox 9"/>
          <p:cNvSpPr txBox="1"/>
          <p:nvPr/>
        </p:nvSpPr>
        <p:spPr>
          <a:xfrm>
            <a:off x="640080" y="2419502"/>
            <a:ext cx="1828799" cy="438912"/>
          </a:xfrm>
          <a:prstGeom prst="rect">
            <a:avLst/>
          </a:prstGeom>
          <a:noFill/>
        </p:spPr>
        <p:txBody>
          <a:bodyPr wrap="square" lIns="36576" rIns="36576" tIns="18288" bIns="18288" anchor="t">
            <a:spAutoFit/>
          </a:bodyPr>
          <a:lstStyle/>
          <a:p>
            <a:r>
              <a:rPr b="0" sz="1050" i="0">
                <a:solidFill>
                  <a:srgbClr val="93A8C7"/>
                </a:solidFill>
                <a:latin typeface="Calibri"/>
              </a:rPr>
              <a:t>mean PSNR (min 35.5)</a:t>
            </a:r>
          </a:p>
        </p:txBody>
      </p:sp>
      <p:sp>
        <p:nvSpPr>
          <p:cNvPr id="11" name="Rounded Rectangle 10"/>
          <p:cNvSpPr/>
          <p:nvPr/>
        </p:nvSpPr>
        <p:spPr>
          <a:xfrm>
            <a:off x="502920" y="3017520"/>
            <a:ext cx="2103120" cy="109728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08960"/>
            <a:ext cx="1828799" cy="603504"/>
          </a:xfrm>
          <a:prstGeom prst="rect">
            <a:avLst/>
          </a:prstGeom>
          <a:noFill/>
        </p:spPr>
        <p:txBody>
          <a:bodyPr wrap="square" lIns="36576" rIns="36576" tIns="18288" bIns="18288" anchor="ctr">
            <a:spAutoFit/>
          </a:bodyPr>
          <a:lstStyle/>
          <a:p>
            <a:r>
              <a:rPr b="1" sz="2800" i="0">
                <a:solidFill>
                  <a:srgbClr val="17B8B0"/>
                </a:solidFill>
                <a:latin typeface="Calibri"/>
              </a:rPr>
              <a:t>0.992</a:t>
            </a:r>
          </a:p>
        </p:txBody>
      </p:sp>
      <p:sp>
        <p:nvSpPr>
          <p:cNvPr id="13" name="TextBox 12"/>
          <p:cNvSpPr txBox="1"/>
          <p:nvPr/>
        </p:nvSpPr>
        <p:spPr>
          <a:xfrm>
            <a:off x="640080" y="3653942"/>
            <a:ext cx="1828799" cy="438912"/>
          </a:xfrm>
          <a:prstGeom prst="rect">
            <a:avLst/>
          </a:prstGeom>
          <a:noFill/>
        </p:spPr>
        <p:txBody>
          <a:bodyPr wrap="square" lIns="36576" rIns="36576" tIns="18288" bIns="18288" anchor="t">
            <a:spAutoFit/>
          </a:bodyPr>
          <a:lstStyle/>
          <a:p>
            <a:r>
              <a:rPr b="0" sz="1050" i="0">
                <a:solidFill>
                  <a:srgbClr val="93A8C7"/>
                </a:solidFill>
                <a:latin typeface="Calibri"/>
              </a:rPr>
              <a:t>mean SSIM · 3 images &lt; 0.98</a:t>
            </a:r>
          </a:p>
        </p:txBody>
      </p:sp>
      <p:sp>
        <p:nvSpPr>
          <p:cNvPr id="14" name="Rounded Rectangle 13"/>
          <p:cNvSpPr/>
          <p:nvPr/>
        </p:nvSpPr>
        <p:spPr>
          <a:xfrm>
            <a:off x="502920" y="4251960"/>
            <a:ext cx="2103120" cy="109728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343400"/>
            <a:ext cx="1828799" cy="603504"/>
          </a:xfrm>
          <a:prstGeom prst="rect">
            <a:avLst/>
          </a:prstGeom>
          <a:noFill/>
        </p:spPr>
        <p:txBody>
          <a:bodyPr wrap="square" lIns="36576" rIns="36576" tIns="18288" bIns="18288" anchor="ctr">
            <a:spAutoFit/>
          </a:bodyPr>
          <a:lstStyle/>
          <a:p>
            <a:r>
              <a:rPr b="1" sz="2800" i="0">
                <a:solidFill>
                  <a:srgbClr val="17B8B0"/>
                </a:solidFill>
                <a:latin typeface="Calibri"/>
              </a:rPr>
              <a:t>0</a:t>
            </a:r>
          </a:p>
        </p:txBody>
      </p:sp>
      <p:sp>
        <p:nvSpPr>
          <p:cNvPr id="16" name="TextBox 15"/>
          <p:cNvSpPr txBox="1"/>
          <p:nvPr/>
        </p:nvSpPr>
        <p:spPr>
          <a:xfrm>
            <a:off x="640080" y="4888382"/>
            <a:ext cx="1828799" cy="438912"/>
          </a:xfrm>
          <a:prstGeom prst="rect">
            <a:avLst/>
          </a:prstGeom>
          <a:noFill/>
        </p:spPr>
        <p:txBody>
          <a:bodyPr wrap="square" lIns="36576" rIns="36576" tIns="18288" bIns="18288" anchor="t">
            <a:spAutoFit/>
          </a:bodyPr>
          <a:lstStyle/>
          <a:p>
            <a:r>
              <a:rPr b="0" sz="1050" i="0">
                <a:solidFill>
                  <a:srgbClr val="93A8C7"/>
                </a:solidFill>
                <a:latin typeface="Calibri"/>
              </a:rPr>
              <a:t>images below 30 dB</a:t>
            </a:r>
          </a:p>
        </p:txBody>
      </p:sp>
      <p:pic>
        <p:nvPicPr>
          <p:cNvPr id="17" name="Picture 16" descr="fig_imperceptibility_hist.png"/>
          <p:cNvPicPr>
            <a:picLocks noChangeAspect="1"/>
          </p:cNvPicPr>
          <p:nvPr/>
        </p:nvPicPr>
        <p:blipFill>
          <a:blip r:embed="rId3"/>
          <a:stretch>
            <a:fillRect/>
          </a:stretch>
        </p:blipFill>
        <p:spPr>
          <a:xfrm>
            <a:off x="2788920" y="1813414"/>
            <a:ext cx="4846320" cy="1859571"/>
          </a:xfrm>
          <a:prstGeom prst="rect">
            <a:avLst/>
          </a:prstGeom>
        </p:spPr>
      </p:pic>
      <p:pic>
        <p:nvPicPr>
          <p:cNvPr id="18" name="Picture 17" descr="fig_representative_comparison.png"/>
          <p:cNvPicPr>
            <a:picLocks noChangeAspect="1"/>
          </p:cNvPicPr>
          <p:nvPr/>
        </p:nvPicPr>
        <p:blipFill>
          <a:blip r:embed="rId4"/>
          <a:stretch>
            <a:fillRect/>
          </a:stretch>
        </p:blipFill>
        <p:spPr>
          <a:xfrm>
            <a:off x="8700160" y="1691640"/>
            <a:ext cx="2167839" cy="4480560"/>
          </a:xfrm>
          <a:prstGeom prst="rect">
            <a:avLst/>
          </a:prstGeom>
        </p:spPr>
      </p:pic>
      <p:sp>
        <p:nvSpPr>
          <p:cNvPr id="19" name="TextBox 18"/>
          <p:cNvSpPr txBox="1"/>
          <p:nvPr/>
        </p:nvSpPr>
        <p:spPr>
          <a:xfrm>
            <a:off x="2788920" y="3886200"/>
            <a:ext cx="4937760" cy="2194560"/>
          </a:xfrm>
          <a:prstGeom prst="rect">
            <a:avLst/>
          </a:prstGeom>
          <a:noFill/>
        </p:spPr>
        <p:txBody>
          <a:bodyPr wrap="square" lIns="36576" rIns="36576">
            <a:spAutoFit/>
          </a:bodyPr>
          <a:lstStyle/>
          <a:p>
            <a:pPr>
              <a:spcAft>
                <a:spcPts val="400"/>
              </a:spcAft>
            </a:pPr>
            <a:r>
              <a:rPr sz="1150">
                <a:solidFill>
                  <a:srgbClr val="17B8B0"/>
                </a:solidFill>
                <a:latin typeface="Calibri"/>
              </a:rPr>
              <a:t>▪  </a:t>
            </a:r>
            <a:r>
              <a:rPr sz="1150">
                <a:solidFill>
                  <a:srgbClr val="1A2233"/>
                </a:solidFill>
                <a:latin typeface="Calibri"/>
              </a:rPr>
              <a:t>PSNR ≈ 35.6 dB for </a:t>
            </a:r>
            <a:r>
              <a:rPr b="1" sz="1150">
                <a:solidFill>
                  <a:srgbClr val="1A2233"/>
                </a:solidFill>
                <a:latin typeface="Calibri"/>
              </a:rPr>
              <a:t>82 of 100</a:t>
            </a:r>
            <a:r>
              <a:rPr sz="1150">
                <a:solidFill>
                  <a:srgbClr val="1A2233"/>
                </a:solidFill>
                <a:latin typeface="Calibri"/>
              </a:rPr>
              <a:t> images — set by the logo, not the host</a:t>
            </a:r>
          </a:p>
          <a:p>
            <a:pPr>
              <a:spcAft>
                <a:spcPts val="400"/>
              </a:spcAft>
            </a:pPr>
            <a:r>
              <a:rPr sz="1150">
                <a:solidFill>
                  <a:srgbClr val="17B8B0"/>
                </a:solidFill>
                <a:latin typeface="Calibri"/>
              </a:rPr>
              <a:t>▪  </a:t>
            </a:r>
            <a:r>
              <a:rPr b="1" sz="1150">
                <a:solidFill>
                  <a:srgbClr val="1A2233"/>
                </a:solidFill>
                <a:latin typeface="Calibri"/>
              </a:rPr>
              <a:t>Near-black sky</a:t>
            </a:r>
            <a:r>
              <a:rPr sz="1150">
                <a:solidFill>
                  <a:srgbClr val="1A2233"/>
                </a:solidFill>
                <a:latin typeface="Calibri"/>
              </a:rPr>
              <a:t> (</a:t>
            </a:r>
            <a:r>
              <a:rPr sz="1050">
                <a:solidFill>
                  <a:srgbClr val="0E8F89"/>
                </a:solidFill>
                <a:latin typeface="Consolas"/>
              </a:rPr>
              <a:t>image_055</a:t>
            </a:r>
            <a:r>
              <a:rPr sz="1150">
                <a:solidFill>
                  <a:srgbClr val="1A2233"/>
                </a:solidFill>
                <a:latin typeface="Calibri"/>
              </a:rPr>
              <a:t>): PSNR 35.9 dB but </a:t>
            </a:r>
            <a:r>
              <a:rPr b="1" sz="1150">
                <a:solidFill>
                  <a:srgbClr val="1A2233"/>
                </a:solidFill>
                <a:latin typeface="Calibri"/>
              </a:rPr>
              <a:t>SSIM 0.58</a:t>
            </a:r>
            <a:r>
              <a:rPr sz="1150">
                <a:solidFill>
                  <a:srgbClr val="1A2233"/>
                </a:solidFill>
                <a:latin typeface="Calibri"/>
              </a:rPr>
              <a:t> — clipping dominates</a:t>
            </a:r>
          </a:p>
          <a:p>
            <a:pPr>
              <a:spcAft>
                <a:spcPts val="400"/>
              </a:spcAft>
            </a:pPr>
            <a:r>
              <a:rPr sz="1150">
                <a:solidFill>
                  <a:srgbClr val="17B8B0"/>
                </a:solidFill>
                <a:latin typeface="Calibri"/>
              </a:rPr>
              <a:t>▪  </a:t>
            </a:r>
            <a:r>
              <a:rPr sz="1150">
                <a:solidFill>
                  <a:srgbClr val="1A2233"/>
                </a:solidFill>
                <a:latin typeface="Calibri"/>
              </a:rPr>
              <a:t>Checkerboard: SSIM 0.86; synthetic images reach 43.8 dB</a:t>
            </a:r>
          </a:p>
        </p:txBody>
      </p:sp>
      <p:sp>
        <p:nvSpPr>
          <p:cNvPr id="20" name="TextBox 19"/>
          <p:cNvSpPr txBox="1"/>
          <p:nvPr/>
        </p:nvSpPr>
        <p:spPr>
          <a:xfrm>
            <a:off x="502920" y="6199632"/>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Right: original · watermarked · |difference|×10 for typical images and two failure cases (E1, 100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12</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ROBUSTNESS UNDER ATTACK</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85.1 % of trials recovered — strong for compression and filtering, weak for cropping and equalisation</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12</a:t>
            </a:r>
          </a:p>
        </p:txBody>
      </p:sp>
      <p:pic>
        <p:nvPicPr>
          <p:cNvPr id="8" name="Picture 7" descr="fig_nc_boxplot.png"/>
          <p:cNvPicPr>
            <a:picLocks noChangeAspect="1"/>
          </p:cNvPicPr>
          <p:nvPr/>
        </p:nvPicPr>
        <p:blipFill>
          <a:blip r:embed="rId3"/>
          <a:stretch>
            <a:fillRect/>
          </a:stretch>
        </p:blipFill>
        <p:spPr>
          <a:xfrm>
            <a:off x="785447" y="1691640"/>
            <a:ext cx="6201505" cy="4434840"/>
          </a:xfrm>
          <a:prstGeom prst="rect">
            <a:avLst/>
          </a:prstGeom>
        </p:spPr>
      </p:pic>
      <p:graphicFrame>
        <p:nvGraphicFramePr>
          <p:cNvPr id="9" name="Table 8"/>
          <p:cNvGraphicFramePr>
            <a:graphicFrameLocks noGrp="1"/>
          </p:cNvGraphicFramePr>
          <p:nvPr/>
        </p:nvGraphicFramePr>
        <p:xfrm>
          <a:off x="7498079" y="1783080"/>
          <a:ext cx="4187950" cy="3072384"/>
        </p:xfrm>
        <a:graphic>
          <a:graphicData uri="http://schemas.openxmlformats.org/drawingml/2006/table">
            <a:tbl>
              <a:tblPr firstRow="1" bandRow="1">
                <a:tableStyleId>{5C22544A-7EE6-4342-B048-85BDC9FD1C3A}</a:tableStyleId>
              </a:tblPr>
              <a:tblGrid>
                <a:gridCol w="2002933"/>
                <a:gridCol w="1001466"/>
                <a:gridCol w="1183551"/>
              </a:tblGrid>
              <a:tr h="384048">
                <a:tc>
                  <a:txBody>
                    <a:bodyPr wrap="square"/>
                    <a:lstStyle/>
                    <a:p>
                      <a:r>
                        <a:rPr sz="1100" b="1">
                          <a:solidFill>
                            <a:srgbClr val="FFFFFF"/>
                          </a:solidFill>
                          <a:latin typeface="Calibri"/>
                        </a:rPr>
                        <a:t>Attack</a:t>
                      </a:r>
                    </a:p>
                  </a:txBody>
                  <a:tcPr marL="54864" marR="54864" marT="22860" marB="22860" anchor="ctr">
                    <a:solidFill>
                      <a:srgbClr val="132347"/>
                    </a:solidFill>
                  </a:tcPr>
                </a:tc>
                <a:tc>
                  <a:txBody>
                    <a:bodyPr wrap="square"/>
                    <a:lstStyle/>
                    <a:p>
                      <a:r>
                        <a:rPr sz="1100" b="1">
                          <a:solidFill>
                            <a:srgbClr val="FFFFFF"/>
                          </a:solidFill>
                          <a:latin typeface="Calibri"/>
                        </a:rPr>
                        <a:t>mean NC</a:t>
                      </a:r>
                    </a:p>
                  </a:txBody>
                  <a:tcPr marL="54864" marR="54864" marT="22860" marB="22860" anchor="ctr">
                    <a:solidFill>
                      <a:srgbClr val="132347"/>
                    </a:solidFill>
                  </a:tcPr>
                </a:tc>
                <a:tc>
                  <a:txBody>
                    <a:bodyPr wrap="square"/>
                    <a:lstStyle/>
                    <a:p>
                      <a:r>
                        <a:rPr sz="1100" b="1">
                          <a:solidFill>
                            <a:srgbClr val="FFFFFF"/>
                          </a:solidFill>
                          <a:latin typeface="Calibri"/>
                        </a:rPr>
                        <a:t>NC ≥ 0.75</a:t>
                      </a:r>
                    </a:p>
                  </a:txBody>
                  <a:tcPr marL="54864" marR="54864" marT="22860" marB="22860" anchor="ctr">
                    <a:solidFill>
                      <a:srgbClr val="132347"/>
                    </a:solidFill>
                  </a:tcPr>
                </a:tc>
              </a:tr>
              <a:tr h="384048">
                <a:tc>
                  <a:txBody>
                    <a:bodyPr wrap="square"/>
                    <a:lstStyle/>
                    <a:p>
                      <a:r>
                        <a:rPr sz="1100">
                          <a:solidFill>
                            <a:srgbClr val="1A2233"/>
                          </a:solidFill>
                          <a:latin typeface="Calibri"/>
                        </a:rPr>
                        <a:t>JPEG Q=50</a:t>
                      </a:r>
                    </a:p>
                  </a:txBody>
                  <a:tcPr marL="54864" marR="54864" marT="22860" marB="22860" anchor="ctr">
                    <a:solidFill>
                      <a:srgbClr val="FFFFFF"/>
                    </a:solidFill>
                  </a:tcPr>
                </a:tc>
                <a:tc>
                  <a:txBody>
                    <a:bodyPr wrap="square"/>
                    <a:lstStyle/>
                    <a:p>
                      <a:r>
                        <a:rPr sz="1100">
                          <a:solidFill>
                            <a:srgbClr val="1A2233"/>
                          </a:solidFill>
                          <a:latin typeface="Calibri"/>
                        </a:rPr>
                        <a:t>0.975</a:t>
                      </a:r>
                    </a:p>
                  </a:txBody>
                  <a:tcPr marL="54864" marR="54864" marT="22860" marB="22860" anchor="ctr">
                    <a:solidFill>
                      <a:srgbClr val="FFFFFF"/>
                    </a:solidFill>
                  </a:tcPr>
                </a:tc>
                <a:tc>
                  <a:txBody>
                    <a:bodyPr wrap="square"/>
                    <a:lstStyle/>
                    <a:p>
                      <a:r>
                        <a:rPr sz="1100">
                          <a:solidFill>
                            <a:srgbClr val="1A2233"/>
                          </a:solidFill>
                          <a:latin typeface="Calibri"/>
                        </a:rPr>
                        <a:t>100 %</a:t>
                      </a:r>
                    </a:p>
                  </a:txBody>
                  <a:tcPr marL="54864" marR="54864" marT="22860" marB="22860" anchor="ctr">
                    <a:solidFill>
                      <a:srgbClr val="FFFFFF"/>
                    </a:solidFill>
                  </a:tcPr>
                </a:tc>
              </a:tr>
              <a:tr h="384048">
                <a:tc>
                  <a:txBody>
                    <a:bodyPr wrap="square"/>
                    <a:lstStyle/>
                    <a:p>
                      <a:r>
                        <a:rPr sz="1100">
                          <a:solidFill>
                            <a:srgbClr val="1A2233"/>
                          </a:solidFill>
                          <a:latin typeface="Calibri"/>
                        </a:rPr>
                        <a:t>Median 3×3</a:t>
                      </a:r>
                    </a:p>
                  </a:txBody>
                  <a:tcPr marL="54864" marR="54864" marT="22860" marB="22860" anchor="ctr">
                    <a:solidFill>
                      <a:srgbClr val="F3F5F9"/>
                    </a:solidFill>
                  </a:tcPr>
                </a:tc>
                <a:tc>
                  <a:txBody>
                    <a:bodyPr wrap="square"/>
                    <a:lstStyle/>
                    <a:p>
                      <a:r>
                        <a:rPr sz="1100">
                          <a:solidFill>
                            <a:srgbClr val="1A2233"/>
                          </a:solidFill>
                          <a:latin typeface="Calibri"/>
                        </a:rPr>
                        <a:t>0.967</a:t>
                      </a:r>
                    </a:p>
                  </a:txBody>
                  <a:tcPr marL="54864" marR="54864" marT="22860" marB="22860" anchor="ctr">
                    <a:solidFill>
                      <a:srgbClr val="F3F5F9"/>
                    </a:solidFill>
                  </a:tcPr>
                </a:tc>
                <a:tc>
                  <a:txBody>
                    <a:bodyPr wrap="square"/>
                    <a:lstStyle/>
                    <a:p>
                      <a:r>
                        <a:rPr sz="1100">
                          <a:solidFill>
                            <a:srgbClr val="1A2233"/>
                          </a:solidFill>
                          <a:latin typeface="Calibri"/>
                        </a:rPr>
                        <a:t>100 %</a:t>
                      </a:r>
                    </a:p>
                  </a:txBody>
                  <a:tcPr marL="54864" marR="54864" marT="22860" marB="22860" anchor="ctr">
                    <a:solidFill>
                      <a:srgbClr val="F3F5F9"/>
                    </a:solidFill>
                  </a:tcPr>
                </a:tc>
              </a:tr>
              <a:tr h="384048">
                <a:tc>
                  <a:txBody>
                    <a:bodyPr wrap="square"/>
                    <a:lstStyle/>
                    <a:p>
                      <a:r>
                        <a:rPr sz="1100">
                          <a:solidFill>
                            <a:srgbClr val="1A2233"/>
                          </a:solidFill>
                          <a:latin typeface="Calibri"/>
                        </a:rPr>
                        <a:t>Scaling 0.5×</a:t>
                      </a:r>
                    </a:p>
                  </a:txBody>
                  <a:tcPr marL="54864" marR="54864" marT="22860" marB="22860" anchor="ctr">
                    <a:solidFill>
                      <a:srgbClr val="FFFFFF"/>
                    </a:solidFill>
                  </a:tcPr>
                </a:tc>
                <a:tc>
                  <a:txBody>
                    <a:bodyPr wrap="square"/>
                    <a:lstStyle/>
                    <a:p>
                      <a:r>
                        <a:rPr sz="1100">
                          <a:solidFill>
                            <a:srgbClr val="1A2233"/>
                          </a:solidFill>
                          <a:latin typeface="Calibri"/>
                        </a:rPr>
                        <a:t>0.938</a:t>
                      </a:r>
                    </a:p>
                  </a:txBody>
                  <a:tcPr marL="54864" marR="54864" marT="22860" marB="22860" anchor="ctr">
                    <a:solidFill>
                      <a:srgbClr val="FFFFFF"/>
                    </a:solidFill>
                  </a:tcPr>
                </a:tc>
                <a:tc>
                  <a:txBody>
                    <a:bodyPr wrap="square"/>
                    <a:lstStyle/>
                    <a:p>
                      <a:r>
                        <a:rPr sz="1100">
                          <a:solidFill>
                            <a:srgbClr val="1A2233"/>
                          </a:solidFill>
                          <a:latin typeface="Calibri"/>
                        </a:rPr>
                        <a:t>98 %</a:t>
                      </a:r>
                    </a:p>
                  </a:txBody>
                  <a:tcPr marL="54864" marR="54864" marT="22860" marB="22860" anchor="ctr">
                    <a:solidFill>
                      <a:srgbClr val="FFFFFF"/>
                    </a:solidFill>
                  </a:tcPr>
                </a:tc>
              </a:tr>
              <a:tr h="384048">
                <a:tc>
                  <a:txBody>
                    <a:bodyPr wrap="square"/>
                    <a:lstStyle/>
                    <a:p>
                      <a:r>
                        <a:rPr sz="1100">
                          <a:solidFill>
                            <a:srgbClr val="1A2233"/>
                          </a:solidFill>
                          <a:latin typeface="Calibri"/>
                        </a:rPr>
                        <a:t>Noise σ²=0.02</a:t>
                      </a:r>
                    </a:p>
                  </a:txBody>
                  <a:tcPr marL="54864" marR="54864" marT="22860" marB="22860" anchor="ctr">
                    <a:solidFill>
                      <a:srgbClr val="F3F5F9"/>
                    </a:solidFill>
                  </a:tcPr>
                </a:tc>
                <a:tc>
                  <a:txBody>
                    <a:bodyPr wrap="square"/>
                    <a:lstStyle/>
                    <a:p>
                      <a:r>
                        <a:rPr sz="1100">
                          <a:solidFill>
                            <a:srgbClr val="1A2233"/>
                          </a:solidFill>
                          <a:latin typeface="Calibri"/>
                        </a:rPr>
                        <a:t>0.806</a:t>
                      </a:r>
                    </a:p>
                  </a:txBody>
                  <a:tcPr marL="54864" marR="54864" marT="22860" marB="22860" anchor="ctr">
                    <a:solidFill>
                      <a:srgbClr val="F3F5F9"/>
                    </a:solidFill>
                  </a:tcPr>
                </a:tc>
                <a:tc>
                  <a:txBody>
                    <a:bodyPr wrap="square"/>
                    <a:lstStyle/>
                    <a:p>
                      <a:r>
                        <a:rPr sz="1100">
                          <a:solidFill>
                            <a:srgbClr val="1A2233"/>
                          </a:solidFill>
                          <a:latin typeface="Calibri"/>
                        </a:rPr>
                        <a:t>86 %</a:t>
                      </a:r>
                    </a:p>
                  </a:txBody>
                  <a:tcPr marL="54864" marR="54864" marT="22860" marB="22860" anchor="ctr">
                    <a:solidFill>
                      <a:srgbClr val="F3F5F9"/>
                    </a:solidFill>
                  </a:tcPr>
                </a:tc>
              </a:tr>
              <a:tr h="384048">
                <a:tc>
                  <a:txBody>
                    <a:bodyPr wrap="square"/>
                    <a:lstStyle/>
                    <a:p>
                      <a:r>
                        <a:rPr sz="1100">
                          <a:solidFill>
                            <a:srgbClr val="1A2233"/>
                          </a:solidFill>
                          <a:latin typeface="Calibri"/>
                        </a:rPr>
                        <a:t>Rotation 15°</a:t>
                      </a:r>
                    </a:p>
                  </a:txBody>
                  <a:tcPr marL="54864" marR="54864" marT="22860" marB="22860" anchor="ctr">
                    <a:solidFill>
                      <a:srgbClr val="FFFFFF"/>
                    </a:solidFill>
                  </a:tcPr>
                </a:tc>
                <a:tc>
                  <a:txBody>
                    <a:bodyPr wrap="square"/>
                    <a:lstStyle/>
                    <a:p>
                      <a:r>
                        <a:rPr sz="1100">
                          <a:solidFill>
                            <a:srgbClr val="1A2233"/>
                          </a:solidFill>
                          <a:latin typeface="Calibri"/>
                        </a:rPr>
                        <a:t>0.776</a:t>
                      </a:r>
                    </a:p>
                  </a:txBody>
                  <a:tcPr marL="54864" marR="54864" marT="22860" marB="22860" anchor="ctr">
                    <a:solidFill>
                      <a:srgbClr val="FFFFFF"/>
                    </a:solidFill>
                  </a:tcPr>
                </a:tc>
                <a:tc>
                  <a:txBody>
                    <a:bodyPr wrap="square"/>
                    <a:lstStyle/>
                    <a:p>
                      <a:r>
                        <a:rPr sz="1100">
                          <a:solidFill>
                            <a:srgbClr val="1A2233"/>
                          </a:solidFill>
                          <a:latin typeface="Calibri"/>
                        </a:rPr>
                        <a:t>72 %</a:t>
                      </a:r>
                    </a:p>
                  </a:txBody>
                  <a:tcPr marL="54864" marR="54864" marT="22860" marB="22860" anchor="ctr">
                    <a:solidFill>
                      <a:srgbClr val="FFFFFF"/>
                    </a:solidFill>
                  </a:tcPr>
                </a:tc>
              </a:tr>
              <a:tr h="384048">
                <a:tc>
                  <a:txBody>
                    <a:bodyPr wrap="square"/>
                    <a:lstStyle/>
                    <a:p>
                      <a:r>
                        <a:rPr sz="1100">
                          <a:solidFill>
                            <a:srgbClr val="1A2233"/>
                          </a:solidFill>
                          <a:latin typeface="Calibri"/>
                        </a:rPr>
                        <a:t>Hist. equalisation</a:t>
                      </a:r>
                    </a:p>
                  </a:txBody>
                  <a:tcPr marL="54864" marR="54864" marT="22860" marB="22860" anchor="ctr">
                    <a:solidFill>
                      <a:srgbClr val="F3F5F9"/>
                    </a:solidFill>
                  </a:tcPr>
                </a:tc>
                <a:tc>
                  <a:txBody>
                    <a:bodyPr wrap="square"/>
                    <a:lstStyle/>
                    <a:p>
                      <a:r>
                        <a:rPr sz="1100">
                          <a:solidFill>
                            <a:srgbClr val="1A2233"/>
                          </a:solidFill>
                          <a:latin typeface="Calibri"/>
                        </a:rPr>
                        <a:t>0.644</a:t>
                      </a:r>
                    </a:p>
                  </a:txBody>
                  <a:tcPr marL="54864" marR="54864" marT="22860" marB="22860" anchor="ctr">
                    <a:solidFill>
                      <a:srgbClr val="F3F5F9"/>
                    </a:solidFill>
                  </a:tcPr>
                </a:tc>
                <a:tc>
                  <a:txBody>
                    <a:bodyPr wrap="square"/>
                    <a:lstStyle/>
                    <a:p>
                      <a:r>
                        <a:rPr sz="1100">
                          <a:solidFill>
                            <a:srgbClr val="1A2233"/>
                          </a:solidFill>
                          <a:latin typeface="Calibri"/>
                        </a:rPr>
                        <a:t>44 %</a:t>
                      </a:r>
                    </a:p>
                  </a:txBody>
                  <a:tcPr marL="54864" marR="54864" marT="22860" marB="22860" anchor="ctr">
                    <a:solidFill>
                      <a:srgbClr val="F3F5F9"/>
                    </a:solidFill>
                  </a:tcPr>
                </a:tc>
              </a:tr>
              <a:tr h="384048">
                <a:tc>
                  <a:txBody>
                    <a:bodyPr wrap="square"/>
                    <a:lstStyle/>
                    <a:p>
                      <a:r>
                        <a:rPr sz="1100">
                          <a:solidFill>
                            <a:srgbClr val="1A2233"/>
                          </a:solidFill>
                          <a:latin typeface="Calibri"/>
                        </a:rPr>
                        <a:t>Border cropping</a:t>
                      </a:r>
                    </a:p>
                  </a:txBody>
                  <a:tcPr marL="54864" marR="54864" marT="22860" marB="22860" anchor="ctr">
                    <a:solidFill>
                      <a:srgbClr val="FFFFFF"/>
                    </a:solidFill>
                  </a:tcPr>
                </a:tc>
                <a:tc>
                  <a:txBody>
                    <a:bodyPr wrap="square"/>
                    <a:lstStyle/>
                    <a:p>
                      <a:r>
                        <a:rPr sz="1100">
                          <a:solidFill>
                            <a:srgbClr val="1A2233"/>
                          </a:solidFill>
                          <a:latin typeface="Calibri"/>
                        </a:rPr>
                        <a:t>0.022</a:t>
                      </a:r>
                    </a:p>
                  </a:txBody>
                  <a:tcPr marL="54864" marR="54864" marT="22860" marB="22860" anchor="ctr">
                    <a:solidFill>
                      <a:srgbClr val="FFFFFF"/>
                    </a:solidFill>
                  </a:tcPr>
                </a:tc>
                <a:tc>
                  <a:txBody>
                    <a:bodyPr wrap="square"/>
                    <a:lstStyle/>
                    <a:p>
                      <a:r>
                        <a:rPr sz="1100">
                          <a:solidFill>
                            <a:srgbClr val="1A2233"/>
                          </a:solidFill>
                          <a:latin typeface="Calibri"/>
                        </a:rPr>
                        <a:t>1 %</a:t>
                      </a:r>
                    </a:p>
                  </a:txBody>
                  <a:tcPr marL="54864" marR="54864" marT="22860" marB="22860" anchor="ctr">
                    <a:solidFill>
                      <a:srgbClr val="FFFFFF"/>
                    </a:solidFill>
                  </a:tcPr>
                </a:tc>
              </a:tr>
            </a:tbl>
          </a:graphicData>
        </a:graphic>
      </p:graphicFrame>
      <p:sp>
        <p:nvSpPr>
          <p:cNvPr id="10" name="Rounded Rectangle 9"/>
          <p:cNvSpPr/>
          <p:nvPr/>
        </p:nvSpPr>
        <p:spPr>
          <a:xfrm>
            <a:off x="7498079" y="5029200"/>
            <a:ext cx="4187952" cy="1051560"/>
          </a:xfrm>
          <a:prstGeom prst="roundRect">
            <a:avLst>
              <a:gd name="adj" fmla="val 8000"/>
            </a:avLst>
          </a:prstGeom>
          <a:solidFill>
            <a:srgbClr val="E6F6F5"/>
          </a:solidFill>
          <a:ln w="9525">
            <a:solidFill>
              <a:srgbClr val="17B8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5056632"/>
            <a:ext cx="3931920" cy="1005840"/>
          </a:xfrm>
          <a:prstGeom prst="rect">
            <a:avLst/>
          </a:prstGeom>
          <a:noFill/>
        </p:spPr>
        <p:txBody>
          <a:bodyPr wrap="square" lIns="36576" rIns="36576" tIns="18288" bIns="18288" anchor="ctr">
            <a:spAutoFit/>
          </a:bodyPr>
          <a:lstStyle/>
          <a:p>
            <a:r>
              <a:rPr b="0" sz="1100" i="0">
                <a:solidFill>
                  <a:srgbClr val="132347"/>
                </a:solidFill>
                <a:latin typeface="Calibri"/>
              </a:rPr>
              <a:t>First submission: "rotation/scaling NC &gt; 0.93". At n = 100: scaling 0.938 ✓, </a:t>
            </a:r>
            <a:r>
              <a:rPr b="1" sz="1100" i="0">
                <a:solidFill>
                  <a:srgbClr val="132347"/>
                </a:solidFill>
                <a:latin typeface="Calibri"/>
              </a:rPr>
              <a:t>5° rotation 0.880 ✗</a:t>
            </a:r>
            <a:r>
              <a:rPr b="0" sz="1100" i="0">
                <a:solidFill>
                  <a:srgbClr val="132347"/>
                </a:solidFill>
                <a:latin typeface="Calibri"/>
              </a:rPr>
              <a:t>.</a:t>
            </a:r>
          </a:p>
        </p:txBody>
      </p:sp>
      <p:sp>
        <p:nvSpPr>
          <p:cNvPr id="12" name="TextBox 11"/>
          <p:cNvSpPr txBox="1"/>
          <p:nvPr/>
        </p:nvSpPr>
        <p:spPr>
          <a:xfrm>
            <a:off x="502920" y="6199632"/>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1500 trials = 100 images × 15 conditions (14 attacks + reference); attacks only: 1177/1400 = 84.1 %.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13</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WHICH IMAGES FAIL?</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Robustness depends on the image: higher-contrast images lose more under noise and rotation</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13</a:t>
            </a:r>
          </a:p>
        </p:txBody>
      </p:sp>
      <p:pic>
        <p:nvPicPr>
          <p:cNvPr id="8" name="Picture 7" descr="fig_nc_vs_contrast.png"/>
          <p:cNvPicPr>
            <a:picLocks noChangeAspect="1"/>
          </p:cNvPicPr>
          <p:nvPr/>
        </p:nvPicPr>
        <p:blipFill>
          <a:blip r:embed="rId3"/>
          <a:stretch>
            <a:fillRect/>
          </a:stretch>
        </p:blipFill>
        <p:spPr>
          <a:xfrm>
            <a:off x="502920" y="1865727"/>
            <a:ext cx="5852160" cy="1800664"/>
          </a:xfrm>
          <a:prstGeom prst="rect">
            <a:avLst/>
          </a:prstGeom>
        </p:spPr>
      </p:pic>
      <p:pic>
        <p:nvPicPr>
          <p:cNvPr id="9" name="Picture 8" descr="fig_category_heatmap.png"/>
          <p:cNvPicPr>
            <a:picLocks noChangeAspect="1"/>
          </p:cNvPicPr>
          <p:nvPr/>
        </p:nvPicPr>
        <p:blipFill>
          <a:blip r:embed="rId4"/>
          <a:stretch>
            <a:fillRect/>
          </a:stretch>
        </p:blipFill>
        <p:spPr>
          <a:xfrm>
            <a:off x="6583680" y="2054762"/>
            <a:ext cx="5120640" cy="3754315"/>
          </a:xfrm>
          <a:prstGeom prst="rect">
            <a:avLst/>
          </a:prstGeom>
        </p:spPr>
      </p:pic>
      <p:sp>
        <p:nvSpPr>
          <p:cNvPr id="10" name="TextBox 9"/>
          <p:cNvSpPr txBox="1"/>
          <p:nvPr/>
        </p:nvSpPr>
        <p:spPr>
          <a:xfrm>
            <a:off x="502920" y="3977639"/>
            <a:ext cx="5852160" cy="2194560"/>
          </a:xfrm>
          <a:prstGeom prst="rect">
            <a:avLst/>
          </a:prstGeom>
          <a:noFill/>
        </p:spPr>
        <p:txBody>
          <a:bodyPr wrap="square" lIns="36576" rIns="36576">
            <a:spAutoFit/>
          </a:bodyPr>
          <a:lstStyle/>
          <a:p>
            <a:pPr>
              <a:spcAft>
                <a:spcPts val="400"/>
              </a:spcAft>
            </a:pPr>
            <a:r>
              <a:rPr sz="1150">
                <a:solidFill>
                  <a:srgbClr val="17B8B0"/>
                </a:solidFill>
                <a:latin typeface="Calibri"/>
              </a:rPr>
              <a:t>▪  </a:t>
            </a:r>
            <a:r>
              <a:rPr sz="1150">
                <a:solidFill>
                  <a:srgbClr val="1A2233"/>
                </a:solidFill>
                <a:latin typeface="Calibri"/>
              </a:rPr>
              <a:t>Noise σ²=0.02: ρ(contrast) = </a:t>
            </a:r>
            <a:r>
              <a:rPr b="1" sz="1150">
                <a:solidFill>
                  <a:srgbClr val="1A2233"/>
                </a:solidFill>
                <a:latin typeface="Calibri"/>
              </a:rPr>
              <a:t>-0.65</a:t>
            </a:r>
            <a:r>
              <a:rPr sz="1150">
                <a:solidFill>
                  <a:srgbClr val="1A2233"/>
                </a:solidFill>
                <a:latin typeface="Calibri"/>
              </a:rPr>
              <a:t>; salt-and-pepper </a:t>
            </a:r>
            <a:r>
              <a:rPr b="1" sz="1150">
                <a:solidFill>
                  <a:srgbClr val="1A2233"/>
                </a:solidFill>
                <a:latin typeface="Calibri"/>
              </a:rPr>
              <a:t>-0.68</a:t>
            </a:r>
            <a:r>
              <a:rPr sz="1150">
                <a:solidFill>
                  <a:srgbClr val="1A2233"/>
                </a:solidFill>
                <a:latin typeface="Calibri"/>
              </a:rPr>
              <a:t>; 15° rotation </a:t>
            </a:r>
            <a:r>
              <a:rPr b="1" sz="1150">
                <a:solidFill>
                  <a:srgbClr val="1A2233"/>
                </a:solidFill>
                <a:latin typeface="Calibri"/>
              </a:rPr>
              <a:t>-0.55</a:t>
            </a:r>
          </a:p>
          <a:p>
            <a:pPr>
              <a:spcAft>
                <a:spcPts val="400"/>
              </a:spcAft>
            </a:pPr>
            <a:r>
              <a:rPr sz="1150">
                <a:solidFill>
                  <a:srgbClr val="17B8B0"/>
                </a:solidFill>
                <a:latin typeface="Calibri"/>
              </a:rPr>
              <a:t>▪  </a:t>
            </a:r>
            <a:r>
              <a:rPr sz="1150">
                <a:solidFill>
                  <a:srgbClr val="1A2233"/>
                </a:solidFill>
                <a:latin typeface="Calibri"/>
              </a:rPr>
              <a:t>Hist. equalisation tracks mean brightness (ρ = -0.31), not contrast</a:t>
            </a:r>
          </a:p>
          <a:p>
            <a:pPr>
              <a:spcAft>
                <a:spcPts val="400"/>
              </a:spcAft>
            </a:pPr>
            <a:r>
              <a:rPr sz="1150">
                <a:solidFill>
                  <a:srgbClr val="17B8B0"/>
                </a:solidFill>
                <a:latin typeface="Calibri"/>
              </a:rPr>
              <a:t>▪  </a:t>
            </a:r>
            <a:r>
              <a:rPr sz="1150">
                <a:solidFill>
                  <a:srgbClr val="1A2233"/>
                </a:solidFill>
                <a:latin typeface="Calibri"/>
              </a:rPr>
              <a:t>Weakest categories: </a:t>
            </a:r>
            <a:r>
              <a:rPr b="1" sz="1150">
                <a:solidFill>
                  <a:srgbClr val="1A2233"/>
                </a:solidFill>
                <a:latin typeface="Calibri"/>
              </a:rPr>
              <a:t>document text</a:t>
            </a:r>
            <a:r>
              <a:rPr sz="1150">
                <a:solidFill>
                  <a:srgbClr val="1A2233"/>
                </a:solidFill>
                <a:latin typeface="Calibri"/>
              </a:rPr>
              <a:t> (noise 0.53) and </a:t>
            </a:r>
            <a:r>
              <a:rPr b="1" sz="1150">
                <a:solidFill>
                  <a:srgbClr val="1A2233"/>
                </a:solidFill>
                <a:latin typeface="Calibri"/>
              </a:rPr>
              <a:t>portraits</a:t>
            </a:r>
            <a:r>
              <a:rPr sz="1150">
                <a:solidFill>
                  <a:srgbClr val="1A2233"/>
                </a:solidFill>
                <a:latin typeface="Calibri"/>
              </a:rPr>
              <a:t> under equalisation (0.40)</a:t>
            </a:r>
          </a:p>
          <a:p>
            <a:pPr>
              <a:spcAft>
                <a:spcPts val="400"/>
              </a:spcAft>
            </a:pPr>
            <a:r>
              <a:rPr sz="1150">
                <a:solidFill>
                  <a:srgbClr val="17B8B0"/>
                </a:solidFill>
                <a:latin typeface="Calibri"/>
              </a:rPr>
              <a:t>▪  </a:t>
            </a:r>
            <a:r>
              <a:rPr sz="1150">
                <a:solidFill>
                  <a:srgbClr val="1A2233"/>
                </a:solidFill>
                <a:latin typeface="Calibri"/>
              </a:rPr>
              <a:t>n = 100, uncorrected p-values — associations, not causes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14</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EMBEDDING STRENGTH</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The α trade-off is real for noise and rotation — but flat for JPEG, so the earlier figure misled</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14</a:t>
            </a:r>
          </a:p>
        </p:txBody>
      </p:sp>
      <p:pic>
        <p:nvPicPr>
          <p:cNvPr id="8" name="Picture 7" descr="fig_alpha_tradeoff.png"/>
          <p:cNvPicPr>
            <a:picLocks noChangeAspect="1"/>
          </p:cNvPicPr>
          <p:nvPr/>
        </p:nvPicPr>
        <p:blipFill>
          <a:blip r:embed="rId3"/>
          <a:stretch>
            <a:fillRect/>
          </a:stretch>
        </p:blipFill>
        <p:spPr>
          <a:xfrm>
            <a:off x="562087" y="1737360"/>
            <a:ext cx="11037345" cy="3291840"/>
          </a:xfrm>
          <a:prstGeom prst="rect">
            <a:avLst/>
          </a:prstGeom>
        </p:spPr>
      </p:pic>
      <p:sp>
        <p:nvSpPr>
          <p:cNvPr id="9" name="Rounded Rectangle 8"/>
          <p:cNvSpPr/>
          <p:nvPr/>
        </p:nvSpPr>
        <p:spPr>
          <a:xfrm>
            <a:off x="502920" y="5166360"/>
            <a:ext cx="2651760" cy="96012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257800"/>
            <a:ext cx="2377440" cy="528066"/>
          </a:xfrm>
          <a:prstGeom prst="rect">
            <a:avLst/>
          </a:prstGeom>
          <a:noFill/>
        </p:spPr>
        <p:txBody>
          <a:bodyPr wrap="square" lIns="36576" rIns="36576" tIns="18288" bIns="18288" anchor="ctr">
            <a:spAutoFit/>
          </a:bodyPr>
          <a:lstStyle/>
          <a:p>
            <a:r>
              <a:rPr b="1" sz="2200" i="0">
                <a:solidFill>
                  <a:srgbClr val="17B8B0"/>
                </a:solidFill>
                <a:latin typeface="Calibri"/>
              </a:rPr>
              <a:t>9 % → 85 %</a:t>
            </a:r>
          </a:p>
        </p:txBody>
      </p:sp>
      <p:sp>
        <p:nvSpPr>
          <p:cNvPr id="11" name="TextBox 10"/>
          <p:cNvSpPr txBox="1"/>
          <p:nvPr/>
        </p:nvSpPr>
        <p:spPr>
          <a:xfrm>
            <a:off x="640080" y="5723229"/>
            <a:ext cx="2377440" cy="384048"/>
          </a:xfrm>
          <a:prstGeom prst="rect">
            <a:avLst/>
          </a:prstGeom>
          <a:noFill/>
        </p:spPr>
        <p:txBody>
          <a:bodyPr wrap="square" lIns="36576" rIns="36576" tIns="18288" bIns="18288" anchor="t">
            <a:spAutoFit/>
          </a:bodyPr>
          <a:lstStyle/>
          <a:p>
            <a:r>
              <a:rPr b="0" sz="1050" i="0">
                <a:solidFill>
                  <a:srgbClr val="93A8C7"/>
                </a:solidFill>
                <a:latin typeface="Calibri"/>
              </a:rPr>
              <a:t>noise pass rate, α 0.02 → 0.10</a:t>
            </a:r>
          </a:p>
        </p:txBody>
      </p:sp>
      <p:sp>
        <p:nvSpPr>
          <p:cNvPr id="12" name="Rounded Rectangle 11"/>
          <p:cNvSpPr/>
          <p:nvPr/>
        </p:nvSpPr>
        <p:spPr>
          <a:xfrm>
            <a:off x="3291840" y="5166360"/>
            <a:ext cx="2651760" cy="96012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5257800"/>
            <a:ext cx="2377440" cy="528066"/>
          </a:xfrm>
          <a:prstGeom prst="rect">
            <a:avLst/>
          </a:prstGeom>
          <a:noFill/>
        </p:spPr>
        <p:txBody>
          <a:bodyPr wrap="square" lIns="36576" rIns="36576" tIns="18288" bIns="18288" anchor="ctr">
            <a:spAutoFit/>
          </a:bodyPr>
          <a:lstStyle/>
          <a:p>
            <a:r>
              <a:rPr b="1" sz="2200" i="0">
                <a:solidFill>
                  <a:srgbClr val="17B8B0"/>
                </a:solidFill>
                <a:latin typeface="Calibri"/>
              </a:rPr>
              <a:t>36.0 → 30.1 dB</a:t>
            </a:r>
          </a:p>
        </p:txBody>
      </p:sp>
      <p:sp>
        <p:nvSpPr>
          <p:cNvPr id="14" name="TextBox 13"/>
          <p:cNvSpPr txBox="1"/>
          <p:nvPr/>
        </p:nvSpPr>
        <p:spPr>
          <a:xfrm>
            <a:off x="3429000" y="5723229"/>
            <a:ext cx="2377440" cy="384048"/>
          </a:xfrm>
          <a:prstGeom prst="rect">
            <a:avLst/>
          </a:prstGeom>
          <a:noFill/>
        </p:spPr>
        <p:txBody>
          <a:bodyPr wrap="square" lIns="36576" rIns="36576" tIns="18288" bIns="18288" anchor="t">
            <a:spAutoFit/>
          </a:bodyPr>
          <a:lstStyle/>
          <a:p>
            <a:r>
              <a:rPr b="0" sz="1050" i="0">
                <a:solidFill>
                  <a:srgbClr val="93A8C7"/>
                </a:solidFill>
                <a:latin typeface="Calibri"/>
              </a:rPr>
              <a:t>PSNR, α 0.10 → 0.20</a:t>
            </a:r>
          </a:p>
        </p:txBody>
      </p:sp>
      <p:sp>
        <p:nvSpPr>
          <p:cNvPr id="15" name="Rounded Rectangle 14"/>
          <p:cNvSpPr/>
          <p:nvPr/>
        </p:nvSpPr>
        <p:spPr>
          <a:xfrm>
            <a:off x="6080760" y="5166360"/>
            <a:ext cx="2651760" cy="96012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5257800"/>
            <a:ext cx="2377440" cy="528066"/>
          </a:xfrm>
          <a:prstGeom prst="rect">
            <a:avLst/>
          </a:prstGeom>
          <a:noFill/>
        </p:spPr>
        <p:txBody>
          <a:bodyPr wrap="square" lIns="36576" rIns="36576" tIns="18288" bIns="18288" anchor="ctr">
            <a:spAutoFit/>
          </a:bodyPr>
          <a:lstStyle/>
          <a:p>
            <a:r>
              <a:rPr b="1" sz="2200" i="0">
                <a:solidFill>
                  <a:srgbClr val="17B8B0"/>
                </a:solidFill>
                <a:latin typeface="Calibri"/>
              </a:rPr>
              <a:t>0.96 → 0.97</a:t>
            </a:r>
          </a:p>
        </p:txBody>
      </p:sp>
      <p:sp>
        <p:nvSpPr>
          <p:cNvPr id="17" name="TextBox 16"/>
          <p:cNvSpPr txBox="1"/>
          <p:nvPr/>
        </p:nvSpPr>
        <p:spPr>
          <a:xfrm>
            <a:off x="6217920" y="5723229"/>
            <a:ext cx="2377440" cy="384048"/>
          </a:xfrm>
          <a:prstGeom prst="rect">
            <a:avLst/>
          </a:prstGeom>
          <a:noFill/>
        </p:spPr>
        <p:txBody>
          <a:bodyPr wrap="square" lIns="36576" rIns="36576" tIns="18288" bIns="18288" anchor="t">
            <a:spAutoFit/>
          </a:bodyPr>
          <a:lstStyle/>
          <a:p>
            <a:r>
              <a:rPr b="0" sz="1050" i="0">
                <a:solidFill>
                  <a:srgbClr val="93A8C7"/>
                </a:solidFill>
                <a:latin typeface="Calibri"/>
              </a:rPr>
              <a:t>mean NC after JPEG Q=50, α 0.02 → 0.40</a:t>
            </a:r>
          </a:p>
        </p:txBody>
      </p:sp>
      <p:sp>
        <p:nvSpPr>
          <p:cNvPr id="18" name="Rounded Rectangle 17"/>
          <p:cNvSpPr/>
          <p:nvPr/>
        </p:nvSpPr>
        <p:spPr>
          <a:xfrm>
            <a:off x="8869680" y="5166360"/>
            <a:ext cx="2816352" cy="960120"/>
          </a:xfrm>
          <a:prstGeom prst="roundRect">
            <a:avLst>
              <a:gd name="adj" fmla="val 8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79408" y="5193792"/>
            <a:ext cx="2606040" cy="914400"/>
          </a:xfrm>
          <a:prstGeom prst="rect">
            <a:avLst/>
          </a:prstGeom>
          <a:noFill/>
        </p:spPr>
        <p:txBody>
          <a:bodyPr wrap="square" lIns="36576" rIns="36576" tIns="18288" bIns="18288" anchor="ctr">
            <a:spAutoFit/>
          </a:bodyPr>
          <a:lstStyle/>
          <a:p>
            <a:r>
              <a:rPr b="0" sz="1050" i="0">
                <a:solidFill>
                  <a:srgbClr val="1A2233"/>
                </a:solidFill>
                <a:latin typeface="Calibri"/>
              </a:rPr>
              <a:t>Old figure: axis 0.93–0.99 + float truncation before JPEG → </a:t>
            </a:r>
            <a:r>
              <a:rPr b="1" sz="1050" i="0">
                <a:solidFill>
                  <a:srgbClr val="1A2233"/>
                </a:solidFill>
                <a:latin typeface="Calibri"/>
              </a:rPr>
              <a:t>artefact</a:t>
            </a:r>
            <a:r>
              <a:rPr b="0" sz="1050" i="0">
                <a:solidFill>
                  <a:srgbClr val="1A2233"/>
                </a:solidFill>
                <a:latin typeface="Calibri"/>
              </a:rPr>
              <a:t> (</a:t>
            </a:r>
            <a:r>
              <a:rPr b="0" sz="950">
                <a:solidFill>
                  <a:srgbClr val="0E8F89"/>
                </a:solidFill>
                <a:latin typeface="Consolas"/>
              </a:rPr>
              <a:t>exp_jpeg_truncation.py</a:t>
            </a:r>
            <a:r>
              <a:rPr b="0" sz="1050" i="0">
                <a:solidFill>
                  <a:srgbClr val="1A2233"/>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15</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FALSE-POSITIVE CONTROLS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A different logo decoded with the owner's key still scores NC 0.98 — NC does not prove ownership</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15</a:t>
            </a:r>
          </a:p>
        </p:txBody>
      </p:sp>
      <p:pic>
        <p:nvPicPr>
          <p:cNvPr id="8" name="Picture 7" descr="fig_false_positive.png"/>
          <p:cNvPicPr>
            <a:picLocks noChangeAspect="1"/>
          </p:cNvPicPr>
          <p:nvPr/>
        </p:nvPicPr>
        <p:blipFill>
          <a:blip r:embed="rId3"/>
          <a:stretch>
            <a:fillRect/>
          </a:stretch>
        </p:blipFill>
        <p:spPr>
          <a:xfrm>
            <a:off x="502920" y="1783080"/>
            <a:ext cx="5760720" cy="3017520"/>
          </a:xfrm>
          <a:prstGeom prst="rect">
            <a:avLst/>
          </a:prstGeom>
        </p:spPr>
      </p:pic>
      <p:pic>
        <p:nvPicPr>
          <p:cNvPr id="9" name="Picture 8" descr="fig_controls_hist.png"/>
          <p:cNvPicPr>
            <a:picLocks noChangeAspect="1"/>
          </p:cNvPicPr>
          <p:nvPr/>
        </p:nvPicPr>
        <p:blipFill>
          <a:blip r:embed="rId4"/>
          <a:stretch>
            <a:fillRect/>
          </a:stretch>
        </p:blipFill>
        <p:spPr>
          <a:xfrm>
            <a:off x="6355080" y="1857157"/>
            <a:ext cx="5349240" cy="2640764"/>
          </a:xfrm>
          <a:prstGeom prst="rect">
            <a:avLst/>
          </a:prstGeom>
        </p:spPr>
      </p:pic>
      <p:sp>
        <p:nvSpPr>
          <p:cNvPr id="10" name="Rounded Rectangle 9"/>
          <p:cNvSpPr/>
          <p:nvPr/>
        </p:nvSpPr>
        <p:spPr>
          <a:xfrm>
            <a:off x="502920" y="5029200"/>
            <a:ext cx="2697480"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120640"/>
            <a:ext cx="2423160" cy="578358"/>
          </a:xfrm>
          <a:prstGeom prst="rect">
            <a:avLst/>
          </a:prstGeom>
          <a:noFill/>
        </p:spPr>
        <p:txBody>
          <a:bodyPr wrap="square" lIns="36576" rIns="36576" tIns="18288" bIns="18288" anchor="ctr">
            <a:spAutoFit/>
          </a:bodyPr>
          <a:lstStyle/>
          <a:p>
            <a:r>
              <a:rPr b="1" sz="2600" i="0">
                <a:solidFill>
                  <a:srgbClr val="FF8A80"/>
                </a:solidFill>
                <a:latin typeface="Calibri"/>
              </a:rPr>
              <a:t>0.975</a:t>
            </a:r>
          </a:p>
        </p:txBody>
      </p:sp>
      <p:sp>
        <p:nvSpPr>
          <p:cNvPr id="12" name="TextBox 11"/>
          <p:cNvSpPr txBox="1"/>
          <p:nvPr/>
        </p:nvSpPr>
        <p:spPr>
          <a:xfrm>
            <a:off x="640080" y="5639104"/>
            <a:ext cx="2423160" cy="420623"/>
          </a:xfrm>
          <a:prstGeom prst="rect">
            <a:avLst/>
          </a:prstGeom>
          <a:noFill/>
        </p:spPr>
        <p:txBody>
          <a:bodyPr wrap="square" lIns="36576" rIns="36576" tIns="18288" bIns="18288" anchor="t">
            <a:spAutoFit/>
          </a:bodyPr>
          <a:lstStyle/>
          <a:p>
            <a:r>
              <a:rPr b="0" sz="1050" i="0">
                <a:solidFill>
                  <a:srgbClr val="93A8C7"/>
                </a:solidFill>
                <a:latin typeface="Calibri"/>
              </a:rPr>
              <a:t>wrong logo, owner's key (genuine 0.977)</a:t>
            </a:r>
          </a:p>
        </p:txBody>
      </p:sp>
      <p:sp>
        <p:nvSpPr>
          <p:cNvPr id="13" name="Rounded Rectangle 12"/>
          <p:cNvSpPr/>
          <p:nvPr/>
        </p:nvSpPr>
        <p:spPr>
          <a:xfrm>
            <a:off x="3337560" y="5029200"/>
            <a:ext cx="2697480"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5120640"/>
            <a:ext cx="2423160" cy="578358"/>
          </a:xfrm>
          <a:prstGeom prst="rect">
            <a:avLst/>
          </a:prstGeom>
          <a:noFill/>
        </p:spPr>
        <p:txBody>
          <a:bodyPr wrap="square" lIns="36576" rIns="36576" tIns="18288" bIns="18288" anchor="ctr">
            <a:spAutoFit/>
          </a:bodyPr>
          <a:lstStyle/>
          <a:p>
            <a:r>
              <a:rPr b="1" sz="2200" i="0">
                <a:solidFill>
                  <a:srgbClr val="17B8B0"/>
                </a:solidFill>
                <a:latin typeface="Calibri"/>
              </a:rPr>
              <a:t>9.8 % / 12.6 %</a:t>
            </a:r>
          </a:p>
        </p:txBody>
      </p:sp>
      <p:sp>
        <p:nvSpPr>
          <p:cNvPr id="15" name="TextBox 14"/>
          <p:cNvSpPr txBox="1"/>
          <p:nvPr/>
        </p:nvSpPr>
        <p:spPr>
          <a:xfrm>
            <a:off x="3474720" y="5639104"/>
            <a:ext cx="2423160" cy="420623"/>
          </a:xfrm>
          <a:prstGeom prst="rect">
            <a:avLst/>
          </a:prstGeom>
          <a:noFill/>
        </p:spPr>
        <p:txBody>
          <a:bodyPr wrap="square" lIns="36576" rIns="36576" tIns="18288" bIns="18288" anchor="t">
            <a:spAutoFit/>
          </a:bodyPr>
          <a:lstStyle/>
          <a:p>
            <a:r>
              <a:rPr b="0" sz="1050" i="0">
                <a:solidFill>
                  <a:srgbClr val="93A8C7"/>
                </a:solidFill>
                <a:latin typeface="Calibri"/>
              </a:rPr>
              <a:t>unrelated-image controls above NC 0.75</a:t>
            </a:r>
          </a:p>
        </p:txBody>
      </p:sp>
      <p:sp>
        <p:nvSpPr>
          <p:cNvPr id="16" name="Rounded Rectangle 15"/>
          <p:cNvSpPr/>
          <p:nvPr/>
        </p:nvSpPr>
        <p:spPr>
          <a:xfrm>
            <a:off x="6172200" y="5029200"/>
            <a:ext cx="2697480" cy="105156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5120640"/>
            <a:ext cx="2423160" cy="578358"/>
          </a:xfrm>
          <a:prstGeom prst="rect">
            <a:avLst/>
          </a:prstGeom>
          <a:noFill/>
        </p:spPr>
        <p:txBody>
          <a:bodyPr wrap="square" lIns="36576" rIns="36576" tIns="18288" bIns="18288" anchor="ctr">
            <a:spAutoFit/>
          </a:bodyPr>
          <a:lstStyle/>
          <a:p>
            <a:r>
              <a:rPr b="1" sz="2600" i="0">
                <a:solidFill>
                  <a:srgbClr val="17B8B0"/>
                </a:solidFill>
                <a:latin typeface="Calibri"/>
              </a:rPr>
              <a:t>0.82</a:t>
            </a:r>
          </a:p>
        </p:txBody>
      </p:sp>
      <p:sp>
        <p:nvSpPr>
          <p:cNvPr id="18" name="TextBox 17"/>
          <p:cNvSpPr txBox="1"/>
          <p:nvPr/>
        </p:nvSpPr>
        <p:spPr>
          <a:xfrm>
            <a:off x="6309360" y="5639104"/>
            <a:ext cx="2423160" cy="420623"/>
          </a:xfrm>
          <a:prstGeom prst="rect">
            <a:avLst/>
          </a:prstGeom>
          <a:noFill/>
        </p:spPr>
        <p:txBody>
          <a:bodyPr wrap="square" lIns="36576" rIns="36576" tIns="18288" bIns="18288" anchor="t">
            <a:spAutoFit/>
          </a:bodyPr>
          <a:lstStyle/>
          <a:p>
            <a:r>
              <a:rPr b="0" sz="1050" i="0">
                <a:solidFill>
                  <a:srgbClr val="93A8C7"/>
                </a:solidFill>
                <a:latin typeface="Calibri"/>
              </a:rPr>
              <a:t>95th percentile NC of unrelated images</a:t>
            </a:r>
          </a:p>
        </p:txBody>
      </p:sp>
      <p:sp>
        <p:nvSpPr>
          <p:cNvPr id="19" name="Rounded Rectangle 18"/>
          <p:cNvSpPr/>
          <p:nvPr/>
        </p:nvSpPr>
        <p:spPr>
          <a:xfrm>
            <a:off x="9006840" y="5029200"/>
            <a:ext cx="2679192" cy="1051560"/>
          </a:xfrm>
          <a:prstGeom prst="roundRect">
            <a:avLst>
              <a:gd name="adj" fmla="val 8000"/>
            </a:avLst>
          </a:prstGeom>
          <a:solidFill>
            <a:srgbClr val="E6F6F5"/>
          </a:solidFill>
          <a:ln w="9525">
            <a:solidFill>
              <a:srgbClr val="17B8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5047488"/>
            <a:ext cx="2468880" cy="1005840"/>
          </a:xfrm>
          <a:prstGeom prst="rect">
            <a:avLst/>
          </a:prstGeom>
          <a:noFill/>
        </p:spPr>
        <p:txBody>
          <a:bodyPr wrap="square" lIns="36576" rIns="36576" tIns="18288" bIns="18288" anchor="ctr">
            <a:spAutoFit/>
          </a:bodyPr>
          <a:lstStyle/>
          <a:p>
            <a:r>
              <a:rPr b="0" sz="1000" i="0">
                <a:solidFill>
                  <a:srgbClr val="132347"/>
                </a:solidFill>
                <a:latin typeface="Calibri"/>
              </a:rPr>
              <a:t>Needed: an </a:t>
            </a:r>
            <a:r>
              <a:rPr b="1" sz="1000" i="0">
                <a:solidFill>
                  <a:srgbClr val="132347"/>
                </a:solidFill>
                <a:latin typeface="Calibri"/>
              </a:rPr>
              <a:t>image-bound signature</a:t>
            </a:r>
            <a:r>
              <a:rPr b="0" sz="1000" i="0">
                <a:solidFill>
                  <a:srgbClr val="132347"/>
                </a:solidFill>
                <a:latin typeface="Calibri"/>
              </a:rPr>
              <a:t> — not implemented; the principal-component variant was </a:t>
            </a:r>
            <a:r>
              <a:rPr b="1" sz="1000" i="0">
                <a:solidFill>
                  <a:srgbClr val="132347"/>
                </a:solidFill>
                <a:latin typeface="Calibri"/>
              </a:rPr>
              <a:t>worse</a:t>
            </a:r>
            <a:r>
              <a:rPr b="0" sz="1000" i="0">
                <a:solidFill>
                  <a:srgbClr val="132347"/>
                </a:solidFill>
                <a:latin typeface="Calibri"/>
              </a:rPr>
              <a:t> (NC 0.98 on an unmarked image)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16</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RESULTS · FAILURE CASE ANALYSIS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Four failure modes — explained from the data, not hidden</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16</a:t>
            </a:r>
          </a:p>
        </p:txBody>
      </p:sp>
      <p:sp>
        <p:nvSpPr>
          <p:cNvPr id="8" name="Rounded Rectangle 7"/>
          <p:cNvSpPr/>
          <p:nvPr/>
        </p:nvSpPr>
        <p:spPr>
          <a:xfrm>
            <a:off x="502920" y="1783080"/>
            <a:ext cx="2697480" cy="356616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2423160" cy="320040"/>
          </a:xfrm>
          <a:prstGeom prst="rect">
            <a:avLst/>
          </a:prstGeom>
          <a:noFill/>
        </p:spPr>
        <p:txBody>
          <a:bodyPr wrap="square" lIns="36576" rIns="36576" tIns="18288" bIns="18288" anchor="t">
            <a:spAutoFit/>
          </a:bodyPr>
          <a:lstStyle/>
          <a:p>
            <a:r>
              <a:rPr b="1" sz="1250" i="0">
                <a:solidFill>
                  <a:srgbClr val="C1443C"/>
                </a:solidFill>
                <a:latin typeface="Calibri"/>
              </a:rPr>
              <a:t>Border cropping</a:t>
            </a:r>
          </a:p>
        </p:txBody>
      </p:sp>
      <p:sp>
        <p:nvSpPr>
          <p:cNvPr id="10" name="TextBox 9"/>
          <p:cNvSpPr txBox="1"/>
          <p:nvPr/>
        </p:nvSpPr>
        <p:spPr>
          <a:xfrm>
            <a:off x="612648" y="2240280"/>
            <a:ext cx="2468880" cy="3063239"/>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mean NC </a:t>
            </a:r>
            <a:r>
              <a:rPr b="1" sz="1250">
                <a:solidFill>
                  <a:srgbClr val="1A2233"/>
                </a:solidFill>
                <a:latin typeface="Calibri"/>
              </a:rPr>
              <a:t>0.022</a:t>
            </a:r>
            <a:r>
              <a:rPr sz="1250">
                <a:solidFill>
                  <a:srgbClr val="1A2233"/>
                </a:solidFill>
                <a:latin typeface="Calibri"/>
              </a:rPr>
              <a:t>, pass </a:t>
            </a:r>
            <a:r>
              <a:rPr b="1" sz="1250">
                <a:solidFill>
                  <a:srgbClr val="1A2233"/>
                </a:solidFill>
                <a:latin typeface="Calibri"/>
              </a:rPr>
              <a:t>1 %</a:t>
            </a:r>
          </a:p>
          <a:p>
            <a:pPr>
              <a:spcAft>
                <a:spcPts val="300"/>
              </a:spcAft>
            </a:pPr>
            <a:r>
              <a:rPr sz="1250">
                <a:solidFill>
                  <a:srgbClr val="17B8B0"/>
                </a:solidFill>
                <a:latin typeface="Calibri"/>
              </a:rPr>
              <a:t>▪  </a:t>
            </a:r>
            <a:r>
              <a:rPr sz="1250">
                <a:solidFill>
                  <a:srgbClr val="1A2233"/>
                </a:solidFill>
                <a:latin typeface="Calibri"/>
              </a:rPr>
              <a:t>43.75 % of the *area* zeroed (25 % per dimension)</a:t>
            </a:r>
          </a:p>
          <a:p>
            <a:pPr>
              <a:spcAft>
                <a:spcPts val="300"/>
              </a:spcAft>
            </a:pPr>
            <a:r>
              <a:rPr sz="1250">
                <a:solidFill>
                  <a:srgbClr val="17B8B0"/>
                </a:solidFill>
                <a:latin typeface="Calibri"/>
              </a:rPr>
              <a:t>▪  </a:t>
            </a:r>
            <a:r>
              <a:rPr sz="1250">
                <a:solidFill>
                  <a:srgbClr val="1A2233"/>
                </a:solidFill>
                <a:latin typeface="Calibri"/>
              </a:rPr>
              <a:t>all singular values change; logo extracts as black (BER 0.14 ≈ white fraction)</a:t>
            </a:r>
          </a:p>
        </p:txBody>
      </p:sp>
      <p:sp>
        <p:nvSpPr>
          <p:cNvPr id="11" name="Rounded Rectangle 10"/>
          <p:cNvSpPr/>
          <p:nvPr/>
        </p:nvSpPr>
        <p:spPr>
          <a:xfrm>
            <a:off x="3337560" y="1783080"/>
            <a:ext cx="2697480" cy="356616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74519"/>
            <a:ext cx="2423160" cy="320040"/>
          </a:xfrm>
          <a:prstGeom prst="rect">
            <a:avLst/>
          </a:prstGeom>
          <a:noFill/>
        </p:spPr>
        <p:txBody>
          <a:bodyPr wrap="square" lIns="36576" rIns="36576" tIns="18288" bIns="18288" anchor="t">
            <a:spAutoFit/>
          </a:bodyPr>
          <a:lstStyle/>
          <a:p>
            <a:r>
              <a:rPr b="1" sz="1250" i="0">
                <a:solidFill>
                  <a:srgbClr val="C1443C"/>
                </a:solidFill>
                <a:latin typeface="Calibri"/>
              </a:rPr>
              <a:t>Histogram equalisation</a:t>
            </a:r>
          </a:p>
        </p:txBody>
      </p:sp>
      <p:sp>
        <p:nvSpPr>
          <p:cNvPr id="13" name="TextBox 12"/>
          <p:cNvSpPr txBox="1"/>
          <p:nvPr/>
        </p:nvSpPr>
        <p:spPr>
          <a:xfrm>
            <a:off x="3447288" y="2240280"/>
            <a:ext cx="2468880" cy="3063239"/>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mean NC </a:t>
            </a:r>
            <a:r>
              <a:rPr b="1" sz="1250">
                <a:solidFill>
                  <a:srgbClr val="1A2233"/>
                </a:solidFill>
                <a:latin typeface="Calibri"/>
              </a:rPr>
              <a:t>0.644</a:t>
            </a:r>
            <a:r>
              <a:rPr sz="1250">
                <a:solidFill>
                  <a:srgbClr val="1A2233"/>
                </a:solidFill>
                <a:latin typeface="Calibri"/>
              </a:rPr>
              <a:t>, pass </a:t>
            </a:r>
            <a:r>
              <a:rPr b="1" sz="1250">
                <a:solidFill>
                  <a:srgbClr val="1A2233"/>
                </a:solidFill>
                <a:latin typeface="Calibri"/>
              </a:rPr>
              <a:t>44 %</a:t>
            </a:r>
          </a:p>
          <a:p>
            <a:pPr>
              <a:spcAft>
                <a:spcPts val="300"/>
              </a:spcAft>
            </a:pPr>
            <a:r>
              <a:rPr sz="1250">
                <a:solidFill>
                  <a:srgbClr val="17B8B0"/>
                </a:solidFill>
                <a:latin typeface="Calibri"/>
              </a:rPr>
              <a:t>▪  </a:t>
            </a:r>
            <a:r>
              <a:rPr sz="1250">
                <a:solidFill>
                  <a:srgbClr val="1A2233"/>
                </a:solidFill>
                <a:latin typeface="Calibri"/>
              </a:rPr>
              <a:t>remaps the whole intensity distribution</a:t>
            </a:r>
          </a:p>
          <a:p>
            <a:pPr>
              <a:spcAft>
                <a:spcPts val="300"/>
              </a:spcAft>
            </a:pPr>
            <a:r>
              <a:rPr sz="1250">
                <a:solidFill>
                  <a:srgbClr val="17B8B0"/>
                </a:solidFill>
                <a:latin typeface="Calibri"/>
              </a:rPr>
              <a:t>▪  </a:t>
            </a:r>
            <a:r>
              <a:rPr sz="1250">
                <a:solidFill>
                  <a:srgbClr val="1A2233"/>
                </a:solidFill>
                <a:latin typeface="Calibri"/>
              </a:rPr>
              <a:t>varies by image (first report: 0.10 vs 0.66)</a:t>
            </a:r>
          </a:p>
          <a:p>
            <a:pPr>
              <a:spcAft>
                <a:spcPts val="300"/>
              </a:spcAft>
            </a:pPr>
            <a:r>
              <a:rPr sz="1250">
                <a:solidFill>
                  <a:srgbClr val="17B8B0"/>
                </a:solidFill>
                <a:latin typeface="Calibri"/>
              </a:rPr>
              <a:t>▪  </a:t>
            </a:r>
            <a:r>
              <a:rPr sz="1250">
                <a:solidFill>
                  <a:srgbClr val="1A2233"/>
                </a:solidFill>
                <a:latin typeface="Calibri"/>
              </a:rPr>
              <a:t>tracks mean brightness (ρ −0.31)</a:t>
            </a:r>
          </a:p>
        </p:txBody>
      </p:sp>
      <p:sp>
        <p:nvSpPr>
          <p:cNvPr id="14" name="Rounded Rectangle 13"/>
          <p:cNvSpPr/>
          <p:nvPr/>
        </p:nvSpPr>
        <p:spPr>
          <a:xfrm>
            <a:off x="6172200" y="1783080"/>
            <a:ext cx="2697480" cy="356616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423160" cy="320040"/>
          </a:xfrm>
          <a:prstGeom prst="rect">
            <a:avLst/>
          </a:prstGeom>
          <a:noFill/>
        </p:spPr>
        <p:txBody>
          <a:bodyPr wrap="square" lIns="36576" rIns="36576" tIns="18288" bIns="18288" anchor="t">
            <a:spAutoFit/>
          </a:bodyPr>
          <a:lstStyle/>
          <a:p>
            <a:r>
              <a:rPr b="1" sz="1250" i="0">
                <a:solidFill>
                  <a:srgbClr val="C1443C"/>
                </a:solidFill>
                <a:latin typeface="Calibri"/>
              </a:rPr>
              <a:t>Rotation &gt; 5°</a:t>
            </a:r>
          </a:p>
        </p:txBody>
      </p:sp>
      <p:sp>
        <p:nvSpPr>
          <p:cNvPr id="16" name="TextBox 15"/>
          <p:cNvSpPr txBox="1"/>
          <p:nvPr/>
        </p:nvSpPr>
        <p:spPr>
          <a:xfrm>
            <a:off x="6281928" y="2240280"/>
            <a:ext cx="2468880" cy="3063239"/>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5°: </a:t>
            </a:r>
            <a:r>
              <a:rPr b="1" sz="1250">
                <a:solidFill>
                  <a:srgbClr val="1A2233"/>
                </a:solidFill>
                <a:latin typeface="Calibri"/>
              </a:rPr>
              <a:t>92 %</a:t>
            </a:r>
            <a:r>
              <a:rPr sz="1250">
                <a:solidFill>
                  <a:srgbClr val="1A2233"/>
                </a:solidFill>
                <a:latin typeface="Calibri"/>
              </a:rPr>
              <a:t>, 15°: </a:t>
            </a:r>
            <a:r>
              <a:rPr b="1" sz="1250">
                <a:solidFill>
                  <a:srgbClr val="1A2233"/>
                </a:solidFill>
                <a:latin typeface="Calibri"/>
              </a:rPr>
              <a:t>72 %</a:t>
            </a:r>
          </a:p>
          <a:p>
            <a:pPr>
              <a:spcAft>
                <a:spcPts val="300"/>
              </a:spcAft>
            </a:pPr>
            <a:r>
              <a:rPr sz="1250">
                <a:solidFill>
                  <a:srgbClr val="17B8B0"/>
                </a:solidFill>
                <a:latin typeface="Calibri"/>
              </a:rPr>
              <a:t>▪  </a:t>
            </a:r>
            <a:r>
              <a:rPr sz="1250">
                <a:solidFill>
                  <a:srgbClr val="1A2233"/>
                </a:solidFill>
                <a:latin typeface="Calibri"/>
              </a:rPr>
              <a:t>no re-registration attempted</a:t>
            </a:r>
          </a:p>
          <a:p>
            <a:pPr>
              <a:spcAft>
                <a:spcPts val="300"/>
              </a:spcAft>
            </a:pPr>
            <a:r>
              <a:rPr sz="1250">
                <a:solidFill>
                  <a:srgbClr val="17B8B0"/>
                </a:solidFill>
                <a:latin typeface="Calibri"/>
              </a:rPr>
              <a:t>▪  </a:t>
            </a:r>
            <a:r>
              <a:rPr sz="1250">
                <a:solidFill>
                  <a:srgbClr val="1A2233"/>
                </a:solidFill>
                <a:latin typeface="Calibri"/>
              </a:rPr>
              <a:t>consistent with RST theory [22]</a:t>
            </a:r>
          </a:p>
          <a:p>
            <a:pPr>
              <a:spcAft>
                <a:spcPts val="300"/>
              </a:spcAft>
            </a:pPr>
            <a:r>
              <a:rPr sz="1250">
                <a:solidFill>
                  <a:srgbClr val="17B8B0"/>
                </a:solidFill>
                <a:latin typeface="Calibri"/>
              </a:rPr>
              <a:t>▪  </a:t>
            </a:r>
            <a:r>
              <a:rPr sz="1250">
                <a:solidFill>
                  <a:srgbClr val="1A2233"/>
                </a:solidFill>
                <a:latin typeface="Calibri"/>
              </a:rPr>
              <a:t>block-based schemes break too (blind-watermark BER 0.21)</a:t>
            </a:r>
          </a:p>
        </p:txBody>
      </p:sp>
      <p:sp>
        <p:nvSpPr>
          <p:cNvPr id="17" name="Rounded Rectangle 16"/>
          <p:cNvSpPr/>
          <p:nvPr/>
        </p:nvSpPr>
        <p:spPr>
          <a:xfrm>
            <a:off x="9006840" y="1783080"/>
            <a:ext cx="2679192" cy="356616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874519"/>
            <a:ext cx="2404872" cy="320040"/>
          </a:xfrm>
          <a:prstGeom prst="rect">
            <a:avLst/>
          </a:prstGeom>
          <a:noFill/>
        </p:spPr>
        <p:txBody>
          <a:bodyPr wrap="square" lIns="36576" rIns="36576" tIns="18288" bIns="18288" anchor="t">
            <a:spAutoFit/>
          </a:bodyPr>
          <a:lstStyle/>
          <a:p>
            <a:r>
              <a:rPr b="1" sz="1250" i="0">
                <a:solidFill>
                  <a:srgbClr val="C1443C"/>
                </a:solidFill>
                <a:latin typeface="Calibri"/>
              </a:rPr>
              <a:t>Near-constant images</a:t>
            </a:r>
          </a:p>
        </p:txBody>
      </p:sp>
      <p:sp>
        <p:nvSpPr>
          <p:cNvPr id="19" name="TextBox 18"/>
          <p:cNvSpPr txBox="1"/>
          <p:nvPr/>
        </p:nvSpPr>
        <p:spPr>
          <a:xfrm>
            <a:off x="9116567" y="2240280"/>
            <a:ext cx="2450592" cy="3063239"/>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near-black sky: PSNR </a:t>
            </a:r>
            <a:r>
              <a:rPr b="1" sz="1250">
                <a:solidFill>
                  <a:srgbClr val="1A2233"/>
                </a:solidFill>
                <a:latin typeface="Calibri"/>
              </a:rPr>
              <a:t>35.9 dB</a:t>
            </a:r>
            <a:r>
              <a:rPr sz="1250">
                <a:solidFill>
                  <a:srgbClr val="1A2233"/>
                </a:solidFill>
                <a:latin typeface="Calibri"/>
              </a:rPr>
              <a:t>, SSIM </a:t>
            </a:r>
            <a:r>
              <a:rPr b="1" sz="1250">
                <a:solidFill>
                  <a:srgbClr val="1A2233"/>
                </a:solidFill>
                <a:latin typeface="Calibri"/>
              </a:rPr>
              <a:t>0.58</a:t>
            </a:r>
          </a:p>
          <a:p>
            <a:pPr>
              <a:spcAft>
                <a:spcPts val="300"/>
              </a:spcAft>
            </a:pPr>
            <a:r>
              <a:rPr sz="1250">
                <a:solidFill>
                  <a:srgbClr val="17B8B0"/>
                </a:solidFill>
                <a:latin typeface="Calibri"/>
              </a:rPr>
              <a:t>▪  </a:t>
            </a:r>
            <a:r>
              <a:rPr sz="1250">
                <a:solidFill>
                  <a:srgbClr val="1A2233"/>
                </a:solidFill>
                <a:latin typeface="Calibri"/>
              </a:rPr>
              <a:t>checkerboard: lowest clean NC (0.79)</a:t>
            </a:r>
          </a:p>
          <a:p>
            <a:pPr>
              <a:spcAft>
                <a:spcPts val="300"/>
              </a:spcAft>
            </a:pPr>
            <a:r>
              <a:rPr sz="1250">
                <a:solidFill>
                  <a:srgbClr val="17B8B0"/>
                </a:solidFill>
                <a:latin typeface="Calibri"/>
              </a:rPr>
              <a:t>▪  </a:t>
            </a:r>
            <a:r>
              <a:rPr sz="1250">
                <a:solidFill>
                  <a:srgbClr val="1A2233"/>
                </a:solidFill>
                <a:latin typeface="Calibri"/>
              </a:rPr>
              <a:t>PSNR alone would have hidden both</a:t>
            </a:r>
          </a:p>
        </p:txBody>
      </p:sp>
      <p:sp>
        <p:nvSpPr>
          <p:cNvPr id="20" name="Rounded Rectangle 19"/>
          <p:cNvSpPr/>
          <p:nvPr/>
        </p:nvSpPr>
        <p:spPr>
          <a:xfrm>
            <a:off x="502920" y="5532120"/>
            <a:ext cx="11183112" cy="548640"/>
          </a:xfrm>
          <a:prstGeom prst="roundRect">
            <a:avLst>
              <a:gd name="adj" fmla="val 10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550408"/>
            <a:ext cx="10789920" cy="512064"/>
          </a:xfrm>
          <a:prstGeom prst="rect">
            <a:avLst/>
          </a:prstGeom>
          <a:noFill/>
        </p:spPr>
        <p:txBody>
          <a:bodyPr wrap="square" lIns="36576" rIns="36576" tIns="18288" bIns="18288" anchor="ctr">
            <a:spAutoFit/>
          </a:bodyPr>
          <a:lstStyle/>
          <a:p>
            <a:r>
              <a:rPr b="0" sz="1200" i="0">
                <a:solidFill>
                  <a:srgbClr val="FFFFFF"/>
                </a:solidFill>
                <a:latin typeface="Calibri"/>
              </a:rPr>
              <a:t>By contrast: JPEG Q ≥ 20, median 3×3, sharpening, 0.5× scaling, blur, salt-and-pepper and mild noise all reach ≥ 95 % pass rate.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17</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COMPARISON WITH EXISTING TECHNOLOGIES · COMPONENTS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Same operation, different libraries: numerically equal, speed rarely matters here</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17</a:t>
            </a:r>
          </a:p>
        </p:txBody>
      </p:sp>
      <p:pic>
        <p:nvPicPr>
          <p:cNvPr id="8" name="Picture 7" descr="fig_tech_speedup.png"/>
          <p:cNvPicPr>
            <a:picLocks noChangeAspect="1"/>
          </p:cNvPicPr>
          <p:nvPr/>
        </p:nvPicPr>
        <p:blipFill>
          <a:blip r:embed="rId3"/>
          <a:stretch>
            <a:fillRect/>
          </a:stretch>
        </p:blipFill>
        <p:spPr>
          <a:xfrm>
            <a:off x="502920" y="1979451"/>
            <a:ext cx="6309360" cy="3447737"/>
          </a:xfrm>
          <a:prstGeom prst="rect">
            <a:avLst/>
          </a:prstGeom>
        </p:spPr>
      </p:pic>
      <p:sp>
        <p:nvSpPr>
          <p:cNvPr id="9" name="Rounded Rectangle 8"/>
          <p:cNvSpPr/>
          <p:nvPr/>
        </p:nvSpPr>
        <p:spPr>
          <a:xfrm>
            <a:off x="6995160" y="1783080"/>
            <a:ext cx="4690872" cy="429768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874519"/>
            <a:ext cx="4416552" cy="320040"/>
          </a:xfrm>
          <a:prstGeom prst="rect">
            <a:avLst/>
          </a:prstGeom>
          <a:noFill/>
        </p:spPr>
        <p:txBody>
          <a:bodyPr wrap="square" lIns="36576" rIns="36576" tIns="18288" bIns="18288" anchor="t">
            <a:spAutoFit/>
          </a:bodyPr>
          <a:lstStyle/>
          <a:p>
            <a:r>
              <a:rPr b="1" sz="1250" i="0">
                <a:solidFill>
                  <a:srgbClr val="132347"/>
                </a:solidFill>
                <a:latin typeface="Calibri"/>
              </a:rPr>
              <a:t>What the measurements say</a:t>
            </a:r>
          </a:p>
        </p:txBody>
      </p:sp>
      <p:sp>
        <p:nvSpPr>
          <p:cNvPr id="11" name="TextBox 10"/>
          <p:cNvSpPr txBox="1"/>
          <p:nvPr/>
        </p:nvSpPr>
        <p:spPr>
          <a:xfrm>
            <a:off x="7104888" y="2240280"/>
            <a:ext cx="4462272" cy="3794760"/>
          </a:xfrm>
          <a:prstGeom prst="rect">
            <a:avLst/>
          </a:prstGeom>
          <a:noFill/>
        </p:spPr>
        <p:txBody>
          <a:bodyPr wrap="square" lIns="36576" rIns="36576">
            <a:spAutoFit/>
          </a:bodyPr>
          <a:lstStyle/>
          <a:p>
            <a:pPr>
              <a:spcAft>
                <a:spcPts val="300"/>
              </a:spcAft>
            </a:pPr>
            <a:r>
              <a:rPr sz="1150">
                <a:solidFill>
                  <a:srgbClr val="17B8B0"/>
                </a:solidFill>
                <a:latin typeface="Calibri"/>
              </a:rPr>
              <a:t>▪  </a:t>
            </a:r>
            <a:r>
              <a:rPr sz="1150">
                <a:solidFill>
                  <a:srgbClr val="1A2233"/>
                </a:solidFill>
                <a:latin typeface="Calibri"/>
              </a:rPr>
              <a:t>DCT / SVD / Haar agree to ≤ 1.5e-16 (DWT 1e-13); Pillow ≡ OpenCV JPEG</a:t>
            </a:r>
          </a:p>
          <a:p>
            <a:pPr>
              <a:spcAft>
                <a:spcPts val="300"/>
              </a:spcAft>
            </a:pPr>
            <a:r>
              <a:rPr sz="1150">
                <a:solidFill>
                  <a:srgbClr val="17B8B0"/>
                </a:solidFill>
                <a:latin typeface="Calibri"/>
              </a:rPr>
              <a:t>▪  </a:t>
            </a:r>
            <a:r>
              <a:rPr sz="1150">
                <a:solidFill>
                  <a:srgbClr val="1A2233"/>
                </a:solidFill>
                <a:latin typeface="Calibri"/>
              </a:rPr>
              <a:t>SVD dominates embedding (≈ 23 of 37 ms); </a:t>
            </a:r>
            <a:r>
              <a:rPr sz="1050">
                <a:solidFill>
                  <a:srgbClr val="0E8F89"/>
                </a:solidFill>
                <a:latin typeface="Consolas"/>
              </a:rPr>
              <a:t>scipy.linalg.svd</a:t>
            </a:r>
            <a:r>
              <a:rPr sz="1150">
                <a:solidFill>
                  <a:srgbClr val="1A2233"/>
                </a:solidFill>
                <a:latin typeface="Calibri"/>
              </a:rPr>
              <a:t> is </a:t>
            </a:r>
            <a:r>
              <a:rPr b="1" sz="1150">
                <a:solidFill>
                  <a:srgbClr val="1A2233"/>
                </a:solidFill>
                <a:latin typeface="Calibri"/>
              </a:rPr>
              <a:t>1.19×</a:t>
            </a:r>
            <a:r>
              <a:rPr sz="1150">
                <a:solidFill>
                  <a:srgbClr val="1A2233"/>
                </a:solidFill>
                <a:latin typeface="Calibri"/>
              </a:rPr>
              <a:t> NumPy's</a:t>
            </a:r>
          </a:p>
          <a:p>
            <a:pPr>
              <a:spcAft>
                <a:spcPts val="300"/>
              </a:spcAft>
            </a:pPr>
            <a:r>
              <a:rPr sz="1150">
                <a:solidFill>
                  <a:srgbClr val="17B8B0"/>
                </a:solidFill>
                <a:latin typeface="Calibri"/>
              </a:rPr>
              <a:t>▪  </a:t>
            </a:r>
            <a:r>
              <a:rPr sz="1150">
                <a:solidFill>
                  <a:srgbClr val="1A2233"/>
                </a:solidFill>
                <a:latin typeface="Calibri"/>
              </a:rPr>
              <a:t>OpenCV: median </a:t>
            </a:r>
            <a:r>
              <a:rPr b="1" sz="1150">
                <a:solidFill>
                  <a:srgbClr val="1A2233"/>
                </a:solidFill>
                <a:latin typeface="Calibri"/>
              </a:rPr>
              <a:t>≈ 340×</a:t>
            </a:r>
            <a:r>
              <a:rPr sz="1150">
                <a:solidFill>
                  <a:srgbClr val="1A2233"/>
                </a:solidFill>
                <a:latin typeface="Calibri"/>
              </a:rPr>
              <a:t>, blur 4.4×, rotation 5.1×, rescale 38×, equalise 19× (partly </a:t>
            </a:r>
            <a:r>
              <a:rPr sz="1050">
                <a:solidFill>
                  <a:srgbClr val="0E8F89"/>
                </a:solidFill>
                <a:latin typeface="Consolas"/>
              </a:rPr>
              <a:t>uint8</a:t>
            </a:r>
            <a:r>
              <a:rPr sz="1150">
                <a:solidFill>
                  <a:srgbClr val="1A2233"/>
                </a:solidFill>
                <a:latin typeface="Calibri"/>
              </a:rPr>
              <a:t> vs </a:t>
            </a:r>
            <a:r>
              <a:rPr sz="1050">
                <a:solidFill>
                  <a:srgbClr val="0E8F89"/>
                </a:solidFill>
                <a:latin typeface="Consolas"/>
              </a:rPr>
              <a:t>float64</a:t>
            </a:r>
            <a:r>
              <a:rPr sz="1150">
                <a:solidFill>
                  <a:srgbClr val="1A2233"/>
                </a:solidFill>
                <a:latin typeface="Calibri"/>
              </a:rPr>
              <a:t>)</a:t>
            </a:r>
          </a:p>
          <a:p>
            <a:pPr>
              <a:spcAft>
                <a:spcPts val="300"/>
              </a:spcAft>
            </a:pPr>
            <a:r>
              <a:rPr sz="1150">
                <a:solidFill>
                  <a:srgbClr val="17B8B0"/>
                </a:solidFill>
                <a:latin typeface="Calibri"/>
              </a:rPr>
              <a:t>▪  </a:t>
            </a:r>
            <a:r>
              <a:rPr sz="1150">
                <a:solidFill>
                  <a:srgbClr val="1A2233"/>
                </a:solidFill>
                <a:latin typeface="Calibri"/>
              </a:rPr>
              <a:t>PyWavelets Haar is </a:t>
            </a:r>
            <a:r>
              <a:rPr b="1" sz="1150">
                <a:solidFill>
                  <a:srgbClr val="1A2233"/>
                </a:solidFill>
                <a:latin typeface="Calibri"/>
              </a:rPr>
              <a:t>11× slower</a:t>
            </a:r>
            <a:r>
              <a:rPr sz="1150">
                <a:solidFill>
                  <a:srgbClr val="1A2233"/>
                </a:solidFill>
                <a:latin typeface="Calibri"/>
              </a:rPr>
              <a:t> than four lines of NumPy — still the right general tool</a:t>
            </a:r>
          </a:p>
          <a:p>
            <a:pPr>
              <a:spcAft>
                <a:spcPts val="300"/>
              </a:spcAft>
            </a:pPr>
            <a:r>
              <a:rPr sz="1150">
                <a:solidFill>
                  <a:srgbClr val="17B8B0"/>
                </a:solidFill>
                <a:latin typeface="Calibri"/>
              </a:rPr>
              <a:t>▪  </a:t>
            </a:r>
            <a:r>
              <a:rPr sz="1150">
                <a:solidFill>
                  <a:srgbClr val="1A2233"/>
                </a:solidFill>
                <a:latin typeface="Calibri"/>
              </a:rPr>
              <a:t>ImageMagick CLI ≈ </a:t>
            </a:r>
            <a:r>
              <a:rPr b="1" sz="1150">
                <a:solidFill>
                  <a:srgbClr val="1A2233"/>
                </a:solidFill>
                <a:latin typeface="Calibri"/>
              </a:rPr>
              <a:t>49 ms</a:t>
            </a:r>
            <a:r>
              <a:rPr sz="1150">
                <a:solidFill>
                  <a:srgbClr val="1A2233"/>
                </a:solidFill>
                <a:latin typeface="Calibri"/>
              </a:rPr>
              <a:t> per JPEG (process + disk)</a:t>
            </a:r>
          </a:p>
          <a:p>
            <a:pPr>
              <a:spcAft>
                <a:spcPts val="300"/>
              </a:spcAft>
            </a:pPr>
            <a:r>
              <a:rPr sz="1150">
                <a:solidFill>
                  <a:srgbClr val="17B8B0"/>
                </a:solidFill>
                <a:latin typeface="Calibri"/>
              </a:rPr>
              <a:t>▪  </a:t>
            </a:r>
            <a:r>
              <a:rPr sz="1150">
                <a:solidFill>
                  <a:srgbClr val="1A2233"/>
                </a:solidFill>
                <a:latin typeface="Calibri"/>
              </a:rPr>
              <a:t>Whole experiment ≈ </a:t>
            </a:r>
            <a:r>
              <a:rPr b="1" sz="1150">
                <a:solidFill>
                  <a:srgbClr val="1A2233"/>
                </a:solidFill>
                <a:latin typeface="Calibri"/>
              </a:rPr>
              <a:t>80 s</a:t>
            </a:r>
            <a:r>
              <a:rPr sz="1150">
                <a:solidFill>
                  <a:srgbClr val="1A2233"/>
                </a:solidFill>
                <a:latin typeface="Calibri"/>
              </a:rPr>
              <a:t> on 4 cores → no performance case for switching</a:t>
            </a:r>
          </a:p>
        </p:txBody>
      </p:sp>
      <p:sp>
        <p:nvSpPr>
          <p:cNvPr id="12" name="TextBox 11"/>
          <p:cNvSpPr txBox="1"/>
          <p:nvPr/>
        </p:nvSpPr>
        <p:spPr>
          <a:xfrm>
            <a:off x="502920" y="6199632"/>
            <a:ext cx="11155680" cy="256032"/>
          </a:xfrm>
          <a:prstGeom prst="rect">
            <a:avLst/>
          </a:prstGeom>
          <a:noFill/>
        </p:spPr>
        <p:txBody>
          <a:bodyPr wrap="square" lIns="36576" rIns="36576" tIns="18288" bIns="18288" anchor="t">
            <a:spAutoFit/>
          </a:bodyPr>
          <a:lstStyle/>
          <a:p>
            <a:r>
              <a:rPr b="0" sz="850" i="1">
                <a:solidFill>
                  <a:srgbClr val="667085"/>
                </a:solidFill>
                <a:latin typeface="Calibri"/>
              </a:rPr>
              <a:t>Documentation-based capability matrix (not benchmarked) is in the report, Table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18</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COMPARISON WITH EXISTING TECHNOLOGIES · SCHEMES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Beats LSB and block-DCT at equal PSNR — but not an existing blind block-based hybrid</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18</a:t>
            </a:r>
          </a:p>
        </p:txBody>
      </p:sp>
      <p:pic>
        <p:nvPicPr>
          <p:cNvPr id="8" name="Picture 7" descr="fig_tech_scheme_ber.png"/>
          <p:cNvPicPr>
            <a:picLocks noChangeAspect="1"/>
          </p:cNvPicPr>
          <p:nvPr/>
        </p:nvPicPr>
        <p:blipFill>
          <a:blip r:embed="rId3"/>
          <a:stretch>
            <a:fillRect/>
          </a:stretch>
        </p:blipFill>
        <p:spPr>
          <a:xfrm>
            <a:off x="502920" y="1830554"/>
            <a:ext cx="7223760" cy="2831130"/>
          </a:xfrm>
          <a:prstGeom prst="rect">
            <a:avLst/>
          </a:prstGeom>
        </p:spPr>
      </p:pic>
      <p:graphicFrame>
        <p:nvGraphicFramePr>
          <p:cNvPr id="9" name="Table 8"/>
          <p:cNvGraphicFramePr>
            <a:graphicFrameLocks noGrp="1"/>
          </p:cNvGraphicFramePr>
          <p:nvPr/>
        </p:nvGraphicFramePr>
        <p:xfrm>
          <a:off x="502920" y="4846320"/>
          <a:ext cx="7223758" cy="1504188"/>
        </p:xfrm>
        <a:graphic>
          <a:graphicData uri="http://schemas.openxmlformats.org/drawingml/2006/table">
            <a:tbl>
              <a:tblPr firstRow="1" bandRow="1">
                <a:tableStyleId>{5C22544A-7EE6-4342-B048-85BDC9FD1C3A}</a:tableStyleId>
              </a:tblPr>
              <a:tblGrid>
                <a:gridCol w="1962008"/>
                <a:gridCol w="1337733"/>
                <a:gridCol w="1605280"/>
                <a:gridCol w="1248551"/>
                <a:gridCol w="1070186"/>
              </a:tblGrid>
              <a:tr h="214884">
                <a:tc>
                  <a:txBody>
                    <a:bodyPr wrap="square"/>
                    <a:lstStyle/>
                    <a:p/>
                  </a:txBody>
                  <a:tcPr marL="54864" marR="54864" marT="22860" marB="22860" anchor="ctr">
                    <a:solidFill>
                      <a:srgbClr val="132347"/>
                    </a:solidFill>
                  </a:tcPr>
                </a:tc>
                <a:tc>
                  <a:txBody>
                    <a:bodyPr wrap="square"/>
                    <a:lstStyle/>
                    <a:p>
                      <a:r>
                        <a:rPr sz="1000" b="1">
                          <a:solidFill>
                            <a:srgbClr val="FFFFFF"/>
                          </a:solidFill>
                          <a:latin typeface="Calibri"/>
                        </a:rPr>
                        <a:t>Project</a:t>
                      </a:r>
                    </a:p>
                  </a:txBody>
                  <a:tcPr marL="54864" marR="54864" marT="22860" marB="22860" anchor="ctr">
                    <a:solidFill>
                      <a:srgbClr val="132347"/>
                    </a:solidFill>
                  </a:tcPr>
                </a:tc>
                <a:tc>
                  <a:txBody>
                    <a:bodyPr wrap="square"/>
                    <a:lstStyle/>
                    <a:p>
                      <a:r>
                        <a:rPr sz="1000" b="1">
                          <a:solidFill>
                            <a:srgbClr val="FFFFFF"/>
                          </a:solidFill>
                          <a:latin typeface="Calibri"/>
                        </a:rPr>
                        <a:t>blind-watermark</a:t>
                      </a:r>
                    </a:p>
                  </a:txBody>
                  <a:tcPr marL="54864" marR="54864" marT="22860" marB="22860" anchor="ctr">
                    <a:solidFill>
                      <a:srgbClr val="132347"/>
                    </a:solidFill>
                  </a:tcPr>
                </a:tc>
                <a:tc>
                  <a:txBody>
                    <a:bodyPr wrap="square"/>
                    <a:lstStyle/>
                    <a:p>
                      <a:r>
                        <a:rPr sz="1000" b="1">
                          <a:solidFill>
                            <a:srgbClr val="FFFFFF"/>
                          </a:solidFill>
                          <a:latin typeface="Calibri"/>
                        </a:rPr>
                        <a:t>block DCT</a:t>
                      </a:r>
                    </a:p>
                  </a:txBody>
                  <a:tcPr marL="54864" marR="54864" marT="22860" marB="22860" anchor="ctr">
                    <a:solidFill>
                      <a:srgbClr val="132347"/>
                    </a:solidFill>
                  </a:tcPr>
                </a:tc>
                <a:tc>
                  <a:txBody>
                    <a:bodyPr wrap="square"/>
                    <a:lstStyle/>
                    <a:p>
                      <a:r>
                        <a:rPr sz="1000" b="1">
                          <a:solidFill>
                            <a:srgbClr val="FFFFFF"/>
                          </a:solidFill>
                          <a:latin typeface="Calibri"/>
                        </a:rPr>
                        <a:t>LSB</a:t>
                      </a:r>
                    </a:p>
                  </a:txBody>
                  <a:tcPr marL="54864" marR="54864" marT="22860" marB="22860" anchor="ctr">
                    <a:solidFill>
                      <a:srgbClr val="132347"/>
                    </a:solidFill>
                  </a:tcPr>
                </a:tc>
              </a:tr>
              <a:tr h="214884">
                <a:tc>
                  <a:txBody>
                    <a:bodyPr wrap="square"/>
                    <a:lstStyle/>
                    <a:p>
                      <a:r>
                        <a:rPr sz="1000">
                          <a:solidFill>
                            <a:srgbClr val="1A2233"/>
                          </a:solidFill>
                          <a:latin typeface="Calibri"/>
                        </a:rPr>
                        <a:t>PSNR (dB)</a:t>
                      </a:r>
                    </a:p>
                  </a:txBody>
                  <a:tcPr marL="54864" marR="54864" marT="22860" marB="22860" anchor="ctr">
                    <a:solidFill>
                      <a:srgbClr val="FFFFFF"/>
                    </a:solidFill>
                  </a:tcPr>
                </a:tc>
                <a:tc>
                  <a:txBody>
                    <a:bodyPr wrap="square"/>
                    <a:lstStyle/>
                    <a:p>
                      <a:r>
                        <a:rPr sz="1000">
                          <a:solidFill>
                            <a:srgbClr val="1A2233"/>
                          </a:solidFill>
                          <a:latin typeface="Calibri"/>
                        </a:rPr>
                        <a:t>35.9</a:t>
                      </a:r>
                    </a:p>
                  </a:txBody>
                  <a:tcPr marL="54864" marR="54864" marT="22860" marB="22860" anchor="ctr">
                    <a:solidFill>
                      <a:srgbClr val="FFFFFF"/>
                    </a:solidFill>
                  </a:tcPr>
                </a:tc>
                <a:tc>
                  <a:txBody>
                    <a:bodyPr wrap="square"/>
                    <a:lstStyle/>
                    <a:p>
                      <a:r>
                        <a:rPr sz="1000">
                          <a:solidFill>
                            <a:srgbClr val="1A2233"/>
                          </a:solidFill>
                          <a:latin typeface="Calibri"/>
                        </a:rPr>
                        <a:t>42.4</a:t>
                      </a:r>
                    </a:p>
                  </a:txBody>
                  <a:tcPr marL="54864" marR="54864" marT="22860" marB="22860" anchor="ctr">
                    <a:solidFill>
                      <a:srgbClr val="FFFFFF"/>
                    </a:solidFill>
                  </a:tcPr>
                </a:tc>
                <a:tc>
                  <a:txBody>
                    <a:bodyPr wrap="square"/>
                    <a:lstStyle/>
                    <a:p>
                      <a:r>
                        <a:rPr sz="1000">
                          <a:solidFill>
                            <a:srgbClr val="1A2233"/>
                          </a:solidFill>
                          <a:latin typeface="Calibri"/>
                        </a:rPr>
                        <a:t>35.1</a:t>
                      </a:r>
                    </a:p>
                  </a:txBody>
                  <a:tcPr marL="54864" marR="54864" marT="22860" marB="22860" anchor="ctr">
                    <a:solidFill>
                      <a:srgbClr val="FFFFFF"/>
                    </a:solidFill>
                  </a:tcPr>
                </a:tc>
                <a:tc>
                  <a:txBody>
                    <a:bodyPr wrap="square"/>
                    <a:lstStyle/>
                    <a:p>
                      <a:r>
                        <a:rPr sz="1000">
                          <a:solidFill>
                            <a:srgbClr val="1A2233"/>
                          </a:solidFill>
                          <a:latin typeface="Calibri"/>
                        </a:rPr>
                        <a:t>69.5</a:t>
                      </a:r>
                    </a:p>
                  </a:txBody>
                  <a:tcPr marL="54864" marR="54864" marT="22860" marB="22860" anchor="ctr">
                    <a:solidFill>
                      <a:srgbClr val="FFFFFF"/>
                    </a:solidFill>
                  </a:tcPr>
                </a:tc>
              </a:tr>
              <a:tr h="214884">
                <a:tc>
                  <a:txBody>
                    <a:bodyPr wrap="square"/>
                    <a:lstStyle/>
                    <a:p>
                      <a:r>
                        <a:rPr sz="1000">
                          <a:solidFill>
                            <a:srgbClr val="1A2233"/>
                          </a:solidFill>
                          <a:latin typeface="Calibri"/>
                        </a:rPr>
                        <a:t>JPEG Q=50 BER</a:t>
                      </a:r>
                    </a:p>
                  </a:txBody>
                  <a:tcPr marL="54864" marR="54864" marT="22860" marB="22860" anchor="ctr">
                    <a:solidFill>
                      <a:srgbClr val="F3F5F9"/>
                    </a:solidFill>
                  </a:tcPr>
                </a:tc>
                <a:tc>
                  <a:txBody>
                    <a:bodyPr wrap="square"/>
                    <a:lstStyle/>
                    <a:p>
                      <a:r>
                        <a:rPr sz="1000">
                          <a:solidFill>
                            <a:srgbClr val="1A2233"/>
                          </a:solidFill>
                          <a:latin typeface="Calibri"/>
                        </a:rPr>
                        <a:t>0.010</a:t>
                      </a:r>
                    </a:p>
                  </a:txBody>
                  <a:tcPr marL="54864" marR="54864" marT="22860" marB="22860" anchor="ctr">
                    <a:solidFill>
                      <a:srgbClr val="F3F5F9"/>
                    </a:solidFill>
                  </a:tcPr>
                </a:tc>
                <a:tc>
                  <a:txBody>
                    <a:bodyPr wrap="square"/>
                    <a:lstStyle/>
                    <a:p>
                      <a:r>
                        <a:rPr sz="1000">
                          <a:solidFill>
                            <a:srgbClr val="1A2233"/>
                          </a:solidFill>
                          <a:latin typeface="Calibri"/>
                        </a:rPr>
                        <a:t>0.004</a:t>
                      </a:r>
                    </a:p>
                  </a:txBody>
                  <a:tcPr marL="54864" marR="54864" marT="22860" marB="22860" anchor="ctr">
                    <a:solidFill>
                      <a:srgbClr val="F3F5F9"/>
                    </a:solidFill>
                  </a:tcPr>
                </a:tc>
                <a:tc>
                  <a:txBody>
                    <a:bodyPr wrap="square"/>
                    <a:lstStyle/>
                    <a:p>
                      <a:r>
                        <a:rPr sz="1000">
                          <a:solidFill>
                            <a:srgbClr val="1A2233"/>
                          </a:solidFill>
                          <a:latin typeface="Calibri"/>
                        </a:rPr>
                        <a:t>0.296</a:t>
                      </a:r>
                    </a:p>
                  </a:txBody>
                  <a:tcPr marL="54864" marR="54864" marT="22860" marB="22860" anchor="ctr">
                    <a:solidFill>
                      <a:srgbClr val="F3F5F9"/>
                    </a:solidFill>
                  </a:tcPr>
                </a:tc>
                <a:tc>
                  <a:txBody>
                    <a:bodyPr wrap="square"/>
                    <a:lstStyle/>
                    <a:p>
                      <a:r>
                        <a:rPr sz="1000">
                          <a:solidFill>
                            <a:srgbClr val="1A2233"/>
                          </a:solidFill>
                          <a:latin typeface="Calibri"/>
                        </a:rPr>
                        <a:t>0.426</a:t>
                      </a:r>
                    </a:p>
                  </a:txBody>
                  <a:tcPr marL="54864" marR="54864" marT="22860" marB="22860" anchor="ctr">
                    <a:solidFill>
                      <a:srgbClr val="F3F5F9"/>
                    </a:solidFill>
                  </a:tcPr>
                </a:tc>
              </a:tr>
              <a:tr h="214884">
                <a:tc>
                  <a:txBody>
                    <a:bodyPr wrap="square"/>
                    <a:lstStyle/>
                    <a:p>
                      <a:r>
                        <a:rPr sz="1000">
                          <a:solidFill>
                            <a:srgbClr val="1A2233"/>
                          </a:solidFill>
                          <a:latin typeface="Calibri"/>
                        </a:rPr>
                        <a:t>Rotation 5° BER</a:t>
                      </a:r>
                    </a:p>
                  </a:txBody>
                  <a:tcPr marL="54864" marR="54864" marT="22860" marB="22860" anchor="ctr">
                    <a:solidFill>
                      <a:srgbClr val="FFFFFF"/>
                    </a:solidFill>
                  </a:tcPr>
                </a:tc>
                <a:tc>
                  <a:txBody>
                    <a:bodyPr wrap="square"/>
                    <a:lstStyle/>
                    <a:p>
                      <a:r>
                        <a:rPr sz="1000">
                          <a:solidFill>
                            <a:srgbClr val="1A2233"/>
                          </a:solidFill>
                          <a:latin typeface="Calibri"/>
                        </a:rPr>
                        <a:t>0.029</a:t>
                      </a:r>
                    </a:p>
                  </a:txBody>
                  <a:tcPr marL="54864" marR="54864" marT="22860" marB="22860" anchor="ctr">
                    <a:solidFill>
                      <a:srgbClr val="FFFFFF"/>
                    </a:solidFill>
                  </a:tcPr>
                </a:tc>
                <a:tc>
                  <a:txBody>
                    <a:bodyPr wrap="square"/>
                    <a:lstStyle/>
                    <a:p>
                      <a:r>
                        <a:rPr sz="1000">
                          <a:solidFill>
                            <a:srgbClr val="1A2233"/>
                          </a:solidFill>
                          <a:latin typeface="Calibri"/>
                        </a:rPr>
                        <a:t>0.214</a:t>
                      </a:r>
                    </a:p>
                  </a:txBody>
                  <a:tcPr marL="54864" marR="54864" marT="22860" marB="22860" anchor="ctr">
                    <a:solidFill>
                      <a:srgbClr val="FFFFFF"/>
                    </a:solidFill>
                  </a:tcPr>
                </a:tc>
                <a:tc>
                  <a:txBody>
                    <a:bodyPr wrap="square"/>
                    <a:lstStyle/>
                    <a:p>
                      <a:r>
                        <a:rPr sz="1000">
                          <a:solidFill>
                            <a:srgbClr val="1A2233"/>
                          </a:solidFill>
                          <a:latin typeface="Calibri"/>
                        </a:rPr>
                        <a:t>0.493</a:t>
                      </a:r>
                    </a:p>
                  </a:txBody>
                  <a:tcPr marL="54864" marR="54864" marT="22860" marB="22860" anchor="ctr">
                    <a:solidFill>
                      <a:srgbClr val="FFFFFF"/>
                    </a:solidFill>
                  </a:tcPr>
                </a:tc>
                <a:tc>
                  <a:txBody>
                    <a:bodyPr wrap="square"/>
                    <a:lstStyle/>
                    <a:p>
                      <a:r>
                        <a:rPr sz="1000">
                          <a:solidFill>
                            <a:srgbClr val="1A2233"/>
                          </a:solidFill>
                          <a:latin typeface="Calibri"/>
                        </a:rPr>
                        <a:t>0.504</a:t>
                      </a:r>
                    </a:p>
                  </a:txBody>
                  <a:tcPr marL="54864" marR="54864" marT="22860" marB="22860" anchor="ctr">
                    <a:solidFill>
                      <a:srgbClr val="FFFFFF"/>
                    </a:solidFill>
                  </a:tcPr>
                </a:tc>
              </a:tr>
              <a:tr h="214884">
                <a:tc>
                  <a:txBody>
                    <a:bodyPr wrap="square"/>
                    <a:lstStyle/>
                    <a:p>
                      <a:r>
                        <a:rPr sz="1000">
                          <a:solidFill>
                            <a:srgbClr val="1A2233"/>
                          </a:solidFill>
                          <a:latin typeface="Calibri"/>
                        </a:rPr>
                        <a:t>Cropping BER</a:t>
                      </a:r>
                    </a:p>
                  </a:txBody>
                  <a:tcPr marL="54864" marR="54864" marT="22860" marB="22860" anchor="ctr">
                    <a:solidFill>
                      <a:srgbClr val="F3F5F9"/>
                    </a:solidFill>
                  </a:tcPr>
                </a:tc>
                <a:tc>
                  <a:txBody>
                    <a:bodyPr wrap="square"/>
                    <a:lstStyle/>
                    <a:p>
                      <a:r>
                        <a:rPr sz="1000">
                          <a:solidFill>
                            <a:srgbClr val="1A2233"/>
                          </a:solidFill>
                          <a:latin typeface="Calibri"/>
                        </a:rPr>
                        <a:t>0.135</a:t>
                      </a:r>
                    </a:p>
                  </a:txBody>
                  <a:tcPr marL="54864" marR="54864" marT="22860" marB="22860" anchor="ctr">
                    <a:solidFill>
                      <a:srgbClr val="F3F5F9"/>
                    </a:solidFill>
                  </a:tcPr>
                </a:tc>
                <a:tc>
                  <a:txBody>
                    <a:bodyPr wrap="square"/>
                    <a:lstStyle/>
                    <a:p>
                      <a:r>
                        <a:rPr sz="1000">
                          <a:solidFill>
                            <a:srgbClr val="1A2233"/>
                          </a:solidFill>
                          <a:latin typeface="Calibri"/>
                        </a:rPr>
                        <a:t>0.060</a:t>
                      </a:r>
                    </a:p>
                  </a:txBody>
                  <a:tcPr marL="54864" marR="54864" marT="22860" marB="22860" anchor="ctr">
                    <a:solidFill>
                      <a:srgbClr val="F3F5F9"/>
                    </a:solidFill>
                  </a:tcPr>
                </a:tc>
                <a:tc>
                  <a:txBody>
                    <a:bodyPr wrap="square"/>
                    <a:lstStyle/>
                    <a:p>
                      <a:r>
                        <a:rPr sz="1000">
                          <a:solidFill>
                            <a:srgbClr val="1A2233"/>
                          </a:solidFill>
                          <a:latin typeface="Calibri"/>
                        </a:rPr>
                        <a:t>0.124</a:t>
                      </a:r>
                    </a:p>
                  </a:txBody>
                  <a:tcPr marL="54864" marR="54864" marT="22860" marB="22860" anchor="ctr">
                    <a:solidFill>
                      <a:srgbClr val="F3F5F9"/>
                    </a:solidFill>
                  </a:tcPr>
                </a:tc>
                <a:tc>
                  <a:txBody>
                    <a:bodyPr wrap="square"/>
                    <a:lstStyle/>
                    <a:p>
                      <a:r>
                        <a:rPr sz="1000">
                          <a:solidFill>
                            <a:srgbClr val="1A2233"/>
                          </a:solidFill>
                          <a:latin typeface="Calibri"/>
                        </a:rPr>
                        <a:t>0.128</a:t>
                      </a:r>
                    </a:p>
                  </a:txBody>
                  <a:tcPr marL="54864" marR="54864" marT="22860" marB="22860" anchor="ctr">
                    <a:solidFill>
                      <a:srgbClr val="F3F5F9"/>
                    </a:solidFill>
                  </a:tcPr>
                </a:tc>
              </a:tr>
              <a:tr h="214884">
                <a:tc>
                  <a:txBody>
                    <a:bodyPr wrap="square"/>
                    <a:lstStyle/>
                    <a:p>
                      <a:r>
                        <a:rPr sz="1000">
                          <a:solidFill>
                            <a:srgbClr val="1A2233"/>
                          </a:solidFill>
                          <a:latin typeface="Calibri"/>
                        </a:rPr>
                        <a:t>embed / extract ms</a:t>
                      </a:r>
                    </a:p>
                  </a:txBody>
                  <a:tcPr marL="54864" marR="54864" marT="22860" marB="22860" anchor="ctr">
                    <a:solidFill>
                      <a:srgbClr val="FFFFFF"/>
                    </a:solidFill>
                  </a:tcPr>
                </a:tc>
                <a:tc>
                  <a:txBody>
                    <a:bodyPr wrap="square"/>
                    <a:lstStyle/>
                    <a:p>
                      <a:r>
                        <a:rPr sz="1000">
                          <a:solidFill>
                            <a:srgbClr val="1A2233"/>
                          </a:solidFill>
                          <a:latin typeface="Calibri"/>
                        </a:rPr>
                        <a:t>32 / 17</a:t>
                      </a:r>
                    </a:p>
                  </a:txBody>
                  <a:tcPr marL="54864" marR="54864" marT="22860" marB="22860" anchor="ctr">
                    <a:solidFill>
                      <a:srgbClr val="FFFFFF"/>
                    </a:solidFill>
                  </a:tcPr>
                </a:tc>
                <a:tc>
                  <a:txBody>
                    <a:bodyPr wrap="square"/>
                    <a:lstStyle/>
                    <a:p>
                      <a:r>
                        <a:rPr sz="1000">
                          <a:solidFill>
                            <a:srgbClr val="1A2233"/>
                          </a:solidFill>
                          <a:latin typeface="Calibri"/>
                        </a:rPr>
                        <a:t>420 / 315</a:t>
                      </a:r>
                    </a:p>
                  </a:txBody>
                  <a:tcPr marL="54864" marR="54864" marT="22860" marB="22860" anchor="ctr">
                    <a:solidFill>
                      <a:srgbClr val="FFFFFF"/>
                    </a:solidFill>
                  </a:tcPr>
                </a:tc>
                <a:tc>
                  <a:txBody>
                    <a:bodyPr wrap="square"/>
                    <a:lstStyle/>
                    <a:p>
                      <a:r>
                        <a:rPr sz="1000">
                          <a:solidFill>
                            <a:srgbClr val="1A2233"/>
                          </a:solidFill>
                          <a:latin typeface="Calibri"/>
                        </a:rPr>
                        <a:t>26 / 12</a:t>
                      </a:r>
                    </a:p>
                  </a:txBody>
                  <a:tcPr marL="54864" marR="54864" marT="22860" marB="22860" anchor="ctr">
                    <a:solidFill>
                      <a:srgbClr val="FFFFFF"/>
                    </a:solidFill>
                  </a:tcPr>
                </a:tc>
                <a:tc>
                  <a:txBody>
                    <a:bodyPr wrap="square"/>
                    <a:lstStyle/>
                    <a:p>
                      <a:r>
                        <a:rPr sz="1000">
                          <a:solidFill>
                            <a:srgbClr val="1A2233"/>
                          </a:solidFill>
                          <a:latin typeface="Calibri"/>
                        </a:rPr>
                        <a:t>2 / 1</a:t>
                      </a:r>
                    </a:p>
                  </a:txBody>
                  <a:tcPr marL="54864" marR="54864" marT="22860" marB="22860" anchor="ctr">
                    <a:solidFill>
                      <a:srgbClr val="FFFFFF"/>
                    </a:solidFill>
                  </a:tcPr>
                </a:tc>
              </a:tr>
              <a:tr h="214884">
                <a:tc>
                  <a:txBody>
                    <a:bodyPr wrap="square"/>
                    <a:lstStyle/>
                    <a:p>
                      <a:r>
                        <a:rPr sz="1000">
                          <a:solidFill>
                            <a:srgbClr val="1A2233"/>
                          </a:solidFill>
                          <a:latin typeface="Calibri"/>
                        </a:rPr>
                        <a:t>blind?</a:t>
                      </a:r>
                    </a:p>
                  </a:txBody>
                  <a:tcPr marL="54864" marR="54864" marT="22860" marB="22860" anchor="ctr">
                    <a:solidFill>
                      <a:srgbClr val="F3F5F9"/>
                    </a:solidFill>
                  </a:tcPr>
                </a:tc>
                <a:tc>
                  <a:txBody>
                    <a:bodyPr wrap="square"/>
                    <a:lstStyle/>
                    <a:p>
                      <a:r>
                        <a:rPr b="1" sz="1000">
                          <a:solidFill>
                            <a:srgbClr val="1A2233"/>
                          </a:solidFill>
                          <a:latin typeface="Calibri"/>
                        </a:rPr>
                        <a:t>no</a:t>
                      </a:r>
                      <a:r>
                        <a:rPr sz="1000">
                          <a:solidFill>
                            <a:srgbClr val="1A2233"/>
                          </a:solidFill>
                          <a:latin typeface="Calibri"/>
                        </a:rPr>
                        <a:t> (key)</a:t>
                      </a:r>
                    </a:p>
                  </a:txBody>
                  <a:tcPr marL="54864" marR="54864" marT="22860" marB="22860" anchor="ctr">
                    <a:solidFill>
                      <a:srgbClr val="F3F5F9"/>
                    </a:solidFill>
                  </a:tcPr>
                </a:tc>
                <a:tc>
                  <a:txBody>
                    <a:bodyPr wrap="square"/>
                    <a:lstStyle/>
                    <a:p>
                      <a:r>
                        <a:rPr sz="1000">
                          <a:solidFill>
                            <a:srgbClr val="1A2233"/>
                          </a:solidFill>
                          <a:latin typeface="Calibri"/>
                        </a:rPr>
                        <a:t>yes</a:t>
                      </a:r>
                    </a:p>
                  </a:txBody>
                  <a:tcPr marL="54864" marR="54864" marT="22860" marB="22860" anchor="ctr">
                    <a:solidFill>
                      <a:srgbClr val="F3F5F9"/>
                    </a:solidFill>
                  </a:tcPr>
                </a:tc>
                <a:tc>
                  <a:txBody>
                    <a:bodyPr wrap="square"/>
                    <a:lstStyle/>
                    <a:p>
                      <a:r>
                        <a:rPr sz="1000">
                          <a:solidFill>
                            <a:srgbClr val="1A2233"/>
                          </a:solidFill>
                          <a:latin typeface="Calibri"/>
                        </a:rPr>
                        <a:t>yes</a:t>
                      </a:r>
                    </a:p>
                  </a:txBody>
                  <a:tcPr marL="54864" marR="54864" marT="22860" marB="22860" anchor="ctr">
                    <a:solidFill>
                      <a:srgbClr val="F3F5F9"/>
                    </a:solidFill>
                  </a:tcPr>
                </a:tc>
                <a:tc>
                  <a:txBody>
                    <a:bodyPr wrap="square"/>
                    <a:lstStyle/>
                    <a:p>
                      <a:r>
                        <a:rPr sz="1000">
                          <a:solidFill>
                            <a:srgbClr val="1A2233"/>
                          </a:solidFill>
                          <a:latin typeface="Calibri"/>
                        </a:rPr>
                        <a:t>yes</a:t>
                      </a:r>
                    </a:p>
                  </a:txBody>
                  <a:tcPr marL="54864" marR="54864" marT="22860" marB="22860" anchor="ctr">
                    <a:solidFill>
                      <a:srgbClr val="F3F5F9"/>
                    </a:solidFill>
                  </a:tcPr>
                </a:tc>
              </a:tr>
            </a:tbl>
          </a:graphicData>
        </a:graphic>
      </p:graphicFrame>
      <p:sp>
        <p:nvSpPr>
          <p:cNvPr id="10" name="Rounded Rectangle 9"/>
          <p:cNvSpPr/>
          <p:nvPr/>
        </p:nvSpPr>
        <p:spPr>
          <a:xfrm>
            <a:off x="7955279" y="1783080"/>
            <a:ext cx="3730752" cy="429768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874519"/>
            <a:ext cx="3456432" cy="320040"/>
          </a:xfrm>
          <a:prstGeom prst="rect">
            <a:avLst/>
          </a:prstGeom>
          <a:noFill/>
        </p:spPr>
        <p:txBody>
          <a:bodyPr wrap="square" lIns="36576" rIns="36576" tIns="18288" bIns="18288" anchor="t">
            <a:spAutoFit/>
          </a:bodyPr>
          <a:lstStyle/>
          <a:p>
            <a:r>
              <a:rPr b="1" sz="1250" i="0">
                <a:solidFill>
                  <a:srgbClr val="132347"/>
                </a:solidFill>
                <a:latin typeface="Calibri"/>
              </a:rPr>
              <a:t>Reading the comparison</a:t>
            </a:r>
          </a:p>
        </p:txBody>
      </p:sp>
      <p:sp>
        <p:nvSpPr>
          <p:cNvPr id="12" name="TextBox 11"/>
          <p:cNvSpPr txBox="1"/>
          <p:nvPr/>
        </p:nvSpPr>
        <p:spPr>
          <a:xfrm>
            <a:off x="8065007" y="2240280"/>
            <a:ext cx="3502152" cy="379476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Project ≫ LSB and block-DCT under JPEG, scaling, rotation</a:t>
            </a:r>
          </a:p>
          <a:p>
            <a:pPr>
              <a:spcAft>
                <a:spcPts val="300"/>
              </a:spcAft>
            </a:pPr>
            <a:r>
              <a:rPr sz="1200">
                <a:solidFill>
                  <a:srgbClr val="17B8B0"/>
                </a:solidFill>
                <a:latin typeface="Calibri"/>
              </a:rPr>
              <a:t>▪  </a:t>
            </a:r>
            <a:r>
              <a:rPr sz="1100">
                <a:solidFill>
                  <a:srgbClr val="0E8F89"/>
                </a:solidFill>
                <a:latin typeface="Consolas"/>
              </a:rPr>
              <a:t>blind-watermark</a:t>
            </a:r>
            <a:r>
              <a:rPr sz="1200">
                <a:solidFill>
                  <a:srgbClr val="1A2233"/>
                </a:solidFill>
                <a:latin typeface="Calibri"/>
              </a:rPr>
              <a:t>: lower BER under JPEG Q=50 (0.004 vs 0.010), noise, blur, cropping; </a:t>
            </a:r>
            <a:r>
              <a:rPr b="1" sz="1200">
                <a:solidFill>
                  <a:srgbClr val="1A2233"/>
                </a:solidFill>
                <a:latin typeface="Calibri"/>
              </a:rPr>
              <a:t>higher PSNR</a:t>
            </a:r>
            <a:r>
              <a:rPr sz="1200">
                <a:solidFill>
                  <a:srgbClr val="1A2233"/>
                </a:solidFill>
                <a:latin typeface="Calibri"/>
              </a:rPr>
              <a:t> (42.4 dB)</a:t>
            </a:r>
          </a:p>
          <a:p>
            <a:pPr>
              <a:spcAft>
                <a:spcPts val="300"/>
              </a:spcAft>
            </a:pPr>
            <a:r>
              <a:rPr sz="1200">
                <a:solidFill>
                  <a:srgbClr val="17B8B0"/>
                </a:solidFill>
                <a:latin typeface="Calibri"/>
              </a:rPr>
              <a:t>▪  </a:t>
            </a:r>
            <a:r>
              <a:rPr sz="1200">
                <a:solidFill>
                  <a:srgbClr val="1A2233"/>
                </a:solidFill>
                <a:latin typeface="Calibri"/>
              </a:rPr>
              <a:t>…but </a:t>
            </a:r>
            <a:r>
              <a:rPr b="1" sz="1200">
                <a:solidFill>
                  <a:srgbClr val="1A2233"/>
                </a:solidFill>
                <a:latin typeface="Calibri"/>
              </a:rPr>
              <a:t>13× slower</a:t>
            </a:r>
            <a:r>
              <a:rPr sz="1200">
                <a:solidFill>
                  <a:srgbClr val="1A2233"/>
                </a:solidFill>
                <a:latin typeface="Calibri"/>
              </a:rPr>
              <a:t> and worse under rotation (0.214 vs 0.029) and JPEG Q=20</a:t>
            </a:r>
          </a:p>
          <a:p>
            <a:pPr>
              <a:spcAft>
                <a:spcPts val="300"/>
              </a:spcAft>
            </a:pPr>
            <a:r>
              <a:rPr sz="1200">
                <a:solidFill>
                  <a:srgbClr val="17B8B0"/>
                </a:solidFill>
                <a:latin typeface="Calibri"/>
              </a:rPr>
              <a:t>▪  </a:t>
            </a:r>
            <a:r>
              <a:rPr sz="1200">
                <a:solidFill>
                  <a:srgbClr val="1A2233"/>
                </a:solidFill>
                <a:latin typeface="Calibri"/>
              </a:rPr>
              <a:t>Its colour/YUV design and channel-wise attacks may favour it</a:t>
            </a:r>
          </a:p>
          <a:p>
            <a:pPr>
              <a:spcAft>
                <a:spcPts val="300"/>
              </a:spcAft>
            </a:pPr>
            <a:r>
              <a:rPr sz="1200">
                <a:solidFill>
                  <a:srgbClr val="17B8B0"/>
                </a:solidFill>
                <a:latin typeface="Calibri"/>
              </a:rPr>
              <a:t>▪  </a:t>
            </a:r>
            <a:r>
              <a:rPr b="1" sz="1200">
                <a:solidFill>
                  <a:srgbClr val="1A2233"/>
                </a:solidFill>
                <a:latin typeface="Calibri"/>
              </a:rPr>
              <a:t>No claim of superiority</a:t>
            </a:r>
            <a:r>
              <a:rPr sz="1200">
                <a:solidFill>
                  <a:srgbClr val="1A2233"/>
                </a:solidFill>
                <a:latin typeface="Calibri"/>
              </a:rPr>
              <a:t> — contribution = explainable reference implementation + measured weaknesses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19</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EXPLORATORY VIDEO TEST</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Per-frame embedding survives H.264 and MJPEG re-encoding — feasibility, not a video benchmark</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19</a:t>
            </a:r>
          </a:p>
        </p:txBody>
      </p:sp>
      <p:graphicFrame>
        <p:nvGraphicFramePr>
          <p:cNvPr id="8" name="Table 7"/>
          <p:cNvGraphicFramePr>
            <a:graphicFrameLocks noGrp="1"/>
          </p:cNvGraphicFramePr>
          <p:nvPr/>
        </p:nvGraphicFramePr>
        <p:xfrm>
          <a:off x="502920" y="1783080"/>
          <a:ext cx="6949439" cy="2944368"/>
        </p:xfrm>
        <a:graphic>
          <a:graphicData uri="http://schemas.openxmlformats.org/drawingml/2006/table">
            <a:tbl>
              <a:tblPr firstRow="1" bandRow="1">
                <a:tableStyleId>{5C22544A-7EE6-4342-B048-85BDC9FD1C3A}</a:tableStyleId>
              </a:tblPr>
              <a:tblGrid>
                <a:gridCol w="2441695"/>
                <a:gridCol w="1126936"/>
                <a:gridCol w="1126936"/>
                <a:gridCol w="1126936"/>
                <a:gridCol w="1126936"/>
              </a:tblGrid>
              <a:tr h="420624">
                <a:tc>
                  <a:txBody>
                    <a:bodyPr wrap="square"/>
                    <a:lstStyle/>
                    <a:p>
                      <a:r>
                        <a:rPr sz="1100" b="1">
                          <a:solidFill>
                            <a:srgbClr val="FFFFFF"/>
                          </a:solidFill>
                          <a:latin typeface="Calibri"/>
                        </a:rPr>
                        <a:t>Codec setting</a:t>
                      </a:r>
                    </a:p>
                  </a:txBody>
                  <a:tcPr marL="54864" marR="54864" marT="22860" marB="22860" anchor="ctr">
                    <a:solidFill>
                      <a:srgbClr val="132347"/>
                    </a:solidFill>
                  </a:tcPr>
                </a:tc>
                <a:tc>
                  <a:txBody>
                    <a:bodyPr wrap="square"/>
                    <a:lstStyle/>
                    <a:p>
                      <a:r>
                        <a:rPr sz="1100" b="1">
                          <a:solidFill>
                            <a:srgbClr val="FFFFFF"/>
                          </a:solidFill>
                          <a:latin typeface="Calibri"/>
                        </a:rPr>
                        <a:t>PSNR (dB)</a:t>
                      </a:r>
                    </a:p>
                  </a:txBody>
                  <a:tcPr marL="54864" marR="54864" marT="22860" marB="22860" anchor="ctr">
                    <a:solidFill>
                      <a:srgbClr val="132347"/>
                    </a:solidFill>
                  </a:tcPr>
                </a:tc>
                <a:tc>
                  <a:txBody>
                    <a:bodyPr wrap="square"/>
                    <a:lstStyle/>
                    <a:p>
                      <a:r>
                        <a:rPr sz="1100" b="1">
                          <a:solidFill>
                            <a:srgbClr val="FFFFFF"/>
                          </a:solidFill>
                          <a:latin typeface="Calibri"/>
                        </a:rPr>
                        <a:t>mean NC</a:t>
                      </a:r>
                    </a:p>
                  </a:txBody>
                  <a:tcPr marL="54864" marR="54864" marT="22860" marB="22860" anchor="ctr">
                    <a:solidFill>
                      <a:srgbClr val="132347"/>
                    </a:solidFill>
                  </a:tcPr>
                </a:tc>
                <a:tc>
                  <a:txBody>
                    <a:bodyPr wrap="square"/>
                    <a:lstStyle/>
                    <a:p>
                      <a:r>
                        <a:rPr sz="1100" b="1">
                          <a:solidFill>
                            <a:srgbClr val="FFFFFF"/>
                          </a:solidFill>
                          <a:latin typeface="Calibri"/>
                        </a:rPr>
                        <a:t>min NC</a:t>
                      </a:r>
                    </a:p>
                  </a:txBody>
                  <a:tcPr marL="54864" marR="54864" marT="22860" marB="22860" anchor="ctr">
                    <a:solidFill>
                      <a:srgbClr val="132347"/>
                    </a:solidFill>
                  </a:tcPr>
                </a:tc>
                <a:tc>
                  <a:txBody>
                    <a:bodyPr wrap="square"/>
                    <a:lstStyle/>
                    <a:p>
                      <a:r>
                        <a:rPr sz="1100" b="1">
                          <a:solidFill>
                            <a:srgbClr val="FFFFFF"/>
                          </a:solidFill>
                          <a:latin typeface="Calibri"/>
                        </a:rPr>
                        <a:t>size (kB)</a:t>
                      </a:r>
                    </a:p>
                  </a:txBody>
                  <a:tcPr marL="54864" marR="54864" marT="22860" marB="22860" anchor="ctr">
                    <a:solidFill>
                      <a:srgbClr val="132347"/>
                    </a:solidFill>
                  </a:tcPr>
                </a:tc>
              </a:tr>
              <a:tr h="420624">
                <a:tc>
                  <a:txBody>
                    <a:bodyPr wrap="square"/>
                    <a:lstStyle/>
                    <a:p>
                      <a:r>
                        <a:rPr sz="1100">
                          <a:solidFill>
                            <a:srgbClr val="1A2233"/>
                          </a:solidFill>
                          <a:latin typeface="Calibri"/>
                        </a:rPr>
                        <a:t>lossless (FFV1)</a:t>
                      </a:r>
                    </a:p>
                  </a:txBody>
                  <a:tcPr marL="54864" marR="54864" marT="22860" marB="22860" anchor="ctr">
                    <a:solidFill>
                      <a:srgbClr val="FFFFFF"/>
                    </a:solidFill>
                  </a:tcPr>
                </a:tc>
                <a:tc>
                  <a:txBody>
                    <a:bodyPr wrap="square"/>
                    <a:lstStyle/>
                    <a:p>
                      <a:r>
                        <a:rPr sz="1100">
                          <a:solidFill>
                            <a:srgbClr val="1A2233"/>
                          </a:solidFill>
                          <a:latin typeface="Calibri"/>
                        </a:rPr>
                        <a:t>35.6</a:t>
                      </a:r>
                    </a:p>
                  </a:txBody>
                  <a:tcPr marL="54864" marR="54864" marT="22860" marB="22860" anchor="ctr">
                    <a:solidFill>
                      <a:srgbClr val="FFFFFF"/>
                    </a:solidFill>
                  </a:tcPr>
                </a:tc>
                <a:tc>
                  <a:txBody>
                    <a:bodyPr wrap="square"/>
                    <a:lstStyle/>
                    <a:p>
                      <a:r>
                        <a:rPr sz="1100">
                          <a:solidFill>
                            <a:srgbClr val="1A2233"/>
                          </a:solidFill>
                          <a:latin typeface="Calibri"/>
                        </a:rPr>
                        <a:t>0.980</a:t>
                      </a:r>
                    </a:p>
                  </a:txBody>
                  <a:tcPr marL="54864" marR="54864" marT="22860" marB="22860" anchor="ctr">
                    <a:solidFill>
                      <a:srgbClr val="FFFFFF"/>
                    </a:solidFill>
                  </a:tcPr>
                </a:tc>
                <a:tc>
                  <a:txBody>
                    <a:bodyPr wrap="square"/>
                    <a:lstStyle/>
                    <a:p>
                      <a:r>
                        <a:rPr sz="1100">
                          <a:solidFill>
                            <a:srgbClr val="1A2233"/>
                          </a:solidFill>
                          <a:latin typeface="Calibri"/>
                        </a:rPr>
                        <a:t>0.977</a:t>
                      </a:r>
                    </a:p>
                  </a:txBody>
                  <a:tcPr marL="54864" marR="54864" marT="22860" marB="22860" anchor="ctr">
                    <a:solidFill>
                      <a:srgbClr val="FFFFFF"/>
                    </a:solidFill>
                  </a:tcPr>
                </a:tc>
                <a:tc>
                  <a:txBody>
                    <a:bodyPr wrap="square"/>
                    <a:lstStyle/>
                    <a:p>
                      <a:r>
                        <a:rPr sz="1100">
                          <a:solidFill>
                            <a:srgbClr val="1A2233"/>
                          </a:solidFill>
                          <a:latin typeface="Calibri"/>
                        </a:rPr>
                        <a:t>5289</a:t>
                      </a:r>
                    </a:p>
                  </a:txBody>
                  <a:tcPr marL="54864" marR="54864" marT="22860" marB="22860" anchor="ctr">
                    <a:solidFill>
                      <a:srgbClr val="FFFFFF"/>
                    </a:solidFill>
                  </a:tcPr>
                </a:tc>
              </a:tr>
              <a:tr h="420624">
                <a:tc>
                  <a:txBody>
                    <a:bodyPr wrap="square"/>
                    <a:lstStyle/>
                    <a:p>
                      <a:r>
                        <a:rPr sz="1100">
                          <a:solidFill>
                            <a:srgbClr val="1A2233"/>
                          </a:solidFill>
                          <a:latin typeface="Calibri"/>
                        </a:rPr>
                        <a:t>H.264 CRF 18</a:t>
                      </a:r>
                    </a:p>
                  </a:txBody>
                  <a:tcPr marL="54864" marR="54864" marT="22860" marB="22860" anchor="ctr">
                    <a:solidFill>
                      <a:srgbClr val="F3F5F9"/>
                    </a:solidFill>
                  </a:tcPr>
                </a:tc>
                <a:tc>
                  <a:txBody>
                    <a:bodyPr wrap="square"/>
                    <a:lstStyle/>
                    <a:p>
                      <a:r>
                        <a:rPr sz="1100">
                          <a:solidFill>
                            <a:srgbClr val="1A2233"/>
                          </a:solidFill>
                          <a:latin typeface="Calibri"/>
                        </a:rPr>
                        <a:t>35.0</a:t>
                      </a:r>
                    </a:p>
                  </a:txBody>
                  <a:tcPr marL="54864" marR="54864" marT="22860" marB="22860" anchor="ctr">
                    <a:solidFill>
                      <a:srgbClr val="F3F5F9"/>
                    </a:solidFill>
                  </a:tcPr>
                </a:tc>
                <a:tc>
                  <a:txBody>
                    <a:bodyPr wrap="square"/>
                    <a:lstStyle/>
                    <a:p>
                      <a:r>
                        <a:rPr sz="1100">
                          <a:solidFill>
                            <a:srgbClr val="1A2233"/>
                          </a:solidFill>
                          <a:latin typeface="Calibri"/>
                        </a:rPr>
                        <a:t>0.980</a:t>
                      </a:r>
                    </a:p>
                  </a:txBody>
                  <a:tcPr marL="54864" marR="54864" marT="22860" marB="22860" anchor="ctr">
                    <a:solidFill>
                      <a:srgbClr val="F3F5F9"/>
                    </a:solidFill>
                  </a:tcPr>
                </a:tc>
                <a:tc>
                  <a:txBody>
                    <a:bodyPr wrap="square"/>
                    <a:lstStyle/>
                    <a:p>
                      <a:r>
                        <a:rPr sz="1100">
                          <a:solidFill>
                            <a:srgbClr val="1A2233"/>
                          </a:solidFill>
                          <a:latin typeface="Calibri"/>
                        </a:rPr>
                        <a:t>0.977</a:t>
                      </a:r>
                    </a:p>
                  </a:txBody>
                  <a:tcPr marL="54864" marR="54864" marT="22860" marB="22860" anchor="ctr">
                    <a:solidFill>
                      <a:srgbClr val="F3F5F9"/>
                    </a:solidFill>
                  </a:tcPr>
                </a:tc>
                <a:tc>
                  <a:txBody>
                    <a:bodyPr wrap="square"/>
                    <a:lstStyle/>
                    <a:p>
                      <a:r>
                        <a:rPr sz="1100">
                          <a:solidFill>
                            <a:srgbClr val="1A2233"/>
                          </a:solidFill>
                          <a:latin typeface="Calibri"/>
                        </a:rPr>
                        <a:t>381</a:t>
                      </a:r>
                    </a:p>
                  </a:txBody>
                  <a:tcPr marL="54864" marR="54864" marT="22860" marB="22860" anchor="ctr">
                    <a:solidFill>
                      <a:srgbClr val="F3F5F9"/>
                    </a:solidFill>
                  </a:tcPr>
                </a:tc>
              </a:tr>
              <a:tr h="420624">
                <a:tc>
                  <a:txBody>
                    <a:bodyPr wrap="square"/>
                    <a:lstStyle/>
                    <a:p>
                      <a:r>
                        <a:rPr sz="1100">
                          <a:solidFill>
                            <a:srgbClr val="1A2233"/>
                          </a:solidFill>
                          <a:latin typeface="Calibri"/>
                        </a:rPr>
                        <a:t>H.264 CRF 23</a:t>
                      </a:r>
                    </a:p>
                  </a:txBody>
                  <a:tcPr marL="54864" marR="54864" marT="22860" marB="22860" anchor="ctr">
                    <a:solidFill>
                      <a:srgbClr val="FFFFFF"/>
                    </a:solidFill>
                  </a:tcPr>
                </a:tc>
                <a:tc>
                  <a:txBody>
                    <a:bodyPr wrap="square"/>
                    <a:lstStyle/>
                    <a:p>
                      <a:r>
                        <a:rPr sz="1100">
                          <a:solidFill>
                            <a:srgbClr val="1A2233"/>
                          </a:solidFill>
                          <a:latin typeface="Calibri"/>
                        </a:rPr>
                        <a:t>34.6</a:t>
                      </a:r>
                    </a:p>
                  </a:txBody>
                  <a:tcPr marL="54864" marR="54864" marT="22860" marB="22860" anchor="ctr">
                    <a:solidFill>
                      <a:srgbClr val="FFFFFF"/>
                    </a:solidFill>
                  </a:tcPr>
                </a:tc>
                <a:tc>
                  <a:txBody>
                    <a:bodyPr wrap="square"/>
                    <a:lstStyle/>
                    <a:p>
                      <a:r>
                        <a:rPr sz="1100">
                          <a:solidFill>
                            <a:srgbClr val="1A2233"/>
                          </a:solidFill>
                          <a:latin typeface="Calibri"/>
                        </a:rPr>
                        <a:t>0.980</a:t>
                      </a:r>
                    </a:p>
                  </a:txBody>
                  <a:tcPr marL="54864" marR="54864" marT="22860" marB="22860" anchor="ctr">
                    <a:solidFill>
                      <a:srgbClr val="FFFFFF"/>
                    </a:solidFill>
                  </a:tcPr>
                </a:tc>
                <a:tc>
                  <a:txBody>
                    <a:bodyPr wrap="square"/>
                    <a:lstStyle/>
                    <a:p>
                      <a:r>
                        <a:rPr sz="1100">
                          <a:solidFill>
                            <a:srgbClr val="1A2233"/>
                          </a:solidFill>
                          <a:latin typeface="Calibri"/>
                        </a:rPr>
                        <a:t>0.976</a:t>
                      </a:r>
                    </a:p>
                  </a:txBody>
                  <a:tcPr marL="54864" marR="54864" marT="22860" marB="22860" anchor="ctr">
                    <a:solidFill>
                      <a:srgbClr val="FFFFFF"/>
                    </a:solidFill>
                  </a:tcPr>
                </a:tc>
                <a:tc>
                  <a:txBody>
                    <a:bodyPr wrap="square"/>
                    <a:lstStyle/>
                    <a:p>
                      <a:r>
                        <a:rPr sz="1100">
                          <a:solidFill>
                            <a:srgbClr val="1A2233"/>
                          </a:solidFill>
                          <a:latin typeface="Calibri"/>
                        </a:rPr>
                        <a:t>181</a:t>
                      </a:r>
                    </a:p>
                  </a:txBody>
                  <a:tcPr marL="54864" marR="54864" marT="22860" marB="22860" anchor="ctr">
                    <a:solidFill>
                      <a:srgbClr val="FFFFFF"/>
                    </a:solidFill>
                  </a:tcPr>
                </a:tc>
              </a:tr>
              <a:tr h="420624">
                <a:tc>
                  <a:txBody>
                    <a:bodyPr wrap="square"/>
                    <a:lstStyle/>
                    <a:p>
                      <a:r>
                        <a:rPr sz="1100">
                          <a:solidFill>
                            <a:srgbClr val="1A2233"/>
                          </a:solidFill>
                          <a:latin typeface="Calibri"/>
                        </a:rPr>
                        <a:t>H.264 CRF 28</a:t>
                      </a:r>
                    </a:p>
                  </a:txBody>
                  <a:tcPr marL="54864" marR="54864" marT="22860" marB="22860" anchor="ctr">
                    <a:solidFill>
                      <a:srgbClr val="F3F5F9"/>
                    </a:solidFill>
                  </a:tcPr>
                </a:tc>
                <a:tc>
                  <a:txBody>
                    <a:bodyPr wrap="square"/>
                    <a:lstStyle/>
                    <a:p>
                      <a:r>
                        <a:rPr sz="1100">
                          <a:solidFill>
                            <a:srgbClr val="1A2233"/>
                          </a:solidFill>
                          <a:latin typeface="Calibri"/>
                        </a:rPr>
                        <a:t>33.9</a:t>
                      </a:r>
                    </a:p>
                  </a:txBody>
                  <a:tcPr marL="54864" marR="54864" marT="22860" marB="22860" anchor="ctr">
                    <a:solidFill>
                      <a:srgbClr val="F3F5F9"/>
                    </a:solidFill>
                  </a:tcPr>
                </a:tc>
                <a:tc>
                  <a:txBody>
                    <a:bodyPr wrap="square"/>
                    <a:lstStyle/>
                    <a:p>
                      <a:r>
                        <a:rPr sz="1100">
                          <a:solidFill>
                            <a:srgbClr val="1A2233"/>
                          </a:solidFill>
                          <a:latin typeface="Calibri"/>
                        </a:rPr>
                        <a:t>0.979</a:t>
                      </a:r>
                    </a:p>
                  </a:txBody>
                  <a:tcPr marL="54864" marR="54864" marT="22860" marB="22860" anchor="ctr">
                    <a:solidFill>
                      <a:srgbClr val="F3F5F9"/>
                    </a:solidFill>
                  </a:tcPr>
                </a:tc>
                <a:tc>
                  <a:txBody>
                    <a:bodyPr wrap="square"/>
                    <a:lstStyle/>
                    <a:p>
                      <a:r>
                        <a:rPr sz="1100">
                          <a:solidFill>
                            <a:srgbClr val="1A2233"/>
                          </a:solidFill>
                          <a:latin typeface="Calibri"/>
                        </a:rPr>
                        <a:t>0.974</a:t>
                      </a:r>
                    </a:p>
                  </a:txBody>
                  <a:tcPr marL="54864" marR="54864" marT="22860" marB="22860" anchor="ctr">
                    <a:solidFill>
                      <a:srgbClr val="F3F5F9"/>
                    </a:solidFill>
                  </a:tcPr>
                </a:tc>
                <a:tc>
                  <a:txBody>
                    <a:bodyPr wrap="square"/>
                    <a:lstStyle/>
                    <a:p>
                      <a:r>
                        <a:rPr sz="1100">
                          <a:solidFill>
                            <a:srgbClr val="1A2233"/>
                          </a:solidFill>
                          <a:latin typeface="Calibri"/>
                        </a:rPr>
                        <a:t>88</a:t>
                      </a:r>
                    </a:p>
                  </a:txBody>
                  <a:tcPr marL="54864" marR="54864" marT="22860" marB="22860" anchor="ctr">
                    <a:solidFill>
                      <a:srgbClr val="F3F5F9"/>
                    </a:solidFill>
                  </a:tcPr>
                </a:tc>
              </a:tr>
              <a:tr h="420624">
                <a:tc>
                  <a:txBody>
                    <a:bodyPr wrap="square"/>
                    <a:lstStyle/>
                    <a:p>
                      <a:r>
                        <a:rPr sz="1100">
                          <a:solidFill>
                            <a:srgbClr val="1A2233"/>
                          </a:solidFill>
                          <a:latin typeface="Calibri"/>
                        </a:rPr>
                        <a:t>MJPEG q=5</a:t>
                      </a:r>
                    </a:p>
                  </a:txBody>
                  <a:tcPr marL="54864" marR="54864" marT="22860" marB="22860" anchor="ctr">
                    <a:solidFill>
                      <a:srgbClr val="FFFFFF"/>
                    </a:solidFill>
                  </a:tcPr>
                </a:tc>
                <a:tc>
                  <a:txBody>
                    <a:bodyPr wrap="square"/>
                    <a:lstStyle/>
                    <a:p>
                      <a:r>
                        <a:rPr sz="1100">
                          <a:solidFill>
                            <a:srgbClr val="1A2233"/>
                          </a:solidFill>
                          <a:latin typeface="Calibri"/>
                        </a:rPr>
                        <a:t>34.3</a:t>
                      </a:r>
                    </a:p>
                  </a:txBody>
                  <a:tcPr marL="54864" marR="54864" marT="22860" marB="22860" anchor="ctr">
                    <a:solidFill>
                      <a:srgbClr val="FFFFFF"/>
                    </a:solidFill>
                  </a:tcPr>
                </a:tc>
                <a:tc>
                  <a:txBody>
                    <a:bodyPr wrap="square"/>
                    <a:lstStyle/>
                    <a:p>
                      <a:r>
                        <a:rPr sz="1100">
                          <a:solidFill>
                            <a:srgbClr val="1A2233"/>
                          </a:solidFill>
                          <a:latin typeface="Calibri"/>
                        </a:rPr>
                        <a:t>0.979</a:t>
                      </a:r>
                    </a:p>
                  </a:txBody>
                  <a:tcPr marL="54864" marR="54864" marT="22860" marB="22860" anchor="ctr">
                    <a:solidFill>
                      <a:srgbClr val="FFFFFF"/>
                    </a:solidFill>
                  </a:tcPr>
                </a:tc>
                <a:tc>
                  <a:txBody>
                    <a:bodyPr wrap="square"/>
                    <a:lstStyle/>
                    <a:p>
                      <a:r>
                        <a:rPr sz="1100">
                          <a:solidFill>
                            <a:srgbClr val="1A2233"/>
                          </a:solidFill>
                          <a:latin typeface="Calibri"/>
                        </a:rPr>
                        <a:t>0.975</a:t>
                      </a:r>
                    </a:p>
                  </a:txBody>
                  <a:tcPr marL="54864" marR="54864" marT="22860" marB="22860" anchor="ctr">
                    <a:solidFill>
                      <a:srgbClr val="FFFFFF"/>
                    </a:solidFill>
                  </a:tcPr>
                </a:tc>
                <a:tc>
                  <a:txBody>
                    <a:bodyPr wrap="square"/>
                    <a:lstStyle/>
                    <a:p>
                      <a:r>
                        <a:rPr sz="1100">
                          <a:solidFill>
                            <a:srgbClr val="1A2233"/>
                          </a:solidFill>
                          <a:latin typeface="Calibri"/>
                        </a:rPr>
                        <a:t>1244</a:t>
                      </a:r>
                    </a:p>
                  </a:txBody>
                  <a:tcPr marL="54864" marR="54864" marT="22860" marB="22860" anchor="ctr">
                    <a:solidFill>
                      <a:srgbClr val="FFFFFF"/>
                    </a:solidFill>
                  </a:tcPr>
                </a:tc>
              </a:tr>
              <a:tr h="420624">
                <a:tc>
                  <a:txBody>
                    <a:bodyPr wrap="square"/>
                    <a:lstStyle/>
                    <a:p>
                      <a:r>
                        <a:rPr sz="1100">
                          <a:solidFill>
                            <a:srgbClr val="1A2233"/>
                          </a:solidFill>
                          <a:latin typeface="Calibri"/>
                        </a:rPr>
                        <a:t>MJPEG q=15</a:t>
                      </a:r>
                    </a:p>
                  </a:txBody>
                  <a:tcPr marL="54864" marR="54864" marT="22860" marB="22860" anchor="ctr">
                    <a:solidFill>
                      <a:srgbClr val="F3F5F9"/>
                    </a:solidFill>
                  </a:tcPr>
                </a:tc>
                <a:tc>
                  <a:txBody>
                    <a:bodyPr wrap="square"/>
                    <a:lstStyle/>
                    <a:p>
                      <a:r>
                        <a:rPr sz="1100">
                          <a:solidFill>
                            <a:srgbClr val="1A2233"/>
                          </a:solidFill>
                          <a:latin typeface="Calibri"/>
                        </a:rPr>
                        <a:t>32.3</a:t>
                      </a:r>
                    </a:p>
                  </a:txBody>
                  <a:tcPr marL="54864" marR="54864" marT="22860" marB="22860" anchor="ctr">
                    <a:solidFill>
                      <a:srgbClr val="F3F5F9"/>
                    </a:solidFill>
                  </a:tcPr>
                </a:tc>
                <a:tc>
                  <a:txBody>
                    <a:bodyPr wrap="square"/>
                    <a:lstStyle/>
                    <a:p>
                      <a:r>
                        <a:rPr sz="1100">
                          <a:solidFill>
                            <a:srgbClr val="1A2233"/>
                          </a:solidFill>
                          <a:latin typeface="Calibri"/>
                        </a:rPr>
                        <a:t>0.977</a:t>
                      </a:r>
                    </a:p>
                  </a:txBody>
                  <a:tcPr marL="54864" marR="54864" marT="22860" marB="22860" anchor="ctr">
                    <a:solidFill>
                      <a:srgbClr val="F3F5F9"/>
                    </a:solidFill>
                  </a:tcPr>
                </a:tc>
                <a:tc>
                  <a:txBody>
                    <a:bodyPr wrap="square"/>
                    <a:lstStyle/>
                    <a:p>
                      <a:r>
                        <a:rPr sz="1100">
                          <a:solidFill>
                            <a:srgbClr val="1A2233"/>
                          </a:solidFill>
                          <a:latin typeface="Calibri"/>
                        </a:rPr>
                        <a:t>0.972</a:t>
                      </a:r>
                    </a:p>
                  </a:txBody>
                  <a:tcPr marL="54864" marR="54864" marT="22860" marB="22860" anchor="ctr">
                    <a:solidFill>
                      <a:srgbClr val="F3F5F9"/>
                    </a:solidFill>
                  </a:tcPr>
                </a:tc>
                <a:tc>
                  <a:txBody>
                    <a:bodyPr wrap="square"/>
                    <a:lstStyle/>
                    <a:p>
                      <a:r>
                        <a:rPr sz="1100">
                          <a:solidFill>
                            <a:srgbClr val="1A2233"/>
                          </a:solidFill>
                          <a:latin typeface="Calibri"/>
                        </a:rPr>
                        <a:t>595</a:t>
                      </a:r>
                    </a:p>
                  </a:txBody>
                  <a:tcPr marL="54864" marR="54864" marT="22860" marB="22860" anchor="ctr">
                    <a:solidFill>
                      <a:srgbClr val="F3F5F9"/>
                    </a:solidFill>
                  </a:tcPr>
                </a:tc>
              </a:tr>
            </a:tbl>
          </a:graphicData>
        </a:graphic>
      </p:graphicFrame>
      <p:sp>
        <p:nvSpPr>
          <p:cNvPr id="9" name="Rounded Rectangle 8"/>
          <p:cNvSpPr/>
          <p:nvPr/>
        </p:nvSpPr>
        <p:spPr>
          <a:xfrm>
            <a:off x="7726679" y="1783080"/>
            <a:ext cx="1920240" cy="109728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874519"/>
            <a:ext cx="1645920" cy="603504"/>
          </a:xfrm>
          <a:prstGeom prst="rect">
            <a:avLst/>
          </a:prstGeom>
          <a:noFill/>
        </p:spPr>
        <p:txBody>
          <a:bodyPr wrap="square" lIns="36576" rIns="36576" tIns="18288" bIns="18288" anchor="ctr">
            <a:spAutoFit/>
          </a:bodyPr>
          <a:lstStyle/>
          <a:p>
            <a:r>
              <a:rPr b="1" sz="2800" i="0">
                <a:solidFill>
                  <a:srgbClr val="17B8B0"/>
                </a:solidFill>
                <a:latin typeface="Calibri"/>
              </a:rPr>
              <a:t>720</a:t>
            </a:r>
          </a:p>
        </p:txBody>
      </p:sp>
      <p:sp>
        <p:nvSpPr>
          <p:cNvPr id="11" name="TextBox 10"/>
          <p:cNvSpPr txBox="1"/>
          <p:nvPr/>
        </p:nvSpPr>
        <p:spPr>
          <a:xfrm>
            <a:off x="7863840" y="2419502"/>
            <a:ext cx="1645920" cy="438912"/>
          </a:xfrm>
          <a:prstGeom prst="rect">
            <a:avLst/>
          </a:prstGeom>
          <a:noFill/>
        </p:spPr>
        <p:txBody>
          <a:bodyPr wrap="square" lIns="36576" rIns="36576" tIns="18288" bIns="18288" anchor="t">
            <a:spAutoFit/>
          </a:bodyPr>
          <a:lstStyle/>
          <a:p>
            <a:r>
              <a:rPr b="0" sz="1050" i="0">
                <a:solidFill>
                  <a:srgbClr val="93A8C7"/>
                </a:solidFill>
                <a:latin typeface="Calibri"/>
              </a:rPr>
              <a:t>decoded frames, 0 failed</a:t>
            </a:r>
          </a:p>
        </p:txBody>
      </p:sp>
      <p:sp>
        <p:nvSpPr>
          <p:cNvPr id="12" name="Rounded Rectangle 11"/>
          <p:cNvSpPr/>
          <p:nvPr/>
        </p:nvSpPr>
        <p:spPr>
          <a:xfrm>
            <a:off x="9765792" y="1783080"/>
            <a:ext cx="1920240" cy="1097280"/>
          </a:xfrm>
          <a:prstGeom prst="roundRect">
            <a:avLst>
              <a:gd name="adj" fmla="val 8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2952" y="1874519"/>
            <a:ext cx="1645920" cy="603504"/>
          </a:xfrm>
          <a:prstGeom prst="rect">
            <a:avLst/>
          </a:prstGeom>
          <a:noFill/>
        </p:spPr>
        <p:txBody>
          <a:bodyPr wrap="square" lIns="36576" rIns="36576" tIns="18288" bIns="18288" anchor="ctr">
            <a:spAutoFit/>
          </a:bodyPr>
          <a:lstStyle/>
          <a:p>
            <a:r>
              <a:rPr b="1" sz="2800" i="0">
                <a:solidFill>
                  <a:srgbClr val="17B8B0"/>
                </a:solidFill>
                <a:latin typeface="Calibri"/>
              </a:rPr>
              <a:t>≥ 0.97</a:t>
            </a:r>
          </a:p>
        </p:txBody>
      </p:sp>
      <p:sp>
        <p:nvSpPr>
          <p:cNvPr id="14" name="TextBox 13"/>
          <p:cNvSpPr txBox="1"/>
          <p:nvPr/>
        </p:nvSpPr>
        <p:spPr>
          <a:xfrm>
            <a:off x="9902952" y="2419502"/>
            <a:ext cx="1645920" cy="438912"/>
          </a:xfrm>
          <a:prstGeom prst="rect">
            <a:avLst/>
          </a:prstGeom>
          <a:noFill/>
        </p:spPr>
        <p:txBody>
          <a:bodyPr wrap="square" lIns="36576" rIns="36576" tIns="18288" bIns="18288" anchor="t">
            <a:spAutoFit/>
          </a:bodyPr>
          <a:lstStyle/>
          <a:p>
            <a:r>
              <a:rPr b="0" sz="1050" i="0">
                <a:solidFill>
                  <a:srgbClr val="93A8C7"/>
                </a:solidFill>
                <a:latin typeface="Calibri"/>
              </a:rPr>
              <a:t>NC in every frame</a:t>
            </a:r>
          </a:p>
        </p:txBody>
      </p:sp>
      <p:sp>
        <p:nvSpPr>
          <p:cNvPr id="15" name="Rounded Rectangle 14"/>
          <p:cNvSpPr/>
          <p:nvPr/>
        </p:nvSpPr>
        <p:spPr>
          <a:xfrm>
            <a:off x="7726679" y="3063240"/>
            <a:ext cx="3959352" cy="246888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3154680"/>
            <a:ext cx="3685032" cy="320040"/>
          </a:xfrm>
          <a:prstGeom prst="rect">
            <a:avLst/>
          </a:prstGeom>
          <a:noFill/>
        </p:spPr>
        <p:txBody>
          <a:bodyPr wrap="square" lIns="36576" rIns="36576" tIns="18288" bIns="18288" anchor="t">
            <a:spAutoFit/>
          </a:bodyPr>
          <a:lstStyle/>
          <a:p>
            <a:r>
              <a:rPr b="1" sz="1250" i="0">
                <a:solidFill>
                  <a:srgbClr val="C1443C"/>
                </a:solidFill>
                <a:latin typeface="Calibri"/>
              </a:rPr>
              <a:t>Caveats</a:t>
            </a:r>
          </a:p>
        </p:txBody>
      </p:sp>
      <p:sp>
        <p:nvSpPr>
          <p:cNvPr id="17" name="TextBox 16"/>
          <p:cNvSpPr txBox="1"/>
          <p:nvPr/>
        </p:nvSpPr>
        <p:spPr>
          <a:xfrm>
            <a:off x="7836407" y="3520440"/>
            <a:ext cx="3730752" cy="1965960"/>
          </a:xfrm>
          <a:prstGeom prst="rect">
            <a:avLst/>
          </a:prstGeom>
          <a:noFill/>
        </p:spPr>
        <p:txBody>
          <a:bodyPr wrap="square" lIns="36576" rIns="36576">
            <a:spAutoFit/>
          </a:bodyPr>
          <a:lstStyle/>
          <a:p>
            <a:pPr>
              <a:spcAft>
                <a:spcPts val="300"/>
              </a:spcAft>
            </a:pPr>
            <a:r>
              <a:rPr sz="1200">
                <a:solidFill>
                  <a:srgbClr val="17B8B0"/>
                </a:solidFill>
                <a:latin typeface="Calibri"/>
              </a:rPr>
              <a:t>▪  </a:t>
            </a:r>
            <a:r>
              <a:rPr sz="1200">
                <a:solidFill>
                  <a:srgbClr val="1A2233"/>
                </a:solidFill>
                <a:latin typeface="Calibri"/>
              </a:rPr>
              <a:t>2 clips × 60 frames — small</a:t>
            </a:r>
          </a:p>
          <a:p>
            <a:pPr>
              <a:spcAft>
                <a:spcPts val="300"/>
              </a:spcAft>
            </a:pPr>
            <a:r>
              <a:rPr sz="1200">
                <a:solidFill>
                  <a:srgbClr val="17B8B0"/>
                </a:solidFill>
                <a:latin typeface="Calibri"/>
              </a:rPr>
              <a:t>▪  </a:t>
            </a:r>
            <a:r>
              <a:rPr sz="1200">
                <a:solidFill>
                  <a:srgbClr val="1A2233"/>
                </a:solidFill>
                <a:latin typeface="Calibri"/>
              </a:rPr>
              <a:t>one </a:t>
            </a:r>
            <a:r>
              <a:rPr b="1" sz="1200">
                <a:solidFill>
                  <a:srgbClr val="1A2233"/>
                </a:solidFill>
                <a:latin typeface="Calibri"/>
              </a:rPr>
              <a:t>key per frame</a:t>
            </a:r>
            <a:r>
              <a:rPr sz="1200">
                <a:solidFill>
                  <a:srgbClr val="1A2233"/>
                </a:solidFill>
                <a:latin typeface="Calibri"/>
              </a:rPr>
              <a:t> (≈ 2 MB)</a:t>
            </a:r>
          </a:p>
          <a:p>
            <a:pPr>
              <a:spcAft>
                <a:spcPts val="300"/>
              </a:spcAft>
            </a:pPr>
            <a:r>
              <a:rPr sz="1200">
                <a:solidFill>
                  <a:srgbClr val="17B8B0"/>
                </a:solidFill>
                <a:latin typeface="Calibri"/>
              </a:rPr>
              <a:t>▪  </a:t>
            </a:r>
            <a:r>
              <a:rPr sz="1200">
                <a:solidFill>
                  <a:srgbClr val="1A2233"/>
                </a:solidFill>
                <a:latin typeface="Calibri"/>
              </a:rPr>
              <a:t>no frame dropping, re-timing, colour or hardware codecs</a:t>
            </a:r>
          </a:p>
          <a:p>
            <a:pPr>
              <a:spcAft>
                <a:spcPts val="300"/>
              </a:spcAft>
            </a:pPr>
            <a:r>
              <a:rPr sz="1200">
                <a:solidFill>
                  <a:srgbClr val="17B8B0"/>
                </a:solidFill>
                <a:latin typeface="Calibri"/>
              </a:rPr>
              <a:t>▪  </a:t>
            </a:r>
            <a:r>
              <a:rPr sz="1200">
                <a:solidFill>
                  <a:srgbClr val="1A2233"/>
                </a:solidFill>
                <a:latin typeface="Calibri"/>
              </a:rPr>
              <a:t>naive frame-drop still NC 0.97 (similar neighbours)</a:t>
            </a:r>
          </a:p>
        </p:txBody>
      </p:sp>
      <p:sp>
        <p:nvSpPr>
          <p:cNvPr id="18" name="TextBox 17"/>
          <p:cNvSpPr txBox="1"/>
          <p:nvPr/>
        </p:nvSpPr>
        <p:spPr>
          <a:xfrm>
            <a:off x="502920" y="4892040"/>
            <a:ext cx="6949440" cy="914400"/>
          </a:xfrm>
          <a:prstGeom prst="rect">
            <a:avLst/>
          </a:prstGeom>
          <a:noFill/>
        </p:spPr>
        <p:txBody>
          <a:bodyPr wrap="square" lIns="36576" rIns="36576" tIns="18288" bIns="18288" anchor="t">
            <a:spAutoFit/>
          </a:bodyPr>
          <a:lstStyle/>
          <a:p>
            <a:r>
              <a:rPr b="0" sz="1100" i="0">
                <a:solidFill>
                  <a:srgbClr val="667085"/>
                </a:solidFill>
                <a:latin typeface="Calibri"/>
              </a:rPr>
              <a:t>Embedding ≈ 32–41 ms per 512² frame on one core (≈ 24–31 frames/s) · clips: </a:t>
            </a:r>
            <a:r>
              <a:rPr b="0" sz="1000">
                <a:solidFill>
                  <a:srgbClr val="667085"/>
                </a:solidFill>
                <a:latin typeface="Consolas"/>
              </a:rPr>
              <a:t>vtest.avi</a:t>
            </a:r>
            <a:r>
              <a:rPr b="0" sz="1100" i="0">
                <a:solidFill>
                  <a:srgbClr val="667085"/>
                </a:solidFill>
                <a:latin typeface="Calibri"/>
              </a:rPr>
              <a:t> (768×576), </a:t>
            </a:r>
            <a:r>
              <a:rPr b="0" sz="1000">
                <a:solidFill>
                  <a:srgbClr val="667085"/>
                </a:solidFill>
                <a:latin typeface="Consolas"/>
              </a:rPr>
              <a:t>Megamind.avi</a:t>
            </a:r>
            <a:r>
              <a:rPr b="0" sz="1100" i="0">
                <a:solidFill>
                  <a:srgbClr val="667085"/>
                </a:solidFill>
                <a:latin typeface="Calibri"/>
              </a:rPr>
              <a:t> (720×528) from the OpenCV sample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20</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CLAIMS VERSUS EVIDENCE</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What held up and what did not: ten claims of the first submission checked at n = 100</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20</a:t>
            </a:r>
          </a:p>
        </p:txBody>
      </p:sp>
      <p:graphicFrame>
        <p:nvGraphicFramePr>
          <p:cNvPr id="8" name="Table 7"/>
          <p:cNvGraphicFramePr>
            <a:graphicFrameLocks noGrp="1"/>
          </p:cNvGraphicFramePr>
          <p:nvPr/>
        </p:nvGraphicFramePr>
        <p:xfrm>
          <a:off x="502920" y="1737360"/>
          <a:ext cx="11183110" cy="4526280"/>
        </p:xfrm>
        <a:graphic>
          <a:graphicData uri="http://schemas.openxmlformats.org/drawingml/2006/table">
            <a:tbl>
              <a:tblPr firstRow="1" bandRow="1">
                <a:tableStyleId>{5C22544A-7EE6-4342-B048-85BDC9FD1C3A}</a:tableStyleId>
              </a:tblPr>
              <a:tblGrid>
                <a:gridCol w="4033253"/>
                <a:gridCol w="5133231"/>
                <a:gridCol w="2016626"/>
              </a:tblGrid>
              <a:tr h="411480">
                <a:tc>
                  <a:txBody>
                    <a:bodyPr wrap="square"/>
                    <a:lstStyle/>
                    <a:p>
                      <a:r>
                        <a:rPr sz="1200" b="1">
                          <a:solidFill>
                            <a:srgbClr val="FFFFFF"/>
                          </a:solidFill>
                          <a:latin typeface="Calibri"/>
                        </a:rPr>
                        <a:t>First submission</a:t>
                      </a:r>
                    </a:p>
                  </a:txBody>
                  <a:tcPr marL="54864" marR="54864" marT="22860" marB="22860" anchor="ctr">
                    <a:solidFill>
                      <a:srgbClr val="132347"/>
                    </a:solidFill>
                  </a:tcPr>
                </a:tc>
                <a:tc>
                  <a:txBody>
                    <a:bodyPr wrap="square"/>
                    <a:lstStyle/>
                    <a:p>
                      <a:r>
                        <a:rPr sz="1200" b="1">
                          <a:solidFill>
                            <a:srgbClr val="FFFFFF"/>
                          </a:solidFill>
                          <a:latin typeface="Calibri"/>
                        </a:rPr>
                        <a:t>This evaluation (100 images)</a:t>
                      </a:r>
                    </a:p>
                  </a:txBody>
                  <a:tcPr marL="54864" marR="54864" marT="22860" marB="22860" anchor="ctr">
                    <a:solidFill>
                      <a:srgbClr val="132347"/>
                    </a:solidFill>
                  </a:tcPr>
                </a:tc>
                <a:tc>
                  <a:txBody>
                    <a:bodyPr wrap="square"/>
                    <a:lstStyle/>
                    <a:p>
                      <a:r>
                        <a:rPr sz="1200" b="1">
                          <a:solidFill>
                            <a:srgbClr val="FFFFFF"/>
                          </a:solidFill>
                          <a:latin typeface="Calibri"/>
                        </a:rPr>
                        <a:t>Verdict</a:t>
                      </a:r>
                    </a:p>
                  </a:txBody>
                  <a:tcPr marL="54864" marR="54864" marT="22860" marB="22860" anchor="ctr">
                    <a:solidFill>
                      <a:srgbClr val="132347"/>
                    </a:solidFill>
                  </a:tcPr>
                </a:tc>
              </a:tr>
              <a:tr h="411480">
                <a:tc>
                  <a:txBody>
                    <a:bodyPr wrap="square"/>
                    <a:lstStyle/>
                    <a:p>
                      <a:r>
                        <a:rPr sz="1200">
                          <a:solidFill>
                            <a:srgbClr val="1A2233"/>
                          </a:solidFill>
                          <a:latin typeface="Calibri"/>
                        </a:rPr>
                        <a:t>PSNR 35.6 dB / SSIM 0.996 (2 images)</a:t>
                      </a:r>
                    </a:p>
                  </a:txBody>
                  <a:tcPr marL="54864" marR="54864" marT="22860" marB="22860" anchor="ctr">
                    <a:solidFill>
                      <a:srgbClr val="FFFFFF"/>
                    </a:solidFill>
                  </a:tcPr>
                </a:tc>
                <a:tc>
                  <a:txBody>
                    <a:bodyPr wrap="square"/>
                    <a:lstStyle/>
                    <a:p>
                      <a:r>
                        <a:rPr sz="1200">
                          <a:solidFill>
                            <a:srgbClr val="1A2233"/>
                          </a:solidFill>
                          <a:latin typeface="Calibri"/>
                        </a:rPr>
                        <a:t>36.0 dB / 0.992; 3 images &lt; 0.98</a:t>
                      </a:r>
                    </a:p>
                  </a:txBody>
                  <a:tcPr marL="54864" marR="54864" marT="22860" marB="22860" anchor="ctr">
                    <a:solidFill>
                      <a:srgbClr val="FFFFFF"/>
                    </a:solidFill>
                  </a:tcPr>
                </a:tc>
                <a:tc>
                  <a:txBody>
                    <a:bodyPr wrap="square"/>
                    <a:lstStyle/>
                    <a:p>
                      <a:r>
                        <a:rPr sz="1200">
                          <a:solidFill>
                            <a:srgbClr val="1A2233"/>
                          </a:solidFill>
                          <a:latin typeface="Calibri"/>
                        </a:rPr>
                        <a:t>✓ with exceptions</a:t>
                      </a:r>
                    </a:p>
                  </a:txBody>
                  <a:tcPr marL="54864" marR="54864" marT="22860" marB="22860" anchor="ctr">
                    <a:solidFill>
                      <a:srgbClr val="FFFFFF"/>
                    </a:solidFill>
                  </a:tcPr>
                </a:tc>
              </a:tr>
              <a:tr h="411480">
                <a:tc>
                  <a:txBody>
                    <a:bodyPr wrap="square"/>
                    <a:lstStyle/>
                    <a:p>
                      <a:r>
                        <a:rPr sz="1200">
                          <a:solidFill>
                            <a:srgbClr val="1A2233"/>
                          </a:solidFill>
                          <a:latin typeface="Calibri"/>
                        </a:rPr>
                        <a:t>25 / 30 trials ≥ 0.75</a:t>
                      </a:r>
                    </a:p>
                  </a:txBody>
                  <a:tcPr marL="54864" marR="54864" marT="22860" marB="22860" anchor="ctr">
                    <a:solidFill>
                      <a:srgbClr val="F3F5F9"/>
                    </a:solidFill>
                  </a:tcPr>
                </a:tc>
                <a:tc>
                  <a:txBody>
                    <a:bodyPr wrap="square"/>
                    <a:lstStyle/>
                    <a:p>
                      <a:r>
                        <a:rPr sz="1200">
                          <a:solidFill>
                            <a:srgbClr val="1A2233"/>
                          </a:solidFill>
                          <a:latin typeface="Calibri"/>
                        </a:rPr>
                        <a:t>1277 / 1500 (85.1 %); attacks only 84.1 %</a:t>
                      </a:r>
                    </a:p>
                  </a:txBody>
                  <a:tcPr marL="54864" marR="54864" marT="22860" marB="22860" anchor="ctr">
                    <a:solidFill>
                      <a:srgbClr val="F3F5F9"/>
                    </a:solidFill>
                  </a:tcPr>
                </a:tc>
                <a:tc>
                  <a:txBody>
                    <a:bodyPr wrap="square"/>
                    <a:lstStyle/>
                    <a:p>
                      <a:r>
                        <a:rPr sz="1200">
                          <a:solidFill>
                            <a:srgbClr val="1A2233"/>
                          </a:solidFill>
                          <a:latin typeface="Calibri"/>
                        </a:rPr>
                        <a:t>✓</a:t>
                      </a:r>
                    </a:p>
                  </a:txBody>
                  <a:tcPr marL="54864" marR="54864" marT="22860" marB="22860" anchor="ctr">
                    <a:solidFill>
                      <a:srgbClr val="F3F5F9"/>
                    </a:solidFill>
                  </a:tcPr>
                </a:tc>
              </a:tr>
              <a:tr h="411480">
                <a:tc>
                  <a:txBody>
                    <a:bodyPr wrap="square"/>
                    <a:lstStyle/>
                    <a:p>
                      <a:r>
                        <a:rPr sz="1200">
                          <a:solidFill>
                            <a:srgbClr val="1A2233"/>
                          </a:solidFill>
                          <a:latin typeface="Calibri"/>
                        </a:rPr>
                        <a:t>JPEG: NC &gt; 0.97</a:t>
                      </a:r>
                    </a:p>
                  </a:txBody>
                  <a:tcPr marL="54864" marR="54864" marT="22860" marB="22860" anchor="ctr">
                    <a:solidFill>
                      <a:srgbClr val="FFFFFF"/>
                    </a:solidFill>
                  </a:tcPr>
                </a:tc>
                <a:tc>
                  <a:txBody>
                    <a:bodyPr wrap="square"/>
                    <a:lstStyle/>
                    <a:p>
                      <a:r>
                        <a:rPr sz="1200">
                          <a:solidFill>
                            <a:srgbClr val="1A2233"/>
                          </a:solidFill>
                          <a:latin typeface="Calibri"/>
                        </a:rPr>
                        <a:t>0.977 / 0.975 / 0.956 (Q 90/50/20)</a:t>
                      </a:r>
                    </a:p>
                  </a:txBody>
                  <a:tcPr marL="54864" marR="54864" marT="22860" marB="22860" anchor="ctr">
                    <a:solidFill>
                      <a:srgbClr val="FFFFFF"/>
                    </a:solidFill>
                  </a:tcPr>
                </a:tc>
                <a:tc>
                  <a:txBody>
                    <a:bodyPr wrap="square"/>
                    <a:lstStyle/>
                    <a:p>
                      <a:r>
                        <a:rPr sz="1200">
                          <a:solidFill>
                            <a:srgbClr val="1A2233"/>
                          </a:solidFill>
                          <a:latin typeface="Calibri"/>
                        </a:rPr>
                        <a:t>✓ (Q ≥ 50)</a:t>
                      </a:r>
                    </a:p>
                  </a:txBody>
                  <a:tcPr marL="54864" marR="54864" marT="22860" marB="22860" anchor="ctr">
                    <a:solidFill>
                      <a:srgbClr val="FFFFFF"/>
                    </a:solidFill>
                  </a:tcPr>
                </a:tc>
              </a:tr>
              <a:tr h="411480">
                <a:tc>
                  <a:txBody>
                    <a:bodyPr wrap="square"/>
                    <a:lstStyle/>
                    <a:p>
                      <a:r>
                        <a:rPr sz="1200">
                          <a:solidFill>
                            <a:srgbClr val="1A2233"/>
                          </a:solidFill>
                          <a:latin typeface="Calibri"/>
                        </a:rPr>
                        <a:t>Rotation/scaling NC &gt; 0.93</a:t>
                      </a:r>
                    </a:p>
                  </a:txBody>
                  <a:tcPr marL="54864" marR="54864" marT="22860" marB="22860" anchor="ctr">
                    <a:solidFill>
                      <a:srgbClr val="F3F5F9"/>
                    </a:solidFill>
                  </a:tcPr>
                </a:tc>
                <a:tc>
                  <a:txBody>
                    <a:bodyPr wrap="square"/>
                    <a:lstStyle/>
                    <a:p>
                      <a:r>
                        <a:rPr sz="1200">
                          <a:solidFill>
                            <a:srgbClr val="1A2233"/>
                          </a:solidFill>
                          <a:latin typeface="Calibri"/>
                        </a:rPr>
                        <a:t>scaling 0.938; rotation 5° 0.880</a:t>
                      </a:r>
                    </a:p>
                  </a:txBody>
                  <a:tcPr marL="54864" marR="54864" marT="22860" marB="22860" anchor="ctr">
                    <a:solidFill>
                      <a:srgbClr val="F3F5F9"/>
                    </a:solidFill>
                  </a:tcPr>
                </a:tc>
                <a:tc>
                  <a:txBody>
                    <a:bodyPr wrap="square"/>
                    <a:lstStyle/>
                    <a:p>
                      <a:r>
                        <a:rPr sz="1200">
                          <a:solidFill>
                            <a:srgbClr val="1A2233"/>
                          </a:solidFill>
                          <a:latin typeface="Calibri"/>
                        </a:rPr>
                        <a:t>scaling ✓ · rotation ✗</a:t>
                      </a:r>
                    </a:p>
                  </a:txBody>
                  <a:tcPr marL="54864" marR="54864" marT="22860" marB="22860" anchor="ctr">
                    <a:solidFill>
                      <a:srgbClr val="F3F5F9"/>
                    </a:solidFill>
                  </a:tcPr>
                </a:tc>
              </a:tr>
              <a:tr h="411480">
                <a:tc>
                  <a:txBody>
                    <a:bodyPr wrap="square"/>
                    <a:lstStyle/>
                    <a:p>
                      <a:r>
                        <a:rPr sz="1200">
                          <a:solidFill>
                            <a:srgbClr val="1A2233"/>
                          </a:solidFill>
                          <a:latin typeface="Calibri"/>
                        </a:rPr>
                        <a:t>Cropping fails; hist-eq 0.10 / 0.66</a:t>
                      </a:r>
                    </a:p>
                  </a:txBody>
                  <a:tcPr marL="54864" marR="54864" marT="22860" marB="22860" anchor="ctr">
                    <a:solidFill>
                      <a:srgbClr val="FFFFFF"/>
                    </a:solidFill>
                  </a:tcPr>
                </a:tc>
                <a:tc>
                  <a:txBody>
                    <a:bodyPr wrap="square"/>
                    <a:lstStyle/>
                    <a:p>
                      <a:r>
                        <a:rPr sz="1200">
                          <a:solidFill>
                            <a:srgbClr val="1A2233"/>
                          </a:solidFill>
                          <a:latin typeface="Calibri"/>
                        </a:rPr>
                        <a:t>pass 1 %; hist-eq mean 0.644 (44 % pass)</a:t>
                      </a:r>
                    </a:p>
                  </a:txBody>
                  <a:tcPr marL="54864" marR="54864" marT="22860" marB="22860" anchor="ctr">
                    <a:solidFill>
                      <a:srgbClr val="FFFFFF"/>
                    </a:solidFill>
                  </a:tcPr>
                </a:tc>
                <a:tc>
                  <a:txBody>
                    <a:bodyPr wrap="square"/>
                    <a:lstStyle/>
                    <a:p>
                      <a:r>
                        <a:rPr sz="1200">
                          <a:solidFill>
                            <a:srgbClr val="1A2233"/>
                          </a:solidFill>
                          <a:latin typeface="Calibri"/>
                        </a:rPr>
                        <a:t>✓ (hist-eq varies)</a:t>
                      </a:r>
                    </a:p>
                  </a:txBody>
                  <a:tcPr marL="54864" marR="54864" marT="22860" marB="22860" anchor="ctr">
                    <a:solidFill>
                      <a:srgbClr val="FFFFFF"/>
                    </a:solidFill>
                  </a:tcPr>
                </a:tc>
              </a:tr>
              <a:tr h="411480">
                <a:tc>
                  <a:txBody>
                    <a:bodyPr wrap="square"/>
                    <a:lstStyle/>
                    <a:p>
                      <a:r>
                        <a:rPr sz="1200">
                          <a:solidFill>
                            <a:srgbClr val="1A2233"/>
                          </a:solidFill>
                          <a:latin typeface="Calibri"/>
                        </a:rPr>
                        <a:t>Robustness rises with α (JPEG)</a:t>
                      </a:r>
                    </a:p>
                  </a:txBody>
                  <a:tcPr marL="54864" marR="54864" marT="22860" marB="22860" anchor="ctr">
                    <a:solidFill>
                      <a:srgbClr val="F3F5F9"/>
                    </a:solidFill>
                  </a:tcPr>
                </a:tc>
                <a:tc>
                  <a:txBody>
                    <a:bodyPr wrap="square"/>
                    <a:lstStyle/>
                    <a:p>
                      <a:r>
                        <a:rPr sz="1200">
                          <a:solidFill>
                            <a:srgbClr val="1A2233"/>
                          </a:solidFill>
                          <a:latin typeface="Calibri"/>
                        </a:rPr>
                        <a:t>flat 0.960 → 0.973</a:t>
                      </a:r>
                    </a:p>
                  </a:txBody>
                  <a:tcPr marL="54864" marR="54864" marT="22860" marB="22860" anchor="ctr">
                    <a:solidFill>
                      <a:srgbClr val="F3F5F9"/>
                    </a:solidFill>
                  </a:tcPr>
                </a:tc>
                <a:tc>
                  <a:txBody>
                    <a:bodyPr wrap="square"/>
                    <a:lstStyle/>
                    <a:p>
                      <a:r>
                        <a:rPr sz="1200">
                          <a:solidFill>
                            <a:srgbClr val="1A2233"/>
                          </a:solidFill>
                          <a:latin typeface="Calibri"/>
                        </a:rPr>
                        <a:t>✗ artefact</a:t>
                      </a:r>
                    </a:p>
                  </a:txBody>
                  <a:tcPr marL="54864" marR="54864" marT="22860" marB="22860" anchor="ctr">
                    <a:solidFill>
                      <a:srgbClr val="F3F5F9"/>
                    </a:solidFill>
                  </a:tcPr>
                </a:tc>
              </a:tr>
              <a:tr h="411480">
                <a:tc>
                  <a:txBody>
                    <a:bodyPr wrap="square"/>
                    <a:lstStyle/>
                    <a:p>
                      <a:r>
                        <a:rPr sz="1200">
                          <a:solidFill>
                            <a:srgbClr val="1A2233"/>
                          </a:solidFill>
                          <a:latin typeface="Calibri"/>
                        </a:rPr>
                        <a:t>"Block DCT", "semi-blind"</a:t>
                      </a:r>
                    </a:p>
                  </a:txBody>
                  <a:tcPr marL="54864" marR="54864" marT="22860" marB="22860" anchor="ctr">
                    <a:solidFill>
                      <a:srgbClr val="FFFFFF"/>
                    </a:solidFill>
                  </a:tcPr>
                </a:tc>
                <a:tc>
                  <a:txBody>
                    <a:bodyPr wrap="square"/>
                    <a:lstStyle/>
                    <a:p>
                      <a:r>
                        <a:rPr sz="1200">
                          <a:solidFill>
                            <a:srgbClr val="1A2233"/>
                          </a:solidFill>
                          <a:latin typeface="Calibri"/>
                        </a:rPr>
                        <a:t>global DCT, non-blind</a:t>
                      </a:r>
                    </a:p>
                  </a:txBody>
                  <a:tcPr marL="54864" marR="54864" marT="22860" marB="22860" anchor="ctr">
                    <a:solidFill>
                      <a:srgbClr val="FFFFFF"/>
                    </a:solidFill>
                  </a:tcPr>
                </a:tc>
                <a:tc>
                  <a:txBody>
                    <a:bodyPr wrap="square"/>
                    <a:lstStyle/>
                    <a:p>
                      <a:r>
                        <a:rPr sz="1200">
                          <a:solidFill>
                            <a:srgbClr val="1A2233"/>
                          </a:solidFill>
                          <a:latin typeface="Calibri"/>
                        </a:rPr>
                        <a:t>corrected</a:t>
                      </a:r>
                    </a:p>
                  </a:txBody>
                  <a:tcPr marL="54864" marR="54864" marT="22860" marB="22860" anchor="ctr">
                    <a:solidFill>
                      <a:srgbClr val="FFFFFF"/>
                    </a:solidFill>
                  </a:tcPr>
                </a:tc>
              </a:tr>
              <a:tr h="411480">
                <a:tc>
                  <a:txBody>
                    <a:bodyPr wrap="square"/>
                    <a:lstStyle/>
                    <a:p>
                      <a:r>
                        <a:rPr sz="1200">
                          <a:solidFill>
                            <a:srgbClr val="1A2233"/>
                          </a:solidFill>
                          <a:latin typeface="Calibri"/>
                        </a:rPr>
                        <a:t>"Fifteen attacks"</a:t>
                      </a:r>
                    </a:p>
                  </a:txBody>
                  <a:tcPr marL="54864" marR="54864" marT="22860" marB="22860" anchor="ctr">
                    <a:solidFill>
                      <a:srgbClr val="F3F5F9"/>
                    </a:solidFill>
                  </a:tcPr>
                </a:tc>
                <a:tc>
                  <a:txBody>
                    <a:bodyPr wrap="square"/>
                    <a:lstStyle/>
                    <a:p>
                      <a:r>
                        <a:rPr sz="1200">
                          <a:solidFill>
                            <a:srgbClr val="1A2233"/>
                          </a:solidFill>
                          <a:latin typeface="Calibri"/>
                        </a:rPr>
                        <a:t>14 attacks + the unattacked reference</a:t>
                      </a:r>
                    </a:p>
                  </a:txBody>
                  <a:tcPr marL="54864" marR="54864" marT="22860" marB="22860" anchor="ctr">
                    <a:solidFill>
                      <a:srgbClr val="F3F5F9"/>
                    </a:solidFill>
                  </a:tcPr>
                </a:tc>
                <a:tc>
                  <a:txBody>
                    <a:bodyPr wrap="square"/>
                    <a:lstStyle/>
                    <a:p>
                      <a:r>
                        <a:rPr sz="1200">
                          <a:solidFill>
                            <a:srgbClr val="1A2233"/>
                          </a:solidFill>
                          <a:latin typeface="Calibri"/>
                        </a:rPr>
                        <a:t>corrected</a:t>
                      </a:r>
                    </a:p>
                  </a:txBody>
                  <a:tcPr marL="54864" marR="54864" marT="22860" marB="22860" anchor="ctr">
                    <a:solidFill>
                      <a:srgbClr val="F3F5F9"/>
                    </a:solidFill>
                  </a:tcPr>
                </a:tc>
              </a:tr>
              <a:tr h="411480">
                <a:tc>
                  <a:txBody>
                    <a:bodyPr wrap="square"/>
                    <a:lstStyle/>
                    <a:p>
                      <a:r>
                        <a:rPr sz="1200">
                          <a:solidFill>
                            <a:srgbClr val="1A2233"/>
                          </a:solidFill>
                          <a:latin typeface="Calibri"/>
                        </a:rPr>
                        <a:t>Extraction proves ownership</a:t>
                      </a:r>
                    </a:p>
                  </a:txBody>
                  <a:tcPr marL="54864" marR="54864" marT="22860" marB="22860" anchor="ctr">
                    <a:solidFill>
                      <a:srgbClr val="FFFFFF"/>
                    </a:solidFill>
                  </a:tcPr>
                </a:tc>
                <a:tc>
                  <a:txBody>
                    <a:bodyPr wrap="square"/>
                    <a:lstStyle/>
                    <a:p>
                      <a:r>
                        <a:rPr sz="1200">
                          <a:solidFill>
                            <a:srgbClr val="1A2233"/>
                          </a:solidFill>
                          <a:latin typeface="Calibri"/>
                        </a:rPr>
                        <a:t>wrong logo decoded at NC 0.975</a:t>
                      </a:r>
                    </a:p>
                  </a:txBody>
                  <a:tcPr marL="54864" marR="54864" marT="22860" marB="22860" anchor="ctr">
                    <a:solidFill>
                      <a:srgbClr val="FFFFFF"/>
                    </a:solidFill>
                  </a:tcPr>
                </a:tc>
                <a:tc>
                  <a:txBody>
                    <a:bodyPr wrap="square"/>
                    <a:lstStyle/>
                    <a:p>
                      <a:r>
                        <a:rPr sz="1200">
                          <a:solidFill>
                            <a:srgbClr val="1A2233"/>
                          </a:solidFill>
                          <a:latin typeface="Calibri"/>
                        </a:rPr>
                        <a:t>✗ </a:t>
                      </a:r>
                      <a:r>
                        <a:rPr b="1" sz="1200">
                          <a:solidFill>
                            <a:srgbClr val="1A2233"/>
                          </a:solidFill>
                          <a:latin typeface="Calibri"/>
                        </a:rPr>
                        <a:t>not supported</a:t>
                      </a:r>
                    </a:p>
                  </a:txBody>
                  <a:tcPr marL="54864" marR="54864" marT="22860" marB="22860" anchor="ctr">
                    <a:solidFill>
                      <a:srgbClr val="FFFFFF"/>
                    </a:solidFill>
                  </a:tcPr>
                </a:tc>
              </a:tr>
              <a:tr h="411480">
                <a:tc>
                  <a:txBody>
                    <a:bodyPr wrap="square"/>
                    <a:lstStyle/>
                    <a:p>
                      <a:r>
                        <a:rPr sz="1200">
                          <a:solidFill>
                            <a:srgbClr val="1A2233"/>
                          </a:solidFill>
                          <a:latin typeface="Calibri"/>
                        </a:rPr>
                        <a:t>Hybrids beat single transforms</a:t>
                      </a:r>
                    </a:p>
                  </a:txBody>
                  <a:tcPr marL="54864" marR="54864" marT="22860" marB="22860" anchor="ctr">
                    <a:solidFill>
                      <a:srgbClr val="F3F5F9"/>
                    </a:solidFill>
                  </a:tcPr>
                </a:tc>
                <a:tc>
                  <a:txBody>
                    <a:bodyPr wrap="square"/>
                    <a:lstStyle/>
                    <a:p>
                      <a:r>
                        <a:rPr sz="1200">
                          <a:solidFill>
                            <a:srgbClr val="1A2233"/>
                          </a:solidFill>
                          <a:latin typeface="Calibri"/>
                        </a:rPr>
                        <a:t>not tested; blind-watermark beats the project</a:t>
                      </a:r>
                    </a:p>
                  </a:txBody>
                  <a:tcPr marL="54864" marR="54864" marT="22860" marB="22860" anchor="ctr">
                    <a:solidFill>
                      <a:srgbClr val="F3F5F9"/>
                    </a:solidFill>
                  </a:tcPr>
                </a:tc>
                <a:tc>
                  <a:txBody>
                    <a:bodyPr wrap="square"/>
                    <a:lstStyle/>
                    <a:p>
                      <a:r>
                        <a:rPr sz="1200">
                          <a:solidFill>
                            <a:srgbClr val="1A2233"/>
                          </a:solidFill>
                          <a:latin typeface="Calibri"/>
                        </a:rPr>
                        <a:t>unverified</a:t>
                      </a:r>
                    </a:p>
                  </a:txBody>
                  <a:tcPr marL="54864" marR="54864" marT="22860" marB="22860" anchor="ctr">
                    <a:solidFill>
                      <a:srgbClr val="F3F5F9"/>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21</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IMPLEMENTATION · QUALITY · REPRODUCIBILITY</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Tested, seeded and logged: 43 tests, zero failures, identical re-runs</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21</a:t>
            </a:r>
          </a:p>
        </p:txBody>
      </p:sp>
      <p:sp>
        <p:nvSpPr>
          <p:cNvPr id="8" name="Rounded Rectangle 7"/>
          <p:cNvSpPr/>
          <p:nvPr/>
        </p:nvSpPr>
        <p:spPr>
          <a:xfrm>
            <a:off x="502920" y="1783080"/>
            <a:ext cx="3657600" cy="274320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3383280" cy="320040"/>
          </a:xfrm>
          <a:prstGeom prst="rect">
            <a:avLst/>
          </a:prstGeom>
          <a:noFill/>
        </p:spPr>
        <p:txBody>
          <a:bodyPr wrap="square" lIns="36576" rIns="36576" tIns="18288" bIns="18288" anchor="t">
            <a:spAutoFit/>
          </a:bodyPr>
          <a:lstStyle/>
          <a:p>
            <a:r>
              <a:rPr b="1" sz="1250" i="0">
                <a:solidFill>
                  <a:srgbClr val="132347"/>
                </a:solidFill>
                <a:latin typeface="Calibri"/>
              </a:rPr>
              <a:t>Engineering</a:t>
            </a:r>
          </a:p>
        </p:txBody>
      </p:sp>
      <p:sp>
        <p:nvSpPr>
          <p:cNvPr id="10" name="TextBox 9"/>
          <p:cNvSpPr txBox="1"/>
          <p:nvPr/>
        </p:nvSpPr>
        <p:spPr>
          <a:xfrm>
            <a:off x="612648" y="2240280"/>
            <a:ext cx="3429000" cy="2240280"/>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numerics of </a:t>
            </a:r>
            <a:r>
              <a:rPr sz="1150">
                <a:solidFill>
                  <a:srgbClr val="0E8F89"/>
                </a:solidFill>
                <a:latin typeface="Consolas"/>
              </a:rPr>
              <a:t>embed/extract_watermark</a:t>
            </a:r>
            <a:r>
              <a:rPr sz="1250">
                <a:solidFill>
                  <a:srgbClr val="1A2233"/>
                </a:solidFill>
                <a:latin typeface="Calibri"/>
              </a:rPr>
              <a:t> unchanged</a:t>
            </a:r>
          </a:p>
          <a:p>
            <a:pPr>
              <a:spcAft>
                <a:spcPts val="300"/>
              </a:spcAft>
            </a:pPr>
            <a:r>
              <a:rPr sz="1250">
                <a:solidFill>
                  <a:srgbClr val="17B8B0"/>
                </a:solidFill>
                <a:latin typeface="Calibri"/>
              </a:rPr>
              <a:t>▪  </a:t>
            </a:r>
            <a:r>
              <a:rPr sz="1250">
                <a:solidFill>
                  <a:srgbClr val="1A2233"/>
                </a:solidFill>
                <a:latin typeface="Calibri"/>
              </a:rPr>
              <a:t>validation: 2-D, finite, size, α &gt; 0</a:t>
            </a:r>
          </a:p>
          <a:p>
            <a:pPr>
              <a:spcAft>
                <a:spcPts val="300"/>
              </a:spcAft>
            </a:pPr>
            <a:r>
              <a:rPr sz="1250">
                <a:solidFill>
                  <a:srgbClr val="17B8B0"/>
                </a:solidFill>
                <a:latin typeface="Calibri"/>
              </a:rPr>
              <a:t>▪  </a:t>
            </a:r>
            <a:r>
              <a:rPr sz="1150">
                <a:solidFill>
                  <a:srgbClr val="0E8F89"/>
                </a:solidFill>
                <a:latin typeface="Consolas"/>
              </a:rPr>
              <a:t>image_io</a:t>
            </a:r>
            <a:r>
              <a:rPr sz="1250">
                <a:solidFill>
                  <a:srgbClr val="1A2233"/>
                </a:solidFill>
                <a:latin typeface="Calibri"/>
              </a:rPr>
              <a:t>: alpha, 16-bit, corrupt/empty files</a:t>
            </a:r>
          </a:p>
          <a:p>
            <a:pPr>
              <a:spcAft>
                <a:spcPts val="300"/>
              </a:spcAft>
            </a:pPr>
            <a:r>
              <a:rPr sz="1250">
                <a:solidFill>
                  <a:srgbClr val="17B8B0"/>
                </a:solidFill>
                <a:latin typeface="Calibri"/>
              </a:rPr>
              <a:t>▪  </a:t>
            </a:r>
            <a:r>
              <a:rPr sz="1250">
                <a:solidFill>
                  <a:srgbClr val="1A2233"/>
                </a:solidFill>
                <a:latin typeface="Calibri"/>
              </a:rPr>
              <a:t>config-driven batch runner, 4 workers</a:t>
            </a:r>
          </a:p>
        </p:txBody>
      </p:sp>
      <p:sp>
        <p:nvSpPr>
          <p:cNvPr id="11" name="Rounded Rectangle 10"/>
          <p:cNvSpPr/>
          <p:nvPr/>
        </p:nvSpPr>
        <p:spPr>
          <a:xfrm>
            <a:off x="4297680" y="1783080"/>
            <a:ext cx="3657600" cy="274320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874519"/>
            <a:ext cx="3383280" cy="320040"/>
          </a:xfrm>
          <a:prstGeom prst="rect">
            <a:avLst/>
          </a:prstGeom>
          <a:noFill/>
        </p:spPr>
        <p:txBody>
          <a:bodyPr wrap="square" lIns="36576" rIns="36576" tIns="18288" bIns="18288" anchor="t">
            <a:spAutoFit/>
          </a:bodyPr>
          <a:lstStyle/>
          <a:p>
            <a:r>
              <a:rPr b="1" sz="1250" i="0">
                <a:solidFill>
                  <a:srgbClr val="132347"/>
                </a:solidFill>
                <a:latin typeface="Calibri"/>
              </a:rPr>
              <a:t>Verification</a:t>
            </a:r>
          </a:p>
        </p:txBody>
      </p:sp>
      <p:sp>
        <p:nvSpPr>
          <p:cNvPr id="13" name="TextBox 12"/>
          <p:cNvSpPr txBox="1"/>
          <p:nvPr/>
        </p:nvSpPr>
        <p:spPr>
          <a:xfrm>
            <a:off x="4407408" y="2240280"/>
            <a:ext cx="3429000" cy="2240280"/>
          </a:xfrm>
          <a:prstGeom prst="rect">
            <a:avLst/>
          </a:prstGeom>
          <a:noFill/>
        </p:spPr>
        <p:txBody>
          <a:bodyPr wrap="square" lIns="36576" rIns="36576">
            <a:spAutoFit/>
          </a:bodyPr>
          <a:lstStyle/>
          <a:p>
            <a:pPr>
              <a:spcAft>
                <a:spcPts val="300"/>
              </a:spcAft>
            </a:pPr>
            <a:r>
              <a:rPr sz="1250">
                <a:solidFill>
                  <a:srgbClr val="17B8B0"/>
                </a:solidFill>
                <a:latin typeface="Calibri"/>
              </a:rPr>
              <a:t>▪  </a:t>
            </a:r>
            <a:r>
              <a:rPr b="1" sz="1250">
                <a:solidFill>
                  <a:srgbClr val="1A2233"/>
                </a:solidFill>
                <a:latin typeface="Calibri"/>
              </a:rPr>
              <a:t>43 tests</a:t>
            </a:r>
            <a:r>
              <a:rPr sz="1250">
                <a:solidFill>
                  <a:srgbClr val="1A2233"/>
                </a:solidFill>
                <a:latin typeface="Calibri"/>
              </a:rPr>
              <a:t> pass (functions, edge cases, loaders, completeness)</a:t>
            </a:r>
          </a:p>
          <a:p>
            <a:pPr>
              <a:spcAft>
                <a:spcPts val="300"/>
              </a:spcAft>
            </a:pPr>
            <a:r>
              <a:rPr sz="1250">
                <a:solidFill>
                  <a:srgbClr val="17B8B0"/>
                </a:solidFill>
                <a:latin typeface="Calibri"/>
              </a:rPr>
              <a:t>▪  </a:t>
            </a:r>
            <a:r>
              <a:rPr sz="1250">
                <a:solidFill>
                  <a:srgbClr val="1A2233"/>
                </a:solidFill>
                <a:latin typeface="Calibri"/>
              </a:rPr>
              <a:t>legacy re-run reproduces the first report (≤ 0.004 NC)</a:t>
            </a:r>
          </a:p>
          <a:p>
            <a:pPr>
              <a:spcAft>
                <a:spcPts val="300"/>
              </a:spcAft>
            </a:pPr>
            <a:r>
              <a:rPr sz="1250">
                <a:solidFill>
                  <a:srgbClr val="17B8B0"/>
                </a:solidFill>
                <a:latin typeface="Calibri"/>
              </a:rPr>
              <a:t>▪  </a:t>
            </a:r>
            <a:r>
              <a:rPr sz="1250">
                <a:solidFill>
                  <a:srgbClr val="1A2233"/>
                </a:solidFill>
                <a:latin typeface="Calibri"/>
              </a:rPr>
              <a:t>two full runs: identical metrics</a:t>
            </a:r>
          </a:p>
          <a:p>
            <a:pPr>
              <a:spcAft>
                <a:spcPts val="300"/>
              </a:spcAft>
            </a:pPr>
            <a:r>
              <a:rPr sz="1250">
                <a:solidFill>
                  <a:srgbClr val="17B8B0"/>
                </a:solidFill>
                <a:latin typeface="Calibri"/>
              </a:rPr>
              <a:t>▪  </a:t>
            </a:r>
            <a:r>
              <a:rPr sz="1250">
                <a:solidFill>
                  <a:srgbClr val="1A2233"/>
                </a:solidFill>
                <a:latin typeface="Calibri"/>
              </a:rPr>
              <a:t>all 100 output PNGs re-opened and validated</a:t>
            </a:r>
          </a:p>
        </p:txBody>
      </p:sp>
      <p:sp>
        <p:nvSpPr>
          <p:cNvPr id="14" name="Rounded Rectangle 13"/>
          <p:cNvSpPr/>
          <p:nvPr/>
        </p:nvSpPr>
        <p:spPr>
          <a:xfrm>
            <a:off x="8092440" y="1783080"/>
            <a:ext cx="3593592" cy="274320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874519"/>
            <a:ext cx="3319272" cy="320040"/>
          </a:xfrm>
          <a:prstGeom prst="rect">
            <a:avLst/>
          </a:prstGeom>
          <a:noFill/>
        </p:spPr>
        <p:txBody>
          <a:bodyPr wrap="square" lIns="36576" rIns="36576" tIns="18288" bIns="18288" anchor="t">
            <a:spAutoFit/>
          </a:bodyPr>
          <a:lstStyle/>
          <a:p>
            <a:r>
              <a:rPr b="1" sz="1250" i="0">
                <a:solidFill>
                  <a:srgbClr val="132347"/>
                </a:solidFill>
                <a:latin typeface="Calibri"/>
              </a:rPr>
              <a:t>Traceability</a:t>
            </a:r>
          </a:p>
        </p:txBody>
      </p:sp>
      <p:sp>
        <p:nvSpPr>
          <p:cNvPr id="16" name="TextBox 15"/>
          <p:cNvSpPr txBox="1"/>
          <p:nvPr/>
        </p:nvSpPr>
        <p:spPr>
          <a:xfrm>
            <a:off x="8202167" y="2240280"/>
            <a:ext cx="3364992" cy="2240280"/>
          </a:xfrm>
          <a:prstGeom prst="rect">
            <a:avLst/>
          </a:prstGeom>
          <a:noFill/>
        </p:spPr>
        <p:txBody>
          <a:bodyPr wrap="square" lIns="36576" rIns="36576">
            <a:spAutoFit/>
          </a:bodyPr>
          <a:lstStyle/>
          <a:p>
            <a:pPr>
              <a:spcAft>
                <a:spcPts val="300"/>
              </a:spcAft>
            </a:pPr>
            <a:r>
              <a:rPr sz="1250">
                <a:solidFill>
                  <a:srgbClr val="17B8B0"/>
                </a:solidFill>
                <a:latin typeface="Calibri"/>
              </a:rPr>
              <a:t>▪  </a:t>
            </a:r>
            <a:r>
              <a:rPr sz="1250">
                <a:solidFill>
                  <a:srgbClr val="1A2233"/>
                </a:solidFill>
                <a:latin typeface="Calibri"/>
              </a:rPr>
              <a:t>originals preserved in </a:t>
            </a:r>
            <a:r>
              <a:rPr sz="1150">
                <a:solidFill>
                  <a:srgbClr val="0E8F89"/>
                </a:solidFill>
                <a:latin typeface="Consolas"/>
              </a:rPr>
              <a:t>original_backup/</a:t>
            </a:r>
          </a:p>
          <a:p>
            <a:pPr>
              <a:spcAft>
                <a:spcPts val="300"/>
              </a:spcAft>
            </a:pPr>
            <a:r>
              <a:rPr sz="1250">
                <a:solidFill>
                  <a:srgbClr val="17B8B0"/>
                </a:solidFill>
                <a:latin typeface="Calibri"/>
              </a:rPr>
              <a:t>▪  </a:t>
            </a:r>
            <a:r>
              <a:rPr sz="1250">
                <a:solidFill>
                  <a:srgbClr val="1A2233"/>
                </a:solidFill>
                <a:latin typeface="Calibri"/>
              </a:rPr>
              <a:t>CHANGELOG lists every change and why</a:t>
            </a:r>
          </a:p>
          <a:p>
            <a:pPr>
              <a:spcAft>
                <a:spcPts val="300"/>
              </a:spcAft>
            </a:pPr>
            <a:r>
              <a:rPr sz="1250">
                <a:solidFill>
                  <a:srgbClr val="17B8B0"/>
                </a:solidFill>
                <a:latin typeface="Calibri"/>
              </a:rPr>
              <a:t>▪  </a:t>
            </a:r>
            <a:r>
              <a:rPr sz="1250">
                <a:solidFill>
                  <a:srgbClr val="1A2233"/>
                </a:solidFill>
                <a:latin typeface="Calibri"/>
              </a:rPr>
              <a:t>negative results saved: principal-component variant; JPEG truncation</a:t>
            </a:r>
          </a:p>
          <a:p>
            <a:pPr>
              <a:spcAft>
                <a:spcPts val="300"/>
              </a:spcAft>
            </a:pPr>
            <a:r>
              <a:rPr sz="1250">
                <a:solidFill>
                  <a:srgbClr val="17B8B0"/>
                </a:solidFill>
                <a:latin typeface="Calibri"/>
              </a:rPr>
              <a:t>▪  </a:t>
            </a:r>
            <a:r>
              <a:rPr sz="1250">
                <a:solidFill>
                  <a:srgbClr val="1A2233"/>
                </a:solidFill>
                <a:latin typeface="Calibri"/>
              </a:rPr>
              <a:t>PROJECT_AUDIT: 15 findings, F1–F15</a:t>
            </a:r>
          </a:p>
        </p:txBody>
      </p:sp>
      <p:sp>
        <p:nvSpPr>
          <p:cNvPr id="17" name="Rounded Rectangle 16"/>
          <p:cNvSpPr/>
          <p:nvPr/>
        </p:nvSpPr>
        <p:spPr>
          <a:xfrm>
            <a:off x="502920" y="4754880"/>
            <a:ext cx="11183112" cy="1325880"/>
          </a:xfrm>
          <a:prstGeom prst="roundRect">
            <a:avLst>
              <a:gd name="adj" fmla="val 5000"/>
            </a:avLst>
          </a:prstGeom>
          <a:solidFill>
            <a:srgbClr val="13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28032"/>
            <a:ext cx="10698480" cy="274320"/>
          </a:xfrm>
          <a:prstGeom prst="rect">
            <a:avLst/>
          </a:prstGeom>
          <a:noFill/>
        </p:spPr>
        <p:txBody>
          <a:bodyPr wrap="square" lIns="36576" rIns="36576" tIns="18288" bIns="18288" anchor="t">
            <a:spAutoFit/>
          </a:bodyPr>
          <a:lstStyle/>
          <a:p>
            <a:r>
              <a:rPr b="1" sz="1000" i="0">
                <a:solidFill>
                  <a:srgbClr val="17B8B0"/>
                </a:solidFill>
                <a:latin typeface="Calibri"/>
              </a:rPr>
              <a:t>REPRODUCE</a:t>
            </a:r>
          </a:p>
        </p:txBody>
      </p:sp>
      <p:sp>
        <p:nvSpPr>
          <p:cNvPr id="19" name="TextBox 18"/>
          <p:cNvSpPr txBox="1"/>
          <p:nvPr/>
        </p:nvSpPr>
        <p:spPr>
          <a:xfrm>
            <a:off x="777240" y="5102352"/>
            <a:ext cx="10698480" cy="914400"/>
          </a:xfrm>
          <a:prstGeom prst="rect">
            <a:avLst/>
          </a:prstGeom>
          <a:noFill/>
        </p:spPr>
        <p:txBody>
          <a:bodyPr wrap="square" lIns="36576" rIns="36576" tIns="18288" bIns="18288" anchor="t">
            <a:spAutoFit/>
          </a:bodyPr>
          <a:lstStyle/>
          <a:p>
            <a:pPr>
              <a:spcAft>
                <a:spcPts val="300"/>
              </a:spcAft>
            </a:pPr>
            <a:r>
              <a:rPr b="0" sz="1050">
                <a:solidFill>
                  <a:srgbClr val="FFFFFF"/>
                </a:solidFill>
                <a:latin typeface="Consolas"/>
              </a:rPr>
              <a:t>python build_dataset.py  →  run_batch_experiment.py  →  analysis.py  →  benchmark_tech.py  →  video_demo.py</a:t>
            </a:r>
          </a:p>
          <a:p>
            <a:pPr>
              <a:spcAft>
                <a:spcPts val="300"/>
              </a:spcAft>
            </a:pPr>
            <a:r>
              <a:rPr b="0" sz="1050">
                <a:solidFill>
                  <a:srgbClr val="FFFFFF"/>
                </a:solidFill>
                <a:latin typeface="Consolas"/>
              </a:rPr>
              <a:t>python -m pytest tests -q</a:t>
            </a:r>
            <a:r>
              <a:rPr b="0" sz="1150" i="0">
                <a:solidFill>
                  <a:srgbClr val="FFFFFF"/>
                </a:solidFill>
                <a:latin typeface="Calibri"/>
              </a:rPr>
              <a:t>   ·   Python 3.13, NumPy 2.5, SciPy 1.18, scikit-image 0.26, Pillow 12.3, OpenCV 5.0, FFmpeg 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22</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LIMITATIONS · FUTURE SCOPE</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Known limits — and the next steps the evidence supports</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22</a:t>
            </a:r>
          </a:p>
        </p:txBody>
      </p:sp>
      <p:sp>
        <p:nvSpPr>
          <p:cNvPr id="8" name="Rounded Rectangle 7"/>
          <p:cNvSpPr/>
          <p:nvPr/>
        </p:nvSpPr>
        <p:spPr>
          <a:xfrm>
            <a:off x="502920" y="1783080"/>
            <a:ext cx="5440680" cy="4297680"/>
          </a:xfrm>
          <a:prstGeom prst="roundRect">
            <a:avLst>
              <a:gd name="adj" fmla="val 4000"/>
            </a:avLst>
          </a:prstGeom>
          <a:solidFill>
            <a:srgbClr val="FBECEA"/>
          </a:solidFill>
          <a:ln w="9525">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5166360" cy="320040"/>
          </a:xfrm>
          <a:prstGeom prst="rect">
            <a:avLst/>
          </a:prstGeom>
          <a:noFill/>
        </p:spPr>
        <p:txBody>
          <a:bodyPr wrap="square" lIns="36576" rIns="36576" tIns="18288" bIns="18288" anchor="t">
            <a:spAutoFit/>
          </a:bodyPr>
          <a:lstStyle/>
          <a:p>
            <a:r>
              <a:rPr b="1" sz="1250" i="0">
                <a:solidFill>
                  <a:srgbClr val="C1443C"/>
                </a:solidFill>
                <a:latin typeface="Calibri"/>
              </a:rPr>
              <a:t>Limitations (measured)</a:t>
            </a:r>
          </a:p>
        </p:txBody>
      </p:sp>
      <p:sp>
        <p:nvSpPr>
          <p:cNvPr id="10" name="TextBox 9"/>
          <p:cNvSpPr txBox="1"/>
          <p:nvPr/>
        </p:nvSpPr>
        <p:spPr>
          <a:xfrm>
            <a:off x="612648" y="2240280"/>
            <a:ext cx="5212080" cy="3794760"/>
          </a:xfrm>
          <a:prstGeom prst="rect">
            <a:avLst/>
          </a:prstGeom>
          <a:noFill/>
        </p:spPr>
        <p:txBody>
          <a:bodyPr wrap="square" lIns="36576" rIns="36576">
            <a:spAutoFit/>
          </a:bodyPr>
          <a:lstStyle/>
          <a:p>
            <a:pPr>
              <a:spcAft>
                <a:spcPts val="300"/>
              </a:spcAft>
            </a:pPr>
            <a:r>
              <a:rPr sz="1300">
                <a:solidFill>
                  <a:srgbClr val="17B8B0"/>
                </a:solidFill>
                <a:latin typeface="Calibri"/>
              </a:rPr>
              <a:t>▪  </a:t>
            </a:r>
            <a:r>
              <a:rPr b="1" sz="1300">
                <a:solidFill>
                  <a:srgbClr val="1A2233"/>
                </a:solidFill>
                <a:latin typeface="Calibri"/>
              </a:rPr>
              <a:t>False-positive problem</a:t>
            </a:r>
            <a:r>
              <a:rPr sz="1300">
                <a:solidFill>
                  <a:srgbClr val="1A2233"/>
                </a:solidFill>
                <a:latin typeface="Calibri"/>
              </a:rPr>
              <a:t> — not fixed</a:t>
            </a:r>
          </a:p>
          <a:p>
            <a:pPr>
              <a:spcAft>
                <a:spcPts val="300"/>
              </a:spcAft>
            </a:pPr>
            <a:r>
              <a:rPr sz="1300">
                <a:solidFill>
                  <a:srgbClr val="17B8B0"/>
                </a:solidFill>
                <a:latin typeface="Calibri"/>
              </a:rPr>
              <a:t>▪  </a:t>
            </a:r>
            <a:r>
              <a:rPr b="1" sz="1300">
                <a:solidFill>
                  <a:srgbClr val="1A2233"/>
                </a:solidFill>
                <a:latin typeface="Calibri"/>
              </a:rPr>
              <a:t>Non-blind</a:t>
            </a:r>
            <a:r>
              <a:rPr sz="1300">
                <a:solidFill>
                  <a:srgbClr val="1A2233"/>
                </a:solidFill>
                <a:latin typeface="Calibri"/>
              </a:rPr>
              <a:t>: ≈ 2.1 MB key per image</a:t>
            </a:r>
          </a:p>
          <a:p>
            <a:pPr>
              <a:spcAft>
                <a:spcPts val="300"/>
              </a:spcAft>
            </a:pPr>
            <a:r>
              <a:rPr sz="1300">
                <a:solidFill>
                  <a:srgbClr val="17B8B0"/>
                </a:solidFill>
                <a:latin typeface="Calibri"/>
              </a:rPr>
              <a:t>▪  </a:t>
            </a:r>
            <a:r>
              <a:rPr b="1" sz="1300">
                <a:solidFill>
                  <a:srgbClr val="1A2233"/>
                </a:solidFill>
                <a:latin typeface="Calibri"/>
              </a:rPr>
              <a:t>Cropping</a:t>
            </a:r>
            <a:r>
              <a:rPr sz="1300">
                <a:solidFill>
                  <a:srgbClr val="1A2233"/>
                </a:solidFill>
                <a:latin typeface="Calibri"/>
              </a:rPr>
              <a:t> 1 %, </a:t>
            </a:r>
            <a:r>
              <a:rPr b="1" sz="1300">
                <a:solidFill>
                  <a:srgbClr val="1A2233"/>
                </a:solidFill>
                <a:latin typeface="Calibri"/>
              </a:rPr>
              <a:t>rotation 15°</a:t>
            </a:r>
            <a:r>
              <a:rPr sz="1300">
                <a:solidFill>
                  <a:srgbClr val="1A2233"/>
                </a:solidFill>
                <a:latin typeface="Calibri"/>
              </a:rPr>
              <a:t> 72 %, </a:t>
            </a:r>
            <a:r>
              <a:rPr b="1" sz="1300">
                <a:solidFill>
                  <a:srgbClr val="1A2233"/>
                </a:solidFill>
                <a:latin typeface="Calibri"/>
              </a:rPr>
              <a:t>hist-eq</a:t>
            </a:r>
            <a:r>
              <a:rPr sz="1300">
                <a:solidFill>
                  <a:srgbClr val="1A2233"/>
                </a:solidFill>
                <a:latin typeface="Calibri"/>
              </a:rPr>
              <a:t> 44 %</a:t>
            </a:r>
          </a:p>
          <a:p>
            <a:pPr>
              <a:spcAft>
                <a:spcPts val="300"/>
              </a:spcAft>
            </a:pPr>
            <a:r>
              <a:rPr sz="1300">
                <a:solidFill>
                  <a:srgbClr val="17B8B0"/>
                </a:solidFill>
                <a:latin typeface="Calibri"/>
              </a:rPr>
              <a:t>▪  </a:t>
            </a:r>
            <a:r>
              <a:rPr sz="1300">
                <a:solidFill>
                  <a:srgbClr val="1A2233"/>
                </a:solidFill>
                <a:latin typeface="Calibri"/>
              </a:rPr>
              <a:t>Grey-scale only; clean BER ≈ 0.9 % (logo resampling)</a:t>
            </a:r>
          </a:p>
          <a:p>
            <a:pPr>
              <a:spcAft>
                <a:spcPts val="300"/>
              </a:spcAft>
            </a:pPr>
            <a:r>
              <a:rPr sz="1300">
                <a:solidFill>
                  <a:srgbClr val="17B8B0"/>
                </a:solidFill>
                <a:latin typeface="Calibri"/>
              </a:rPr>
              <a:t>▪  </a:t>
            </a:r>
            <a:r>
              <a:rPr sz="1300">
                <a:solidFill>
                  <a:srgbClr val="1A2233"/>
                </a:solidFill>
                <a:latin typeface="Calibri"/>
              </a:rPr>
              <a:t>Dataset: convenience sample, rights mostly undocumented</a:t>
            </a:r>
          </a:p>
          <a:p>
            <a:pPr>
              <a:spcAft>
                <a:spcPts val="300"/>
              </a:spcAft>
            </a:pPr>
            <a:r>
              <a:rPr sz="1300">
                <a:solidFill>
                  <a:srgbClr val="17B8B0"/>
                </a:solidFill>
                <a:latin typeface="Calibri"/>
              </a:rPr>
              <a:t>▪  </a:t>
            </a:r>
            <a:r>
              <a:rPr sz="1300">
                <a:solidFill>
                  <a:srgbClr val="1A2233"/>
                </a:solidFill>
                <a:latin typeface="Calibri"/>
              </a:rPr>
              <a:t>Only one existing package compared; no GPU; ±5–10 % timing noise</a:t>
            </a:r>
          </a:p>
          <a:p>
            <a:pPr>
              <a:spcAft>
                <a:spcPts val="300"/>
              </a:spcAft>
            </a:pPr>
            <a:r>
              <a:rPr sz="1300">
                <a:solidFill>
                  <a:srgbClr val="17B8B0"/>
                </a:solidFill>
                <a:latin typeface="Calibri"/>
              </a:rPr>
              <a:t>▪  </a:t>
            </a:r>
            <a:r>
              <a:rPr sz="1300">
                <a:solidFill>
                  <a:srgbClr val="1A2233"/>
                </a:solidFill>
                <a:latin typeface="Calibri"/>
              </a:rPr>
              <a:t>Video: exploratory, per-frame keys, no temporal attacks</a:t>
            </a:r>
          </a:p>
        </p:txBody>
      </p:sp>
      <p:sp>
        <p:nvSpPr>
          <p:cNvPr id="11" name="Rounded Rectangle 10"/>
          <p:cNvSpPr/>
          <p:nvPr/>
        </p:nvSpPr>
        <p:spPr>
          <a:xfrm>
            <a:off x="6126480" y="1783080"/>
            <a:ext cx="5559552" cy="4297680"/>
          </a:xfrm>
          <a:prstGeom prst="roundRect">
            <a:avLst>
              <a:gd name="adj" fmla="val 4000"/>
            </a:avLst>
          </a:prstGeom>
          <a:solidFill>
            <a:srgbClr val="F3F5F9"/>
          </a:solidFill>
          <a:ln w="9525">
            <a:solidFill>
              <a:srgbClr val="DC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874519"/>
            <a:ext cx="5285232" cy="320040"/>
          </a:xfrm>
          <a:prstGeom prst="rect">
            <a:avLst/>
          </a:prstGeom>
          <a:noFill/>
        </p:spPr>
        <p:txBody>
          <a:bodyPr wrap="square" lIns="36576" rIns="36576" tIns="18288" bIns="18288" anchor="t">
            <a:spAutoFit/>
          </a:bodyPr>
          <a:lstStyle/>
          <a:p>
            <a:r>
              <a:rPr b="1" sz="1250" i="0">
                <a:solidFill>
                  <a:srgbClr val="132347"/>
                </a:solidFill>
                <a:latin typeface="Calibri"/>
              </a:rPr>
              <a:t>Future scope (in priority order)</a:t>
            </a:r>
          </a:p>
        </p:txBody>
      </p:sp>
      <p:sp>
        <p:nvSpPr>
          <p:cNvPr id="13" name="TextBox 12"/>
          <p:cNvSpPr txBox="1"/>
          <p:nvPr/>
        </p:nvSpPr>
        <p:spPr>
          <a:xfrm>
            <a:off x="6236208" y="2240280"/>
            <a:ext cx="5330952" cy="3794760"/>
          </a:xfrm>
          <a:prstGeom prst="rect">
            <a:avLst/>
          </a:prstGeom>
          <a:noFill/>
        </p:spPr>
        <p:txBody>
          <a:bodyPr wrap="square" lIns="36576" rIns="36576">
            <a:spAutoFit/>
          </a:bodyPr>
          <a:lstStyle/>
          <a:p>
            <a:pPr>
              <a:spcAft>
                <a:spcPts val="300"/>
              </a:spcAft>
            </a:pPr>
            <a:r>
              <a:rPr sz="1300">
                <a:solidFill>
                  <a:srgbClr val="17B8B0"/>
                </a:solidFill>
                <a:latin typeface="Calibri"/>
              </a:rPr>
              <a:t>▪  </a:t>
            </a:r>
            <a:r>
              <a:rPr b="1" sz="1300">
                <a:solidFill>
                  <a:srgbClr val="1A2233"/>
                </a:solidFill>
                <a:latin typeface="Calibri"/>
              </a:rPr>
              <a:t>1 · Image-bound signature</a:t>
            </a:r>
            <a:r>
              <a:rPr sz="1300">
                <a:solidFill>
                  <a:srgbClr val="1A2233"/>
                </a:solidFill>
                <a:latin typeface="Calibri"/>
              </a:rPr>
              <a:t> to remove false positives — verify with the E4 controls</a:t>
            </a:r>
          </a:p>
          <a:p>
            <a:pPr>
              <a:spcAft>
                <a:spcPts val="300"/>
              </a:spcAft>
            </a:pPr>
            <a:r>
              <a:rPr sz="1300">
                <a:solidFill>
                  <a:srgbClr val="17B8B0"/>
                </a:solidFill>
                <a:latin typeface="Calibri"/>
              </a:rPr>
              <a:t>▪  </a:t>
            </a:r>
            <a:r>
              <a:rPr b="1" sz="1300">
                <a:solidFill>
                  <a:srgbClr val="1A2233"/>
                </a:solidFill>
                <a:latin typeface="Calibri"/>
              </a:rPr>
              <a:t>2 · Block-based redundant embedding</a:t>
            </a:r>
            <a:r>
              <a:rPr sz="1300">
                <a:solidFill>
                  <a:srgbClr val="1A2233"/>
                </a:solidFill>
                <a:latin typeface="Calibri"/>
              </a:rPr>
              <a:t> for cropping; use </a:t>
            </a:r>
            <a:r>
              <a:rPr sz="1200">
                <a:solidFill>
                  <a:srgbClr val="0E8F89"/>
                </a:solidFill>
                <a:latin typeface="Consolas"/>
              </a:rPr>
              <a:t>blind-watermark</a:t>
            </a:r>
            <a:r>
              <a:rPr sz="1300">
                <a:solidFill>
                  <a:srgbClr val="1A2233"/>
                </a:solidFill>
                <a:latin typeface="Calibri"/>
              </a:rPr>
              <a:t> as the new baseline</a:t>
            </a:r>
          </a:p>
          <a:p>
            <a:pPr>
              <a:spcAft>
                <a:spcPts val="300"/>
              </a:spcAft>
            </a:pPr>
            <a:r>
              <a:rPr sz="1300">
                <a:solidFill>
                  <a:srgbClr val="17B8B0"/>
                </a:solidFill>
                <a:latin typeface="Calibri"/>
              </a:rPr>
              <a:t>▪  </a:t>
            </a:r>
            <a:r>
              <a:rPr b="1" sz="1300">
                <a:solidFill>
                  <a:srgbClr val="1A2233"/>
                </a:solidFill>
                <a:latin typeface="Calibri"/>
              </a:rPr>
              <a:t>3 · Geometric re-synchronisation</a:t>
            </a:r>
            <a:r>
              <a:rPr sz="1300">
                <a:solidFill>
                  <a:srgbClr val="1A2233"/>
                </a:solidFill>
                <a:latin typeface="Calibri"/>
              </a:rPr>
              <a:t> (log-polar / template) [22]</a:t>
            </a:r>
          </a:p>
          <a:p>
            <a:pPr>
              <a:spcAft>
                <a:spcPts val="300"/>
              </a:spcAft>
            </a:pPr>
            <a:r>
              <a:rPr sz="1300">
                <a:solidFill>
                  <a:srgbClr val="17B8B0"/>
                </a:solidFill>
                <a:latin typeface="Calibri"/>
              </a:rPr>
              <a:t>▪  </a:t>
            </a:r>
            <a:r>
              <a:rPr b="1" sz="1300">
                <a:solidFill>
                  <a:srgbClr val="1A2233"/>
                </a:solidFill>
                <a:latin typeface="Calibri"/>
              </a:rPr>
              <a:t>4 · Colour:</a:t>
            </a:r>
            <a:r>
              <a:rPr sz="1300">
                <a:solidFill>
                  <a:srgbClr val="1A2233"/>
                </a:solidFill>
                <a:latin typeface="Calibri"/>
              </a:rPr>
              <a:t> embed in the Y channel of YCbCr</a:t>
            </a:r>
          </a:p>
          <a:p>
            <a:pPr>
              <a:spcAft>
                <a:spcPts val="300"/>
              </a:spcAft>
            </a:pPr>
            <a:r>
              <a:rPr sz="1300">
                <a:solidFill>
                  <a:srgbClr val="17B8B0"/>
                </a:solidFill>
                <a:latin typeface="Calibri"/>
              </a:rPr>
              <a:t>▪  </a:t>
            </a:r>
            <a:r>
              <a:rPr b="1" sz="1300">
                <a:solidFill>
                  <a:srgbClr val="1A2233"/>
                </a:solidFill>
                <a:latin typeface="Calibri"/>
              </a:rPr>
              <a:t>5 · Video:</a:t>
            </a:r>
            <a:r>
              <a:rPr sz="1300">
                <a:solidFill>
                  <a:srgbClr val="1A2233"/>
                </a:solidFill>
                <a:latin typeface="Calibri"/>
              </a:rPr>
              <a:t> index-aware keys, temporal redundancy, frame-drop and re-timing tests; real-time port (≈ 27 fps single-core as is)</a:t>
            </a:r>
          </a:p>
          <a:p>
            <a:pPr>
              <a:spcAft>
                <a:spcPts val="300"/>
              </a:spcAft>
            </a:pPr>
            <a:r>
              <a:rPr sz="1300">
                <a:solidFill>
                  <a:srgbClr val="17B8B0"/>
                </a:solidFill>
                <a:latin typeface="Calibri"/>
              </a:rPr>
              <a:t>▪  </a:t>
            </a:r>
            <a:r>
              <a:rPr b="1" sz="1300">
                <a:solidFill>
                  <a:srgbClr val="1A2233"/>
                </a:solidFill>
                <a:latin typeface="Calibri"/>
              </a:rPr>
              <a:t>6 ·</a:t>
            </a:r>
            <a:r>
              <a:rPr sz="1300">
                <a:solidFill>
                  <a:srgbClr val="1A2233"/>
                </a:solidFill>
                <a:latin typeface="Calibri"/>
              </a:rPr>
              <a:t> Learned watermarkers [29][30] as a comparison, if the no-ML rule is relaxed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84048"/>
            <a:ext cx="329184" cy="329184"/>
          </a:xfrm>
          <a:prstGeom prst="roundRect">
            <a:avLst>
              <a:gd name="adj" fmla="val 15000"/>
            </a:avLst>
          </a:prstGeom>
          <a:solidFill>
            <a:srgbClr val="17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23</a:t>
            </a:r>
          </a:p>
        </p:txBody>
      </p:sp>
      <p:sp>
        <p:nvSpPr>
          <p:cNvPr id="5" name="TextBox 4"/>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17B8B0"/>
                </a:solidFill>
                <a:latin typeface="Calibri"/>
              </a:rPr>
              <a:t>CONCLUSION</a:t>
            </a:r>
          </a:p>
        </p:txBody>
      </p:sp>
      <p:sp>
        <p:nvSpPr>
          <p:cNvPr id="6" name="TextBox 5"/>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FFFFFF"/>
                </a:solidFill>
                <a:latin typeface="Calibri"/>
              </a:rPr>
              <a:t>A transparent scheme that survives everyday processing — but NC alone is not proof of ownership</a:t>
            </a:r>
          </a:p>
        </p:txBody>
      </p:sp>
      <p:sp>
        <p:nvSpPr>
          <p:cNvPr id="7" name="TextBox 6"/>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93A8C7"/>
                </a:solidFill>
                <a:latin typeface="Calibri"/>
              </a:rPr>
              <a:t>NMIMS MPSTME  ·  Image &amp; Video Processing</a:t>
            </a:r>
          </a:p>
        </p:txBody>
      </p:sp>
      <p:sp>
        <p:nvSpPr>
          <p:cNvPr id="8" name="TextBox 7"/>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93A8C7"/>
                </a:solidFill>
                <a:latin typeface="Calibri"/>
              </a:rPr>
              <a:t>23</a:t>
            </a:r>
          </a:p>
        </p:txBody>
      </p:sp>
      <p:sp>
        <p:nvSpPr>
          <p:cNvPr id="9" name="Rounded Rectangle 8"/>
          <p:cNvSpPr/>
          <p:nvPr/>
        </p:nvSpPr>
        <p:spPr>
          <a:xfrm>
            <a:off x="502920" y="1783080"/>
            <a:ext cx="3566160" cy="1371600"/>
          </a:xfrm>
          <a:prstGeom prst="roundRect">
            <a:avLst>
              <a:gd name="adj" fmla="val 8000"/>
            </a:avLst>
          </a:prstGeom>
          <a:solidFill>
            <a:srgbClr val="1B2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74519"/>
            <a:ext cx="3291840" cy="754380"/>
          </a:xfrm>
          <a:prstGeom prst="rect">
            <a:avLst/>
          </a:prstGeom>
          <a:noFill/>
        </p:spPr>
        <p:txBody>
          <a:bodyPr wrap="square" lIns="36576" rIns="36576" tIns="18288" bIns="18288" anchor="ctr">
            <a:spAutoFit/>
          </a:bodyPr>
          <a:lstStyle/>
          <a:p>
            <a:r>
              <a:rPr b="1" sz="2800" i="0">
                <a:solidFill>
                  <a:srgbClr val="17B8B0"/>
                </a:solidFill>
                <a:latin typeface="Calibri"/>
              </a:rPr>
              <a:t>36.0 dB / 0.992</a:t>
            </a:r>
          </a:p>
        </p:txBody>
      </p:sp>
      <p:sp>
        <p:nvSpPr>
          <p:cNvPr id="11" name="TextBox 10"/>
          <p:cNvSpPr txBox="1"/>
          <p:nvPr/>
        </p:nvSpPr>
        <p:spPr>
          <a:xfrm>
            <a:off x="640080" y="2578608"/>
            <a:ext cx="3291840" cy="548640"/>
          </a:xfrm>
          <a:prstGeom prst="rect">
            <a:avLst/>
          </a:prstGeom>
          <a:noFill/>
        </p:spPr>
        <p:txBody>
          <a:bodyPr wrap="square" lIns="36576" rIns="36576" tIns="18288" bIns="18288" anchor="t">
            <a:spAutoFit/>
          </a:bodyPr>
          <a:lstStyle/>
          <a:p>
            <a:r>
              <a:rPr b="0" sz="1050" i="0">
                <a:solidFill>
                  <a:srgbClr val="93A8C7"/>
                </a:solidFill>
                <a:latin typeface="Calibri"/>
              </a:rPr>
              <a:t>mean PSNR / SSIM over 100 images</a:t>
            </a:r>
          </a:p>
        </p:txBody>
      </p:sp>
      <p:sp>
        <p:nvSpPr>
          <p:cNvPr id="12" name="Rounded Rectangle 11"/>
          <p:cNvSpPr/>
          <p:nvPr/>
        </p:nvSpPr>
        <p:spPr>
          <a:xfrm>
            <a:off x="4297680" y="1783080"/>
            <a:ext cx="3566160" cy="1371600"/>
          </a:xfrm>
          <a:prstGeom prst="roundRect">
            <a:avLst>
              <a:gd name="adj" fmla="val 8000"/>
            </a:avLst>
          </a:prstGeom>
          <a:solidFill>
            <a:srgbClr val="1B2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874519"/>
            <a:ext cx="3291840" cy="754380"/>
          </a:xfrm>
          <a:prstGeom prst="rect">
            <a:avLst/>
          </a:prstGeom>
          <a:noFill/>
        </p:spPr>
        <p:txBody>
          <a:bodyPr wrap="square" lIns="36576" rIns="36576" tIns="18288" bIns="18288" anchor="ctr">
            <a:spAutoFit/>
          </a:bodyPr>
          <a:lstStyle/>
          <a:p>
            <a:r>
              <a:rPr b="1" sz="2800" i="0">
                <a:solidFill>
                  <a:srgbClr val="17B8B0"/>
                </a:solidFill>
                <a:latin typeface="Calibri"/>
              </a:rPr>
              <a:t>85.1 %</a:t>
            </a:r>
          </a:p>
        </p:txBody>
      </p:sp>
      <p:sp>
        <p:nvSpPr>
          <p:cNvPr id="14" name="TextBox 13"/>
          <p:cNvSpPr txBox="1"/>
          <p:nvPr/>
        </p:nvSpPr>
        <p:spPr>
          <a:xfrm>
            <a:off x="4434840" y="2578608"/>
            <a:ext cx="3291840" cy="548640"/>
          </a:xfrm>
          <a:prstGeom prst="rect">
            <a:avLst/>
          </a:prstGeom>
          <a:noFill/>
        </p:spPr>
        <p:txBody>
          <a:bodyPr wrap="square" lIns="36576" rIns="36576" tIns="18288" bIns="18288" anchor="t">
            <a:spAutoFit/>
          </a:bodyPr>
          <a:lstStyle/>
          <a:p>
            <a:r>
              <a:rPr b="0" sz="1050" i="0">
                <a:solidFill>
                  <a:srgbClr val="93A8C7"/>
                </a:solidFill>
                <a:latin typeface="Calibri"/>
              </a:rPr>
              <a:t>of 1500 trials with NC ≥ 0.75</a:t>
            </a:r>
          </a:p>
        </p:txBody>
      </p:sp>
      <p:sp>
        <p:nvSpPr>
          <p:cNvPr id="15" name="Rounded Rectangle 14"/>
          <p:cNvSpPr/>
          <p:nvPr/>
        </p:nvSpPr>
        <p:spPr>
          <a:xfrm>
            <a:off x="8092440" y="1783080"/>
            <a:ext cx="3593592" cy="1371600"/>
          </a:xfrm>
          <a:prstGeom prst="roundRect">
            <a:avLst>
              <a:gd name="adj" fmla="val 8000"/>
            </a:avLst>
          </a:prstGeom>
          <a:solidFill>
            <a:srgbClr val="1B2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74519"/>
            <a:ext cx="3319272" cy="754380"/>
          </a:xfrm>
          <a:prstGeom prst="rect">
            <a:avLst/>
          </a:prstGeom>
          <a:noFill/>
        </p:spPr>
        <p:txBody>
          <a:bodyPr wrap="square" lIns="36576" rIns="36576" tIns="18288" bIns="18288" anchor="ctr">
            <a:spAutoFit/>
          </a:bodyPr>
          <a:lstStyle/>
          <a:p>
            <a:r>
              <a:rPr b="1" sz="2800" i="0">
                <a:solidFill>
                  <a:srgbClr val="FF8A80"/>
                </a:solidFill>
                <a:latin typeface="Calibri"/>
              </a:rPr>
              <a:t>NC 0.98</a:t>
            </a:r>
          </a:p>
        </p:txBody>
      </p:sp>
      <p:sp>
        <p:nvSpPr>
          <p:cNvPr id="17" name="TextBox 16"/>
          <p:cNvSpPr txBox="1"/>
          <p:nvPr/>
        </p:nvSpPr>
        <p:spPr>
          <a:xfrm>
            <a:off x="8229600" y="2578608"/>
            <a:ext cx="3319272" cy="548640"/>
          </a:xfrm>
          <a:prstGeom prst="rect">
            <a:avLst/>
          </a:prstGeom>
          <a:noFill/>
        </p:spPr>
        <p:txBody>
          <a:bodyPr wrap="square" lIns="36576" rIns="36576" tIns="18288" bIns="18288" anchor="t">
            <a:spAutoFit/>
          </a:bodyPr>
          <a:lstStyle/>
          <a:p>
            <a:r>
              <a:rPr b="0" sz="1050" i="0">
                <a:solidFill>
                  <a:srgbClr val="93A8C7"/>
                </a:solidFill>
                <a:latin typeface="Calibri"/>
              </a:rPr>
              <a:t>for a DIFFERENT logo with the owner's key</a:t>
            </a:r>
          </a:p>
        </p:txBody>
      </p:sp>
      <p:sp>
        <p:nvSpPr>
          <p:cNvPr id="18" name="TextBox 17"/>
          <p:cNvSpPr txBox="1"/>
          <p:nvPr/>
        </p:nvSpPr>
        <p:spPr>
          <a:xfrm>
            <a:off x="502920" y="3429000"/>
            <a:ext cx="11155680" cy="274320"/>
          </a:xfrm>
          <a:prstGeom prst="rect">
            <a:avLst/>
          </a:prstGeom>
          <a:noFill/>
        </p:spPr>
        <p:txBody>
          <a:bodyPr wrap="square" lIns="36576" rIns="36576" tIns="18288" bIns="18288" anchor="t">
            <a:spAutoFit/>
          </a:bodyPr>
          <a:lstStyle/>
          <a:p>
            <a:r>
              <a:rPr b="1" sz="1000" i="0">
                <a:solidFill>
                  <a:srgbClr val="17B8B0"/>
                </a:solidFill>
                <a:latin typeface="Calibri"/>
              </a:rPr>
              <a:t>KEY TAKEAWAYS</a:t>
            </a:r>
          </a:p>
        </p:txBody>
      </p:sp>
      <p:sp>
        <p:nvSpPr>
          <p:cNvPr id="19" name="TextBox 18"/>
          <p:cNvSpPr txBox="1"/>
          <p:nvPr/>
        </p:nvSpPr>
        <p:spPr>
          <a:xfrm>
            <a:off x="502920" y="3749039"/>
            <a:ext cx="11155680" cy="2468880"/>
          </a:xfrm>
          <a:prstGeom prst="rect">
            <a:avLst/>
          </a:prstGeom>
          <a:noFill/>
        </p:spPr>
        <p:txBody>
          <a:bodyPr wrap="square" lIns="36576" rIns="36576">
            <a:spAutoFit/>
          </a:bodyPr>
          <a:lstStyle/>
          <a:p>
            <a:pPr>
              <a:spcAft>
                <a:spcPts val="900"/>
              </a:spcAft>
            </a:pPr>
            <a:r>
              <a:rPr sz="1500">
                <a:solidFill>
                  <a:srgbClr val="17B8B0"/>
                </a:solidFill>
                <a:latin typeface="Calibri"/>
              </a:rPr>
              <a:t>▪  </a:t>
            </a:r>
            <a:r>
              <a:rPr b="1" sz="1500">
                <a:solidFill>
                  <a:srgbClr val="FFFFFF"/>
                </a:solidFill>
                <a:latin typeface="Calibri"/>
              </a:rPr>
              <a:t>Works:</a:t>
            </a:r>
            <a:r>
              <a:rPr sz="1500">
                <a:solidFill>
                  <a:srgbClr val="FFFFFF"/>
                </a:solidFill>
                <a:latin typeface="Calibri"/>
              </a:rPr>
              <a:t> JPEG Q ≥ 20, median, sharpening, scaling, blur, mild noise — ≥ 95 % pass rate; per-frame video re-encoding too</a:t>
            </a:r>
          </a:p>
          <a:p>
            <a:pPr>
              <a:spcAft>
                <a:spcPts val="900"/>
              </a:spcAft>
            </a:pPr>
            <a:r>
              <a:rPr sz="1500">
                <a:solidFill>
                  <a:srgbClr val="17B8B0"/>
                </a:solidFill>
                <a:latin typeface="Calibri"/>
              </a:rPr>
              <a:t>▪  </a:t>
            </a:r>
            <a:r>
              <a:rPr b="1" sz="1500">
                <a:solidFill>
                  <a:srgbClr val="FFFFFF"/>
                </a:solidFill>
                <a:latin typeface="Calibri"/>
              </a:rPr>
              <a:t>Does not:</a:t>
            </a:r>
            <a:r>
              <a:rPr sz="1500">
                <a:solidFill>
                  <a:srgbClr val="FFFFFF"/>
                </a:solidFill>
                <a:latin typeface="Calibri"/>
              </a:rPr>
              <a:t> border cropping (1 %), histogram equalisation (44 %), rotation 15° (72 %); first report's α-trade-off figure was an artefact for JPEG</a:t>
            </a:r>
          </a:p>
          <a:p>
            <a:pPr>
              <a:spcAft>
                <a:spcPts val="900"/>
              </a:spcAft>
            </a:pPr>
            <a:r>
              <a:rPr sz="1500">
                <a:solidFill>
                  <a:srgbClr val="17B8B0"/>
                </a:solidFill>
                <a:latin typeface="Calibri"/>
              </a:rPr>
              <a:t>▪  </a:t>
            </a:r>
            <a:r>
              <a:rPr b="1" sz="1500">
                <a:solidFill>
                  <a:srgbClr val="FFFFFF"/>
                </a:solidFill>
                <a:latin typeface="Calibri"/>
              </a:rPr>
              <a:t>Cannot claim:</a:t>
            </a:r>
            <a:r>
              <a:rPr sz="1500">
                <a:solidFill>
                  <a:srgbClr val="FFFFFF"/>
                </a:solidFill>
                <a:latin typeface="Calibri"/>
              </a:rPr>
              <a:t> ownership from NC alone (false-positive problem) or superiority over existing technology</a:t>
            </a:r>
          </a:p>
          <a:p>
            <a:pPr>
              <a:spcAft>
                <a:spcPts val="900"/>
              </a:spcAft>
            </a:pPr>
            <a:r>
              <a:rPr sz="1500">
                <a:solidFill>
                  <a:srgbClr val="17B8B0"/>
                </a:solidFill>
                <a:latin typeface="Calibri"/>
              </a:rPr>
              <a:t>▪  </a:t>
            </a:r>
            <a:r>
              <a:rPr b="1" sz="1500">
                <a:solidFill>
                  <a:srgbClr val="FFFFFF"/>
                </a:solidFill>
                <a:latin typeface="Calibri"/>
              </a:rPr>
              <a:t>Next:</a:t>
            </a:r>
            <a:r>
              <a:rPr sz="1500">
                <a:solidFill>
                  <a:srgbClr val="FFFFFF"/>
                </a:solidFill>
                <a:latin typeface="Calibri"/>
              </a:rPr>
              <a:t> bind the logo to the image, block-based redundancy, geometric re-synchronisation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84048"/>
            <a:ext cx="329184" cy="329184"/>
          </a:xfrm>
          <a:prstGeom prst="roundRect">
            <a:avLst>
              <a:gd name="adj" fmla="val 15000"/>
            </a:avLst>
          </a:prstGeom>
          <a:solidFill>
            <a:srgbClr val="0E8F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329184" cy="329184"/>
          </a:xfrm>
          <a:prstGeom prst="rect">
            <a:avLst/>
          </a:prstGeom>
          <a:noFill/>
        </p:spPr>
        <p:txBody>
          <a:bodyPr wrap="square" lIns="36576" rIns="36576" tIns="18288" bIns="18288" anchor="ctr">
            <a:spAutoFit/>
          </a:bodyPr>
          <a:lstStyle/>
          <a:p>
            <a:pPr algn="ctr"/>
            <a:r>
              <a:rPr b="1" sz="1000" i="0">
                <a:solidFill>
                  <a:srgbClr val="FFFFFF"/>
                </a:solidFill>
                <a:latin typeface="Calibri"/>
              </a:rPr>
              <a:t>24</a:t>
            </a:r>
          </a:p>
        </p:txBody>
      </p:sp>
      <p:sp>
        <p:nvSpPr>
          <p:cNvPr id="4" name="TextBox 3"/>
          <p:cNvSpPr txBox="1"/>
          <p:nvPr/>
        </p:nvSpPr>
        <p:spPr>
          <a:xfrm>
            <a:off x="960120" y="402336"/>
            <a:ext cx="10698480" cy="310896"/>
          </a:xfrm>
          <a:prstGeom prst="rect">
            <a:avLst/>
          </a:prstGeom>
          <a:noFill/>
        </p:spPr>
        <p:txBody>
          <a:bodyPr wrap="square" lIns="36576" rIns="36576" tIns="18288" bIns="18288" anchor="ctr">
            <a:spAutoFit/>
          </a:bodyPr>
          <a:lstStyle/>
          <a:p>
            <a:r>
              <a:rPr b="1" sz="950" i="0">
                <a:solidFill>
                  <a:srgbClr val="0E8F89"/>
                </a:solidFill>
                <a:latin typeface="Calibri"/>
              </a:rPr>
              <a:t>REFERENCES</a:t>
            </a:r>
          </a:p>
        </p:txBody>
      </p:sp>
      <p:sp>
        <p:nvSpPr>
          <p:cNvPr id="5" name="TextBox 4"/>
          <p:cNvSpPr txBox="1"/>
          <p:nvPr/>
        </p:nvSpPr>
        <p:spPr>
          <a:xfrm>
            <a:off x="502920" y="786384"/>
            <a:ext cx="11155680" cy="868680"/>
          </a:xfrm>
          <a:prstGeom prst="rect">
            <a:avLst/>
          </a:prstGeom>
          <a:noFill/>
        </p:spPr>
        <p:txBody>
          <a:bodyPr wrap="square" lIns="36576" rIns="36576" tIns="18288" bIns="18288" anchor="t">
            <a:spAutoFit/>
          </a:bodyPr>
          <a:lstStyle/>
          <a:p>
            <a:pPr>
              <a:lnSpc>
                <a:spcPct val="95000"/>
              </a:lnSpc>
            </a:pPr>
            <a:r>
              <a:rPr b="1" sz="2300" i="0">
                <a:solidFill>
                  <a:srgbClr val="132347"/>
                </a:solidFill>
                <a:latin typeface="Calibri"/>
              </a:rPr>
              <a:t>Verified sources (IEEE style) — status flags in research/REFERENCES.md</a:t>
            </a:r>
          </a:p>
        </p:txBody>
      </p:sp>
      <p:sp>
        <p:nvSpPr>
          <p:cNvPr id="6" name="TextBox 5"/>
          <p:cNvSpPr txBox="1"/>
          <p:nvPr/>
        </p:nvSpPr>
        <p:spPr>
          <a:xfrm>
            <a:off x="502920" y="6473952"/>
            <a:ext cx="7315200" cy="256032"/>
          </a:xfrm>
          <a:prstGeom prst="rect">
            <a:avLst/>
          </a:prstGeom>
          <a:noFill/>
        </p:spPr>
        <p:txBody>
          <a:bodyPr wrap="square" lIns="36576" rIns="36576" tIns="18288" bIns="18288" anchor="t">
            <a:spAutoFit/>
          </a:bodyPr>
          <a:lstStyle/>
          <a:p>
            <a:r>
              <a:rPr b="0" sz="900" i="0">
                <a:solidFill>
                  <a:srgbClr val="667085"/>
                </a:solidFill>
                <a:latin typeface="Calibri"/>
              </a:rPr>
              <a:t>NMIMS MPSTME  ·  Image &amp; Video Processing</a:t>
            </a:r>
          </a:p>
        </p:txBody>
      </p:sp>
      <p:sp>
        <p:nvSpPr>
          <p:cNvPr id="7" name="TextBox 6"/>
          <p:cNvSpPr txBox="1"/>
          <p:nvPr/>
        </p:nvSpPr>
        <p:spPr>
          <a:xfrm>
            <a:off x="11155680" y="6473952"/>
            <a:ext cx="548640" cy="256032"/>
          </a:xfrm>
          <a:prstGeom prst="rect">
            <a:avLst/>
          </a:prstGeom>
          <a:noFill/>
        </p:spPr>
        <p:txBody>
          <a:bodyPr wrap="square" lIns="36576" rIns="36576" tIns="18288" bIns="18288" anchor="t">
            <a:spAutoFit/>
          </a:bodyPr>
          <a:lstStyle/>
          <a:p>
            <a:pPr algn="r"/>
            <a:r>
              <a:rPr b="0" sz="900" i="0">
                <a:solidFill>
                  <a:srgbClr val="667085"/>
                </a:solidFill>
                <a:latin typeface="Calibri"/>
              </a:rPr>
              <a:t>24</a:t>
            </a:r>
          </a:p>
        </p:txBody>
      </p:sp>
      <p:sp>
        <p:nvSpPr>
          <p:cNvPr id="8" name="TextBox 7"/>
          <p:cNvSpPr txBox="1"/>
          <p:nvPr/>
        </p:nvSpPr>
        <p:spPr>
          <a:xfrm>
            <a:off x="502920" y="1691640"/>
            <a:ext cx="11155680" cy="4526280"/>
          </a:xfrm>
          <a:prstGeom prst="rect">
            <a:avLst/>
          </a:prstGeom>
          <a:noFill/>
        </p:spPr>
        <p:txBody>
          <a:bodyPr wrap="square" lIns="36576" rIns="36576" tIns="18288" bIns="18288" anchor="t">
            <a:spAutoFit/>
          </a:bodyPr>
          <a:lstStyle/>
          <a:p>
            <a:pPr>
              <a:spcAft>
                <a:spcPts val="500"/>
              </a:spcAft>
            </a:pPr>
            <a:r>
              <a:rPr b="0" sz="1150" i="0">
                <a:solidFill>
                  <a:srgbClr val="1A2233"/>
                </a:solidFill>
                <a:latin typeface="Calibri"/>
              </a:rPr>
              <a:t>[1] I. J. Cox et al., “Secure spread spectrum watermarking for multimedia,” IEEE Trans. Image Process., 6(12):1673–1687, 1997.</a:t>
            </a:r>
          </a:p>
          <a:p>
            <a:pPr>
              <a:spcAft>
                <a:spcPts val="500"/>
              </a:spcAft>
            </a:pPr>
            <a:r>
              <a:rPr b="0" sz="1150" i="0">
                <a:solidFill>
                  <a:srgbClr val="1A2233"/>
                </a:solidFill>
                <a:latin typeface="Calibri"/>
              </a:rPr>
              <a:t>[2] R. Liu and T. Tan, “An SVD-based watermarking scheme for protecting rightful ownership,” IEEE Trans. Multimedia, 4:121–128, 2002.</a:t>
            </a:r>
          </a:p>
          <a:p>
            <a:pPr>
              <a:spcAft>
                <a:spcPts val="500"/>
              </a:spcAft>
            </a:pPr>
            <a:r>
              <a:rPr b="0" sz="1150" i="0">
                <a:solidFill>
                  <a:srgbClr val="1A2233"/>
                </a:solidFill>
                <a:latin typeface="Calibri"/>
              </a:rPr>
              <a:t>[3] E. Ganic and A. M. Eskicioglu, “Robust DWT-SVD domain image watermarking: embedding data in all frequencies,” Proc. MM&amp;Sec ’04, ACM, pp. 166–174, 2004.</a:t>
            </a:r>
          </a:p>
          <a:p>
            <a:pPr>
              <a:spcAft>
                <a:spcPts val="500"/>
              </a:spcAft>
            </a:pPr>
            <a:r>
              <a:rPr b="0" sz="1150" i="0">
                <a:solidFill>
                  <a:srgbClr val="1A2233"/>
                </a:solidFill>
                <a:latin typeface="Calibri"/>
              </a:rPr>
              <a:t>[4] X.-P. Zhang and K. Li, “Comments on ‘An SVD-based watermarking scheme…’,” IEEE Trans. Multimedia, 7:593–594, 2005.</a:t>
            </a:r>
          </a:p>
          <a:p>
            <a:pPr>
              <a:spcAft>
                <a:spcPts val="500"/>
              </a:spcAft>
            </a:pPr>
            <a:r>
              <a:rPr b="0" sz="1150" i="0">
                <a:solidFill>
                  <a:srgbClr val="1A2233"/>
                </a:solidFill>
                <a:latin typeface="Calibri"/>
              </a:rPr>
              <a:t>[5] G. C.-W. Ting, “Ambiguity attacks on the Ganic–Eskicioglu DWT-SVD scheme,” Proc. ICISC, pp. 378–388, 2005.</a:t>
            </a:r>
          </a:p>
          <a:p>
            <a:pPr>
              <a:spcAft>
                <a:spcPts val="500"/>
              </a:spcAft>
            </a:pPr>
            <a:r>
              <a:rPr b="0" sz="1150" i="0">
                <a:solidFill>
                  <a:srgbClr val="1A2233"/>
                </a:solidFill>
                <a:latin typeface="Calibri"/>
              </a:rPr>
              <a:t>[7] C.-C. Lai and C.-C. Tsai, “Digital image watermarking using DWT and SVD,” IEEE Trans. Instrum. Meas., 59(11):3060–3063, 2010.</a:t>
            </a:r>
          </a:p>
          <a:p>
            <a:pPr>
              <a:spcAft>
                <a:spcPts val="500"/>
              </a:spcAft>
            </a:pPr>
            <a:r>
              <a:rPr b="0" sz="1150" i="0">
                <a:solidFill>
                  <a:srgbClr val="1A2233"/>
                </a:solidFill>
                <a:latin typeface="Calibri"/>
              </a:rPr>
              <a:t>[8] S. Bekkouch and K. M. Faraoun, “…combined DCT-DWT-SVD transforms,” J. Inf. Process. Syst., 11(3):406–420, 2015.</a:t>
            </a:r>
          </a:p>
          <a:p>
            <a:pPr>
              <a:spcAft>
                <a:spcPts val="500"/>
              </a:spcAft>
            </a:pPr>
            <a:r>
              <a:rPr b="0" sz="1150" i="0">
                <a:solidFill>
                  <a:srgbClr val="1A2233"/>
                </a:solidFill>
                <a:latin typeface="Calibri"/>
              </a:rPr>
              <a:t>[9] M. Begum, J. Ferdush, M. S. Uddin, “A hybrid robust watermarking system based on DCT, DWT and SVD,” J. King Saud Univ. CIS, 34(8):5856–5867, 2022.</a:t>
            </a:r>
          </a:p>
          <a:p>
            <a:pPr>
              <a:spcAft>
                <a:spcPts val="500"/>
              </a:spcAft>
            </a:pPr>
            <a:r>
              <a:rPr b="0" sz="1150" i="0">
                <a:solidFill>
                  <a:srgbClr val="1A2233"/>
                </a:solidFill>
                <a:latin typeface="Calibri"/>
              </a:rPr>
              <a:t>[10] R. G. van Schyndel et al., “A digital watermark,” Proc. ICIP, vol. 2, pp. 86–90, 1994.   [11] E. Koch and J. Zhao, Proc. IEEE NSIP Workshop, pp. 452–455, 1995.</a:t>
            </a:r>
          </a:p>
          <a:p>
            <a:pPr>
              <a:spcAft>
                <a:spcPts val="500"/>
              </a:spcAft>
            </a:pPr>
            <a:r>
              <a:rPr b="0" sz="1150" i="0">
                <a:solidFill>
                  <a:srgbClr val="1A2233"/>
                </a:solidFill>
                <a:latin typeface="Calibri"/>
              </a:rPr>
              <a:t>[12] S. G. Mallat, IEEE Trans. PAMI, 11(7):674–693, 1989.   [13] N. Ahmed, T. Natarajan, K. R. Rao, IEEE Trans. Comput., C-23(1):90–93, 1974.</a:t>
            </a:r>
          </a:p>
          <a:p>
            <a:pPr>
              <a:spcAft>
                <a:spcPts val="500"/>
              </a:spcAft>
            </a:pPr>
            <a:r>
              <a:rPr b="0" sz="1150" i="0">
                <a:solidFill>
                  <a:srgbClr val="1A2233"/>
                </a:solidFill>
                <a:latin typeface="Calibri"/>
              </a:rPr>
              <a:t>[16] Z. Wang et al., “Image quality assessment: from error visibility to structural similarity,” IEEE Trans. Image Process., 13(4):600–612, 2004.</a:t>
            </a:r>
          </a:p>
          <a:p>
            <a:pPr>
              <a:spcAft>
                <a:spcPts val="500"/>
              </a:spcAft>
            </a:pPr>
            <a:r>
              <a:rPr b="0" sz="1150" i="0">
                <a:solidFill>
                  <a:srgbClr val="1A2233"/>
                </a:solidFill>
                <a:latin typeface="Calibri"/>
              </a:rPr>
              <a:t>[17] F. Hartung and M. Kutter, “Multimedia watermarking techniques,” Proc. IEEE, 87(7):1079–1107, 1999.</a:t>
            </a:r>
          </a:p>
          <a:p>
            <a:pPr>
              <a:spcAft>
                <a:spcPts val="500"/>
              </a:spcAft>
            </a:pPr>
            <a:r>
              <a:rPr b="0" sz="1150" i="0">
                <a:solidFill>
                  <a:srgbClr val="1A2233"/>
                </a:solidFill>
                <a:latin typeface="Calibri"/>
              </a:rPr>
              <a:t>[22] C.-Y. Lin et al., “Rotation, scale, and translation resilient watermarking for images,” IEEE Trans. Image Process., 10(5):767–782, 2001.</a:t>
            </a:r>
          </a:p>
          <a:p>
            <a:pPr>
              <a:spcAft>
                <a:spcPts val="500"/>
              </a:spcAft>
            </a:pPr>
            <a:r>
              <a:rPr b="0" sz="1150" i="0">
                <a:solidFill>
                  <a:srgbClr val="1A2233"/>
                </a:solidFill>
                <a:latin typeface="Calibri"/>
              </a:rPr>
              <a:t>[23] F. Hartung and B. Girod, “Watermarking of uncompressed and compressed video,” Signal Process., 66(3):283–301, 1998.</a:t>
            </a:r>
          </a:p>
          <a:p>
            <a:pPr>
              <a:spcAft>
                <a:spcPts val="500"/>
              </a:spcAft>
            </a:pPr>
            <a:r>
              <a:rPr b="0" sz="1150" i="0">
                <a:solidFill>
                  <a:srgbClr val="1A2233"/>
                </a:solidFill>
                <a:latin typeface="Calibri"/>
              </a:rPr>
              <a:t>[28] </a:t>
            </a:r>
            <a:r>
              <a:rPr b="0" sz="1050">
                <a:solidFill>
                  <a:srgbClr val="0E8F89"/>
                </a:solidFill>
                <a:latin typeface="Consolas"/>
              </a:rPr>
              <a:t>blind-watermark</a:t>
            </a:r>
            <a:r>
              <a:rPr b="0" sz="1150" i="0">
                <a:solidFill>
                  <a:srgbClr val="1A2233"/>
                </a:solidFill>
                <a:latin typeface="Calibri"/>
              </a:rPr>
              <a:t> 0.4.4, github.com/guofei9987/blind_watermark   ·   [29] J. Zhu et al., HiDDeN, ECCV 2018   ·   [30] M. Tancik et al., StegaStamp, CVPR 2020</a:t>
            </a:r>
          </a:p>
          <a:p>
            <a:pPr>
              <a:spcAft>
                <a:spcPts val="500"/>
              </a:spcAft>
            </a:pPr>
            <a:r>
              <a:rPr b="0" sz="1150" i="0">
                <a:solidFill>
                  <a:srgbClr val="1A2233"/>
                </a:solidFill>
                <a:latin typeface="Calibri"/>
              </a:rPr>
              <a:t>Software: NumPy [19], SciPy [20], scikit-image [21], PyWavelets [18], Pillow, OpenCV, FFmpeg, ImageMagick.   Dataset sources and attributions: data/README.md.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