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Normalized Correlation (NC)</c:v>
                </c:pt>
              </c:strCache>
            </c:strRef>
          </c:tx>
          <c:spPr>
            <a:solidFill>
              <a:srgbClr val="C1443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2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144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144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7B8B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7B8B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7B8B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7B8B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7B8B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7B8B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7B8B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7B8B0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17B8B0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17B8B0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17B8B0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17B8B0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17B8B0"/>
              </a:solidFill>
              <a:effectLst/>
            </c:spPr>
          </c:dPt>
          <c:cat>
            <c:multiLvlStrRef>
              <c:f>Sheet1!$A$2:$A$16</c:f>
              <c:multiLvlStrCache>
                <c:ptCount val="15"/>
                <c:lvl>
                  <c:pt idx="0">
                    <c:v>Cropping 25%</c:v>
                  </c:pt>
                  <c:pt idx="1">
                    <c:v>Histogram Equalization</c:v>
                  </c:pt>
                  <c:pt idx="2">
                    <c:v>Rotation 15°</c:v>
                  </c:pt>
                  <c:pt idx="3">
                    <c:v>Gaussian Noise (var=0.02)</c:v>
                  </c:pt>
                  <c:pt idx="4">
                    <c:v>Rotation 5°</c:v>
                  </c:pt>
                  <c:pt idx="5">
                    <c:v>Salt &amp; Pepper (2%)</c:v>
                  </c:pt>
                  <c:pt idx="6">
                    <c:v>Gaussian Noise (var=0.005)</c:v>
                  </c:pt>
                  <c:pt idx="7">
                    <c:v>Gaussian Blur (σ=1.5)</c:v>
                  </c:pt>
                  <c:pt idx="8">
                    <c:v>Scaling 0.5×</c:v>
                  </c:pt>
                  <c:pt idx="9">
                    <c:v>Sharpening</c:v>
                  </c:pt>
                  <c:pt idx="10">
                    <c:v>Median Filter 3×3</c:v>
                  </c:pt>
                  <c:pt idx="11">
                    <c:v>No Attack</c:v>
                  </c:pt>
                  <c:pt idx="12">
                    <c:v>JPEG Q=20</c:v>
                  </c:pt>
                  <c:pt idx="13">
                    <c:v>JPEG Q=50</c:v>
                  </c:pt>
                  <c:pt idx="14">
                    <c:v>JPEG Q=90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</c:v>
                </c:pt>
                <c:pt idx="1">
                  <c:v>0.0956</c:v>
                </c:pt>
                <c:pt idx="2">
                  <c:v>0.7873</c:v>
                </c:pt>
                <c:pt idx="3">
                  <c:v>0.8017</c:v>
                </c:pt>
                <c:pt idx="4">
                  <c:v>0.9319</c:v>
                </c:pt>
                <c:pt idx="5">
                  <c:v>0.9328</c:v>
                </c:pt>
                <c:pt idx="6">
                  <c:v>0.9561</c:v>
                </c:pt>
                <c:pt idx="7">
                  <c:v>0.9574</c:v>
                </c:pt>
                <c:pt idx="8">
                  <c:v>0.9691</c:v>
                </c:pt>
                <c:pt idx="9">
                  <c:v>0.9803</c:v>
                </c:pt>
                <c:pt idx="10">
                  <c:v>0.9806</c:v>
                </c:pt>
                <c:pt idx="11">
                  <c:v>0.981</c:v>
                </c:pt>
                <c:pt idx="12">
                  <c:v>0.984</c:v>
                </c:pt>
                <c:pt idx="13">
                  <c:v>0.9844</c:v>
                </c:pt>
                <c:pt idx="14">
                  <c:v>0.9847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A22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2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12700" cap="flat">
              <a:solidFill>
                <a:srgbClr val="DCE2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67085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667085"/>
                    </a:solidFill>
                    <a:latin typeface="Calibri"/>
                  </a:rPr>
                  <a:t>Normalized Correlation (NC)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PSNR — imperceptibility (dB)</c:v>
                </c:pt>
              </c:strCache>
            </c:strRef>
          </c:tx>
          <c:spPr>
            <a:solidFill>
              <a:srgbClr val="132347"/>
            </a:solidFill>
            <a:ln w="31750" cap="flat">
              <a:solidFill>
                <a:srgbClr val="13234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32347"/>
              </a:solidFill>
              <a:ln w="9525" cap="flat">
                <a:solidFill>
                  <a:srgbClr val="13234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0.02</c:v>
                  </c:pt>
                  <c:pt idx="1">
                    <c:v>0.05</c:v>
                  </c:pt>
                  <c:pt idx="2">
                    <c:v>0.08</c:v>
                  </c:pt>
                  <c:pt idx="3">
                    <c:v>0.10</c:v>
                  </c:pt>
                  <c:pt idx="4">
                    <c:v>0.15</c:v>
                  </c:pt>
                  <c:pt idx="5">
                    <c:v>0.20</c:v>
                  </c:pt>
                  <c:pt idx="6">
                    <c:v>0.30</c:v>
                  </c:pt>
                  <c:pt idx="7">
                    <c:v>0.40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49.6</c:v>
                </c:pt>
                <c:pt idx="1">
                  <c:v>41.6</c:v>
                </c:pt>
                <c:pt idx="2">
                  <c:v>37.5</c:v>
                </c:pt>
                <c:pt idx="3">
                  <c:v>35.6</c:v>
                </c:pt>
                <c:pt idx="4">
                  <c:v>32.1</c:v>
                </c:pt>
                <c:pt idx="5">
                  <c:v>29.6</c:v>
                </c:pt>
                <c:pt idx="6">
                  <c:v>26.1</c:v>
                </c:pt>
                <c:pt idx="7">
                  <c:v>23.5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NC after JPEG Q=50 — robustness</c:v>
                </c:pt>
              </c:strCache>
            </c:strRef>
          </c:tx>
          <c:spPr>
            <a:solidFill>
              <a:srgbClr val="17B8B0"/>
            </a:solidFill>
            <a:ln w="31750" cap="flat">
              <a:solidFill>
                <a:srgbClr val="17B8B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6"/>
            <c:spPr>
              <a:solidFill>
                <a:srgbClr val="17B8B0"/>
              </a:solidFill>
              <a:ln w="9525" cap="flat">
                <a:solidFill>
                  <a:srgbClr val="17B8B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0.02</c:v>
                  </c:pt>
                  <c:pt idx="1">
                    <c:v>0.05</c:v>
                  </c:pt>
                  <c:pt idx="2">
                    <c:v>0.08</c:v>
                  </c:pt>
                  <c:pt idx="3">
                    <c:v>0.10</c:v>
                  </c:pt>
                  <c:pt idx="4">
                    <c:v>0.15</c:v>
                  </c:pt>
                  <c:pt idx="5">
                    <c:v>0.20</c:v>
                  </c:pt>
                  <c:pt idx="6">
                    <c:v>0.30</c:v>
                  </c:pt>
                  <c:pt idx="7">
                    <c:v>0.40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0.929</c:v>
                </c:pt>
                <c:pt idx="1">
                  <c:v>0.986</c:v>
                </c:pt>
                <c:pt idx="2">
                  <c:v>0.985</c:v>
                </c:pt>
                <c:pt idx="3">
                  <c:v>0.984</c:v>
                </c:pt>
                <c:pt idx="4">
                  <c:v>0.983</c:v>
                </c:pt>
                <c:pt idx="5">
                  <c:v>0.982</c:v>
                </c:pt>
                <c:pt idx="6">
                  <c:v>0.982</c:v>
                </c:pt>
                <c:pt idx="7">
                  <c:v>0.981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67085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667085"/>
                    </a:solidFill>
                    <a:latin typeface="Calibri"/>
                  </a:rPr>
                  <a:t>Embedding strength (α)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CE2EB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2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CE2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132347"/>
                    </a:solidFill>
                    <a:latin typeface="Calibri"/>
                  </a:defRPr>
                </a:pPr>
                <a:r>
                  <a:rPr sz="1050" b="0" i="0" u="none" strike="noStrike">
                    <a:solidFill>
                      <a:srgbClr val="132347"/>
                    </a:solidFill>
                    <a:latin typeface="Calibri"/>
                  </a:rPr>
                  <a:t>PSNR (dB)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3234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1"/>
          <c:min val="0.9"/>
        </c:scaling>
        <c:delete val="0"/>
        <c:axPos val="r"/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0E8F89"/>
                    </a:solidFill>
                    <a:latin typeface="Calibri"/>
                  </a:defRPr>
                </a:pPr>
                <a:r>
                  <a:rPr sz="1050" b="0" i="0" u="none" strike="noStrike">
                    <a:solidFill>
                      <a:srgbClr val="0E8F89"/>
                    </a:solidFill>
                    <a:latin typeface="Calibri"/>
                  </a:rPr>
                  <a:t>NC after JPEG-50 attack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E8F89"/>
                </a:solidFill>
                <a:latin typeface="Calibri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2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65760"/>
            <a:ext cx="6126480" cy="6126480"/>
          </a:xfrm>
          <a:prstGeom prst="ellipse">
            <a:avLst/>
          </a:prstGeom>
          <a:ln w="12700">
            <a:solidFill>
              <a:srgbClr val="17B8B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52360" y="960120"/>
            <a:ext cx="4937760" cy="4937760"/>
          </a:xfrm>
          <a:prstGeom prst="ellipse">
            <a:avLst/>
          </a:prstGeom>
          <a:ln w="12700">
            <a:solidFill>
              <a:srgbClr val="17B8B0">
                <a:alpha val="39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1554480"/>
            <a:ext cx="3749040" cy="3749040"/>
          </a:xfrm>
          <a:prstGeom prst="ellipse">
            <a:avLst/>
          </a:prstGeom>
          <a:ln w="12700">
            <a:solidFill>
              <a:srgbClr val="17B8B0">
                <a:alpha val="3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2148840"/>
            <a:ext cx="2560320" cy="2560320"/>
          </a:xfrm>
          <a:prstGeom prst="ellipse">
            <a:avLst/>
          </a:prstGeom>
          <a:ln w="12700">
            <a:solidFill>
              <a:srgbClr val="17B8B0">
                <a:alpha val="2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35440" y="2743200"/>
            <a:ext cx="1371600" cy="1371600"/>
          </a:xfrm>
          <a:prstGeom prst="ellipse">
            <a:avLst/>
          </a:prstGeom>
          <a:ln w="12700">
            <a:solidFill>
              <a:srgbClr val="17B8B0">
                <a:alpha val="21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66376" y="3374136"/>
            <a:ext cx="109728" cy="109728"/>
          </a:xfrm>
          <a:prstGeom prst="ellipse">
            <a:avLst/>
          </a:prstGeom>
          <a:solidFill>
            <a:srgbClr val="17B8B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6858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NMIMS  MPSTME   ·   B.TECH COMPUTER ENGINEERING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123444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</a:t>
            </a:r>
            <a:endParaRPr lang="en-US" sz="5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Watermarking</a:t>
            </a:r>
            <a:endParaRPr lang="en-US" sz="50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0632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DWT–DCT–SVD Approach for Robust, Imperceptible Copyright Protection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2920" y="3886200"/>
            <a:ext cx="5120640" cy="548640"/>
          </a:xfrm>
          <a:prstGeom prst="roundRect">
            <a:avLst>
              <a:gd name="adj" fmla="val 23333"/>
            </a:avLst>
          </a:prstGeom>
          <a:solidFill>
            <a:srgbClr val="1B2E57"/>
          </a:solidFill>
          <a:ln w="12700">
            <a:solidFill>
              <a:srgbClr val="17B8B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8862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spc="100" kern="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SIGNAL PROCESSING  —  NO MACHINE LEARNING / DEEP LEARNING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4983480"/>
            <a:ext cx="4206240" cy="0"/>
          </a:xfrm>
          <a:prstGeom prst="line">
            <a:avLst/>
          </a:prstGeom>
          <a:noFill/>
          <a:ln w="12700">
            <a:solidFill>
              <a:srgbClr val="2B3E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5193792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Krishang Vikram Singh
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3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B106  ·  Batch C1
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3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Image and Video Processing (IVP)  ·  July 2026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NMIMS MPSTME  ·  Image &amp; Video Processing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7B8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384048"/>
            <a:ext cx="10728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· MOTIVATION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1118585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Copy a Digital Image in Seconds — Proving Who Owns It Is the Hard Part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783080"/>
            <a:ext cx="6355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b="1" i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 image can be copied, redistributed, and repurposed in one click.”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880360"/>
            <a:ext cx="6355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Photographers, medical institutions, publishers, and manufacturers all need a way to embed an invisible, verifiable ownership signature into their visual content — without degrading its visual quality.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3977640"/>
            <a:ext cx="6355080" cy="1783080"/>
          </a:xfrm>
          <a:prstGeom prst="roundRect">
            <a:avLst>
              <a:gd name="adj" fmla="val 4103"/>
            </a:avLst>
          </a:prstGeom>
          <a:solidFill>
            <a:srgbClr val="F3F5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977640"/>
            <a:ext cx="5715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watermarking hides auxiliary information directly inside the pixel or transform-domain data of the host media — a signature that survives ordinary handling but stays invisible to the eye.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178040" y="1783080"/>
            <a:ext cx="4510735" cy="3977640"/>
          </a:xfrm>
          <a:prstGeom prst="roundRect">
            <a:avLst>
              <a:gd name="adj" fmla="val 1839"/>
            </a:avLst>
          </a:prstGeom>
          <a:solidFill>
            <a:srgbClr val="13234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0" y="2011680"/>
            <a:ext cx="3870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7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NEEDS THIS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498080" y="2514600"/>
            <a:ext cx="457200" cy="457200"/>
          </a:xfrm>
          <a:prstGeom prst="ellipse">
            <a:avLst/>
          </a:prstGeom>
          <a:solidFill>
            <a:srgbClr val="1B2E57"/>
          </a:solidFill>
          <a:ln/>
        </p:spPr>
      </p:sp>
      <p:pic>
        <p:nvPicPr>
          <p:cNvPr id="13" name="Image 0" descr="/home/claude/icons/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2380" y="2628900"/>
            <a:ext cx="228600" cy="2286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138160" y="2468880"/>
            <a:ext cx="3230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Photographers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8138160" y="2770632"/>
            <a:ext cx="3230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3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original shots from unlicensed reuse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498080" y="3291840"/>
            <a:ext cx="457200" cy="457200"/>
          </a:xfrm>
          <a:prstGeom prst="ellipse">
            <a:avLst/>
          </a:prstGeom>
          <a:solidFill>
            <a:srgbClr val="1B2E57"/>
          </a:solidFill>
          <a:ln/>
        </p:spPr>
      </p:sp>
      <p:pic>
        <p:nvPicPr>
          <p:cNvPr id="17" name="Image 1" descr="/home/claude/icons/hospit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2380" y="3406140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138160" y="3246120"/>
            <a:ext cx="3230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Institutions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8138160" y="3547872"/>
            <a:ext cx="3230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3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scan and record authenticity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7498080" y="4069080"/>
            <a:ext cx="457200" cy="457200"/>
          </a:xfrm>
          <a:prstGeom prst="ellipse">
            <a:avLst/>
          </a:prstGeom>
          <a:solidFill>
            <a:srgbClr val="1B2E57"/>
          </a:solidFill>
          <a:ln/>
        </p:spPr>
      </p:sp>
      <p:pic>
        <p:nvPicPr>
          <p:cNvPr id="21" name="Image 2" descr="/home/claude/icons/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2380" y="4183380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138160" y="4023360"/>
            <a:ext cx="3230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Publishers</a:t>
            </a:r>
            <a:endParaRPr lang="en-US" sz="1350" dirty="0"/>
          </a:p>
        </p:txBody>
      </p:sp>
      <p:sp>
        <p:nvSpPr>
          <p:cNvPr id="23" name="Text 18"/>
          <p:cNvSpPr txBox="1"/>
          <p:nvPr/>
        </p:nvSpPr>
        <p:spPr>
          <a:xfrm>
            <a:off x="8138160" y="4325112"/>
            <a:ext cx="3230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3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unauthorized redistribution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7498080" y="4846320"/>
            <a:ext cx="457200" cy="457200"/>
          </a:xfrm>
          <a:prstGeom prst="ellipse">
            <a:avLst/>
          </a:prstGeom>
          <a:solidFill>
            <a:srgbClr val="1B2E57"/>
          </a:solidFill>
          <a:ln/>
        </p:spPr>
      </p:sp>
      <p:pic>
        <p:nvPicPr>
          <p:cNvPr id="25" name="Image 3" descr="/home/claude/icons/indust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2380" y="4960620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138160" y="4800600"/>
            <a:ext cx="3230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Manufacturers</a:t>
            </a:r>
            <a:endParaRPr lang="en-US" sz="1350" dirty="0"/>
          </a:p>
        </p:txBody>
      </p:sp>
      <p:sp>
        <p:nvSpPr>
          <p:cNvPr id="27" name="Text 21"/>
          <p:cNvSpPr txBox="1"/>
          <p:nvPr/>
        </p:nvSpPr>
        <p:spPr>
          <a:xfrm>
            <a:off x="8138160" y="5102352"/>
            <a:ext cx="3230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3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Certifying proprietary technical imagery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NMIMS MPSTME  ·  Image &amp; Video Processing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7B8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384048"/>
            <a:ext cx="10728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· PROBLEM STATEMENT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1118585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Watermark Must Satisfy Three Hard Constraints at Once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3515258" cy="2880360"/>
          </a:xfrm>
          <a:prstGeom prst="roundRect">
            <a:avLst>
              <a:gd name="adj" fmla="val 2540"/>
            </a:avLst>
          </a:prstGeom>
          <a:solidFill>
            <a:srgbClr val="132347"/>
          </a:solidFill>
          <a:ln/>
          <a:effectLst>
            <a:outerShdw sx="100000" sy="100000" kx="0" ky="0" algn="bl" rotWithShape="0" blurRad="88900" dist="25400" dir="5400000">
              <a:srgbClr val="1A2233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94789" y="2286000"/>
            <a:ext cx="731520" cy="731520"/>
          </a:xfrm>
          <a:prstGeom prst="ellipse">
            <a:avLst/>
          </a:prstGeom>
          <a:solidFill>
            <a:srgbClr val="1B2E57"/>
          </a:solidFill>
          <a:ln/>
        </p:spPr>
      </p:sp>
      <p:pic>
        <p:nvPicPr>
          <p:cNvPr id="8" name="Image 0" descr="/home/claude/icons/eyesl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0354" y="2461565"/>
            <a:ext cx="380390" cy="38039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31520" y="324612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Imperceptible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703320"/>
            <a:ext cx="27837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3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minimal, invisible distortion to the host image — no visible trace of the watermark.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38218" y="1874520"/>
            <a:ext cx="3515258" cy="2880360"/>
          </a:xfrm>
          <a:prstGeom prst="roundRect">
            <a:avLst>
              <a:gd name="adj" fmla="val 2540"/>
            </a:avLst>
          </a:prstGeom>
          <a:solidFill>
            <a:srgbClr val="132347"/>
          </a:solidFill>
          <a:ln/>
          <a:effectLst>
            <a:outerShdw sx="100000" sy="100000" kx="0" ky="0" algn="bl" rotWithShape="0" blurRad="88900" dist="25400" dir="5400000">
              <a:srgbClr val="1A2233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30088" y="2286000"/>
            <a:ext cx="731520" cy="731520"/>
          </a:xfrm>
          <a:prstGeom prst="ellipse">
            <a:avLst/>
          </a:prstGeom>
          <a:solidFill>
            <a:srgbClr val="1B2E57"/>
          </a:solidFill>
          <a:ln/>
        </p:spPr>
      </p:sp>
      <p:pic>
        <p:nvPicPr>
          <p:cNvPr id="13" name="Image 1" descr="/home/claude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652" y="2461565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66818" y="324612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703978" y="3703320"/>
            <a:ext cx="27837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3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real-world handling: compression, noise, filtering, and geometric transformation.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73517" y="1874520"/>
            <a:ext cx="3515258" cy="2880360"/>
          </a:xfrm>
          <a:prstGeom prst="roundRect">
            <a:avLst>
              <a:gd name="adj" fmla="val 2540"/>
            </a:avLst>
          </a:prstGeom>
          <a:solidFill>
            <a:srgbClr val="132347"/>
          </a:solidFill>
          <a:ln/>
          <a:effectLst>
            <a:outerShdw sx="100000" sy="100000" kx="0" ky="0" algn="bl" rotWithShape="0" blurRad="88900" dist="25400" dir="5400000">
              <a:srgbClr val="1A2233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565386" y="2286000"/>
            <a:ext cx="731520" cy="731520"/>
          </a:xfrm>
          <a:prstGeom prst="ellipse">
            <a:avLst/>
          </a:prstGeom>
          <a:solidFill>
            <a:srgbClr val="1B2E57"/>
          </a:solidFill>
          <a:ln/>
        </p:spPr>
      </p:sp>
      <p:pic>
        <p:nvPicPr>
          <p:cNvPr id="18" name="Image 2" descr="/home/claude/icons/calcula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0951" y="2461565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02117" y="324612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539277" y="3703320"/>
            <a:ext cx="27837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3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derivable through closed-form linear algebra — no learned or black-box component.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02920" y="5029200"/>
            <a:ext cx="11185855" cy="868680"/>
          </a:xfrm>
          <a:prstGeom prst="roundRect">
            <a:avLst>
              <a:gd name="adj" fmla="val 8421"/>
            </a:avLst>
          </a:prstGeom>
          <a:solidFill>
            <a:srgbClr val="F3F5F9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822960" y="50292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spc="150" kern="0" dirty="0">
                <a:solidFill>
                  <a:srgbClr val="0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hybrid embed/extract pipeline  •  quantify imperceptibility (PSNR, SSIM)  •  quantify robustness (NC, BER) under attack  •  characterize the imperceptibility–robustness trade-off  •  identify and explain failure modes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NMIMS MPSTME  ·  Image &amp; Video Processing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7B8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384048"/>
            <a:ext cx="10728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1118585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Transform-Domain Methods Beat Spatial-Domain — and Hybrids Beat Any Single Transform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5432908" cy="2331720"/>
          </a:xfrm>
          <a:prstGeom prst="roundRect">
            <a:avLst>
              <a:gd name="adj" fmla="val 3137"/>
            </a:avLst>
          </a:prstGeom>
          <a:solidFill>
            <a:srgbClr val="FBEAE8"/>
          </a:solidFill>
          <a:ln w="12700">
            <a:solidFill>
              <a:srgbClr val="F0CF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2140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icons/ti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515" y="2216963"/>
            <a:ext cx="311810" cy="31181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2103120"/>
            <a:ext cx="41527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Domain — LSB Substitution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788920"/>
            <a:ext cx="47928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high embedding capacity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Destroyed by mild lossy compression or filtering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Unsuitable for robust copyright protection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55868" y="1828800"/>
            <a:ext cx="5432908" cy="2331720"/>
          </a:xfrm>
          <a:prstGeom prst="roundRect">
            <a:avLst>
              <a:gd name="adj" fmla="val 3137"/>
            </a:avLst>
          </a:prstGeom>
          <a:solidFill>
            <a:srgbClr val="E6F5F4"/>
          </a:solidFill>
          <a:ln w="12700">
            <a:solidFill>
              <a:srgbClr val="BCE6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75908" y="212140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462" y="2216963"/>
            <a:ext cx="311810" cy="31181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15988" y="2103120"/>
            <a:ext cx="41527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Domain — DCT / DWT / SVD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6575908" y="2788920"/>
            <a:ext cx="47928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 watermark energy across frequency components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Substantially more robust to compression &amp; filtering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modern hybrid watermarking schemes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02920" y="4434840"/>
            <a:ext cx="11185855" cy="1234440"/>
          </a:xfrm>
          <a:prstGeom prst="roundRect">
            <a:avLst>
              <a:gd name="adj" fmla="val 5926"/>
            </a:avLst>
          </a:prstGeom>
          <a:solidFill>
            <a:srgbClr val="132347"/>
          </a:solidFill>
          <a:ln/>
          <a:effectLst>
            <a:outerShdw sx="100000" sy="100000" kx="0" ky="0" algn="bl" rotWithShape="0" blurRad="88900" dist="25400" dir="5400000">
              <a:srgbClr val="1A2233">
                <a:alpha val="14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68680" y="443484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 DWT + DCT + SVD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3886200" y="4654296"/>
            <a:ext cx="2296058" cy="804672"/>
          </a:xfrm>
          <a:prstGeom prst="roundRect">
            <a:avLst>
              <a:gd name="adj" fmla="val 6818"/>
            </a:avLst>
          </a:prstGeom>
          <a:solidFill>
            <a:srgbClr val="1B2E57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4069080" y="4709160"/>
            <a:ext cx="2021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DWT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4069080" y="5001768"/>
            <a:ext cx="2067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3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Multi-resolution robustness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365138" y="4654296"/>
            <a:ext cx="2296058" cy="804672"/>
          </a:xfrm>
          <a:prstGeom prst="roundRect">
            <a:avLst>
              <a:gd name="adj" fmla="val 6818"/>
            </a:avLst>
          </a:prstGeom>
          <a:solidFill>
            <a:srgbClr val="1B2E57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6548018" y="4709160"/>
            <a:ext cx="2021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DCT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6548018" y="5001768"/>
            <a:ext cx="2067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3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JPEG-aligned compression robustness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8844077" y="4654296"/>
            <a:ext cx="2296058" cy="804672"/>
          </a:xfrm>
          <a:prstGeom prst="roundRect">
            <a:avLst>
              <a:gd name="adj" fmla="val 6818"/>
            </a:avLst>
          </a:prstGeom>
          <a:solidFill>
            <a:srgbClr val="1B2E5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9026957" y="4709160"/>
            <a:ext cx="2021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9026957" y="5001768"/>
            <a:ext cx="2067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3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Numerically stable, imperceptible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NMIMS MPSTME  ·  Image &amp; Video Processing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7B8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384048"/>
            <a:ext cx="10728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 · SYSTEM ARCHITECTURE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1118585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Watermark Is Hidden Inside the Image's Algebraic Structure, Not Its Pixels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63144" y="2880360"/>
            <a:ext cx="1389888" cy="1234440"/>
          </a:xfrm>
          <a:prstGeom prst="roundRect">
            <a:avLst>
              <a:gd name="adj" fmla="val 5926"/>
            </a:avLst>
          </a:prstGeom>
          <a:solidFill>
            <a:srgbClr val="F3F5F9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6296" y="2880360"/>
            <a:ext cx="12435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Image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512×512 grayscale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53032" y="3415284"/>
            <a:ext cx="256032" cy="164592"/>
          </a:xfrm>
          <a:prstGeom prst="rightArrow">
            <a:avLst/>
          </a:prstGeom>
          <a:solidFill>
            <a:srgbClr val="667085"/>
          </a:solidFill>
          <a:ln/>
        </p:spPr>
      </p:sp>
      <p:sp>
        <p:nvSpPr>
          <p:cNvPr id="9" name="Shape 7"/>
          <p:cNvSpPr/>
          <p:nvPr/>
        </p:nvSpPr>
        <p:spPr>
          <a:xfrm>
            <a:off x="2109064" y="2880360"/>
            <a:ext cx="1389888" cy="1234440"/>
          </a:xfrm>
          <a:prstGeom prst="roundRect">
            <a:avLst>
              <a:gd name="adj" fmla="val 5926"/>
            </a:avLst>
          </a:prstGeom>
          <a:solidFill>
            <a:srgbClr val="F3F5F9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82216" y="2880360"/>
            <a:ext cx="12435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DWT (Haar)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LL sub-band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98952" y="3415284"/>
            <a:ext cx="256032" cy="164592"/>
          </a:xfrm>
          <a:prstGeom prst="rightArrow">
            <a:avLst/>
          </a:prstGeom>
          <a:solidFill>
            <a:srgbClr val="667085"/>
          </a:solidFill>
          <a:ln/>
        </p:spPr>
      </p:sp>
      <p:sp>
        <p:nvSpPr>
          <p:cNvPr id="12" name="Shape 10"/>
          <p:cNvSpPr/>
          <p:nvPr/>
        </p:nvSpPr>
        <p:spPr>
          <a:xfrm>
            <a:off x="3754984" y="2880360"/>
            <a:ext cx="1389888" cy="1234440"/>
          </a:xfrm>
          <a:prstGeom prst="roundRect">
            <a:avLst>
              <a:gd name="adj" fmla="val 5926"/>
            </a:avLst>
          </a:prstGeom>
          <a:solidFill>
            <a:srgbClr val="F3F5F9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28136" y="2880360"/>
            <a:ext cx="12435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DCT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LL sub-band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44872" y="3415284"/>
            <a:ext cx="256032" cy="164592"/>
          </a:xfrm>
          <a:prstGeom prst="rightArrow">
            <a:avLst/>
          </a:prstGeom>
          <a:solidFill>
            <a:srgbClr val="667085"/>
          </a:solidFill>
          <a:ln/>
        </p:spPr>
      </p:sp>
      <p:sp>
        <p:nvSpPr>
          <p:cNvPr id="15" name="Shape 13"/>
          <p:cNvSpPr/>
          <p:nvPr/>
        </p:nvSpPr>
        <p:spPr>
          <a:xfrm>
            <a:off x="5400904" y="2880360"/>
            <a:ext cx="1389888" cy="1234440"/>
          </a:xfrm>
          <a:prstGeom prst="roundRect">
            <a:avLst>
              <a:gd name="adj" fmla="val 5926"/>
            </a:avLst>
          </a:prstGeom>
          <a:solidFill>
            <a:srgbClr val="F3F5F9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74056" y="2880360"/>
            <a:ext cx="12435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U·S·Vᵀ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90792" y="3415284"/>
            <a:ext cx="256032" cy="164592"/>
          </a:xfrm>
          <a:prstGeom prst="rightArrow">
            <a:avLst/>
          </a:prstGeom>
          <a:solidFill>
            <a:srgbClr val="667085"/>
          </a:solidFill>
          <a:ln/>
        </p:spPr>
      </p:sp>
      <p:sp>
        <p:nvSpPr>
          <p:cNvPr id="18" name="Shape 16"/>
          <p:cNvSpPr/>
          <p:nvPr/>
        </p:nvSpPr>
        <p:spPr>
          <a:xfrm>
            <a:off x="7046824" y="2880360"/>
            <a:ext cx="1389888" cy="1234440"/>
          </a:xfrm>
          <a:prstGeom prst="roundRect">
            <a:avLst>
              <a:gd name="adj" fmla="val 5926"/>
            </a:avLst>
          </a:prstGeom>
          <a:solidFill>
            <a:srgbClr val="132347"/>
          </a:solidFill>
          <a:ln w="12700">
            <a:solidFill>
              <a:srgbClr val="13234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19976" y="2880360"/>
            <a:ext cx="12435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 = S + α·Sw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rule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436712" y="3415284"/>
            <a:ext cx="256032" cy="164592"/>
          </a:xfrm>
          <a:prstGeom prst="rightArrow">
            <a:avLst/>
          </a:prstGeom>
          <a:solidFill>
            <a:srgbClr val="667085"/>
          </a:solidFill>
          <a:ln/>
        </p:spPr>
      </p:sp>
      <p:sp>
        <p:nvSpPr>
          <p:cNvPr id="21" name="Shape 19"/>
          <p:cNvSpPr/>
          <p:nvPr/>
        </p:nvSpPr>
        <p:spPr>
          <a:xfrm>
            <a:off x="8692744" y="2880360"/>
            <a:ext cx="1389888" cy="1234440"/>
          </a:xfrm>
          <a:prstGeom prst="roundRect">
            <a:avLst>
              <a:gd name="adj" fmla="val 5926"/>
            </a:avLst>
          </a:prstGeom>
          <a:solidFill>
            <a:srgbClr val="F3F5F9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765896" y="2880360"/>
            <a:ext cx="12435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DCT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Inverse DWT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082632" y="3415284"/>
            <a:ext cx="256032" cy="164592"/>
          </a:xfrm>
          <a:prstGeom prst="rightArrow">
            <a:avLst/>
          </a:prstGeom>
          <a:solidFill>
            <a:srgbClr val="667085"/>
          </a:solidFill>
          <a:ln/>
        </p:spPr>
      </p:sp>
      <p:sp>
        <p:nvSpPr>
          <p:cNvPr id="24" name="Shape 22"/>
          <p:cNvSpPr/>
          <p:nvPr/>
        </p:nvSpPr>
        <p:spPr>
          <a:xfrm>
            <a:off x="10338664" y="2880360"/>
            <a:ext cx="1389888" cy="1234440"/>
          </a:xfrm>
          <a:prstGeom prst="roundRect">
            <a:avLst>
              <a:gd name="adj" fmla="val 5926"/>
            </a:avLst>
          </a:prstGeom>
          <a:solidFill>
            <a:srgbClr val="F3F5F9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411816" y="2880360"/>
            <a:ext cx="12435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Watermarked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73088" y="141732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E6F5F4"/>
          </a:solidFill>
          <a:ln w="12700">
            <a:solidFill>
              <a:srgbClr val="17B8B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73088" y="14173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 Logo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64×64 binary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741768" y="2057400"/>
            <a:ext cx="0" cy="822960"/>
          </a:xfrm>
          <a:prstGeom prst="line">
            <a:avLst/>
          </a:prstGeom>
          <a:noFill/>
          <a:ln w="22225">
            <a:solidFill>
              <a:srgbClr val="17B8B0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502920" y="461772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Reconstruction:  </a:t>
            </a:r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A' = U·S'·Vᵀ, followed by inverse DCT and inverse DWT to recover the watermarked image.  </a:t>
            </a:r>
            <a:pPr algn="ctr" indent="0" marL="0">
              <a:lnSpc>
                <a:spcPct val="130000"/>
              </a:lnSpc>
              <a:buNone/>
            </a:pPr>
            <a:r>
              <a:rPr lang="en-US" sz="1250" b="1" i="1" dirty="0">
                <a:solidFill>
                  <a:srgbClr val="0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(embedding strength) is the single tunable parameter controlling the imperceptibility / robustness trade-off.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02920" y="5349240"/>
            <a:ext cx="11185855" cy="594360"/>
          </a:xfrm>
          <a:prstGeom prst="roundRect">
            <a:avLst>
              <a:gd name="adj" fmla="val 12308"/>
            </a:avLst>
          </a:prstGeom>
          <a:solidFill>
            <a:srgbClr val="F3F5F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2960" y="534924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pipelines share one embedding key: this embedding pipeline runs once, by the content owner; the extraction pipeline (next) runs whenever ownership must be verified.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NMIMS MPSTME  ·  Image &amp; Video Processing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7B8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384048"/>
            <a:ext cx="10728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 · VERIFICATION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1118585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Recovering the Watermark Requires the Owner's Key — Not Guesswork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35128" y="288036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3F5F9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6568" y="2880360"/>
            <a:ext cx="1508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Image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possibly attacked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26768" y="3415284"/>
            <a:ext cx="274320" cy="164592"/>
          </a:xfrm>
          <a:prstGeom prst="rightArrow">
            <a:avLst/>
          </a:prstGeom>
          <a:solidFill>
            <a:srgbClr val="667085"/>
          </a:solidFill>
          <a:ln/>
        </p:spPr>
      </p:sp>
      <p:sp>
        <p:nvSpPr>
          <p:cNvPr id="9" name="Shape 7"/>
          <p:cNvSpPr/>
          <p:nvPr/>
        </p:nvSpPr>
        <p:spPr>
          <a:xfrm>
            <a:off x="2301088" y="288036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3F5F9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92528" y="2880360"/>
            <a:ext cx="1508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DWT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LL sub-band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992728" y="3415284"/>
            <a:ext cx="274320" cy="164592"/>
          </a:xfrm>
          <a:prstGeom prst="rightArrow">
            <a:avLst/>
          </a:prstGeom>
          <a:solidFill>
            <a:srgbClr val="667085"/>
          </a:solidFill>
          <a:ln/>
        </p:spPr>
      </p:sp>
      <p:sp>
        <p:nvSpPr>
          <p:cNvPr id="12" name="Shape 10"/>
          <p:cNvSpPr/>
          <p:nvPr/>
        </p:nvSpPr>
        <p:spPr>
          <a:xfrm>
            <a:off x="4267048" y="288036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3F5F9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58488" y="2880360"/>
            <a:ext cx="1508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DCT + SVD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S_attacked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58688" y="3415284"/>
            <a:ext cx="274320" cy="164592"/>
          </a:xfrm>
          <a:prstGeom prst="rightArrow">
            <a:avLst/>
          </a:prstGeom>
          <a:solidFill>
            <a:srgbClr val="667085"/>
          </a:solidFill>
          <a:ln/>
        </p:spPr>
      </p:sp>
      <p:sp>
        <p:nvSpPr>
          <p:cNvPr id="15" name="Shape 13"/>
          <p:cNvSpPr/>
          <p:nvPr/>
        </p:nvSpPr>
        <p:spPr>
          <a:xfrm>
            <a:off x="6233008" y="288036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132347"/>
          </a:solidFill>
          <a:ln w="12700">
            <a:solidFill>
              <a:srgbClr val="13234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24448" y="2880360"/>
            <a:ext cx="1508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Sw' = (S_att − S_orig) / α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24648" y="3415284"/>
            <a:ext cx="274320" cy="164592"/>
          </a:xfrm>
          <a:prstGeom prst="rightArrow">
            <a:avLst/>
          </a:prstGeom>
          <a:solidFill>
            <a:srgbClr val="667085"/>
          </a:solidFill>
          <a:ln/>
        </p:spPr>
      </p:sp>
      <p:sp>
        <p:nvSpPr>
          <p:cNvPr id="18" name="Shape 16"/>
          <p:cNvSpPr/>
          <p:nvPr/>
        </p:nvSpPr>
        <p:spPr>
          <a:xfrm>
            <a:off x="8198968" y="288036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3F5F9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90408" y="2880360"/>
            <a:ext cx="1508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Uw·Sw'·Vwᵀ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890608" y="3415284"/>
            <a:ext cx="274320" cy="164592"/>
          </a:xfrm>
          <a:prstGeom prst="rightArrow">
            <a:avLst/>
          </a:prstGeom>
          <a:solidFill>
            <a:srgbClr val="667085"/>
          </a:solidFill>
          <a:ln/>
        </p:spPr>
      </p:sp>
      <p:sp>
        <p:nvSpPr>
          <p:cNvPr id="21" name="Shape 19"/>
          <p:cNvSpPr/>
          <p:nvPr/>
        </p:nvSpPr>
        <p:spPr>
          <a:xfrm>
            <a:off x="10164928" y="288036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3F5F9"/>
          </a:solidFill>
          <a:ln w="12700">
            <a:solidFill>
              <a:srgbClr val="DCE2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256368" y="2880360"/>
            <a:ext cx="1508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18708" y="141732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BEAE8"/>
          </a:solidFill>
          <a:ln w="12700">
            <a:solidFill>
              <a:srgbClr val="C144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28436" y="15087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0" descr="/home/claude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9876" y="1600200"/>
            <a:ext cx="274320" cy="27432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6621628" y="14173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Key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{U,V,Uw,Vw,S₀,α}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078828" y="2057400"/>
            <a:ext cx="0" cy="822960"/>
          </a:xfrm>
          <a:prstGeom prst="line">
            <a:avLst/>
          </a:prstGeom>
          <a:noFill/>
          <a:ln w="22225">
            <a:solidFill>
              <a:srgbClr val="C1443C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502920" y="4709160"/>
            <a:ext cx="11185855" cy="1234440"/>
          </a:xfrm>
          <a:prstGeom prst="roundRect">
            <a:avLst>
              <a:gd name="adj" fmla="val 5926"/>
            </a:avLst>
          </a:prstGeom>
          <a:solidFill>
            <a:srgbClr val="F3F5F9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68680" y="4937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SEMI-BLIND EXTRACTION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868680" y="5285232"/>
            <a:ext cx="10454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requires the embedding key generated at embedding time — held only by the copyright owner. This is the standard design for robust ownership-verification watermarking, as opposed to blind steganographic schemes built for covert communication.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NMIMS MPSTME  ·  Image &amp; Video Processing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7B8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384048"/>
            <a:ext cx="10728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 · EVALUATION DESIGN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1118585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Was Tested Against 15 Real-World Distortions, Measured Four Ways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783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CATEGORIES  ·  15 TRIALS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5943600" cy="822960"/>
          </a:xfrm>
          <a:prstGeom prst="roundRect">
            <a:avLst>
              <a:gd name="adj" fmla="val 8889"/>
            </a:avLst>
          </a:prstGeom>
          <a:solidFill>
            <a:srgbClr val="F3F5F9"/>
          </a:solidFill>
          <a:ln/>
        </p:spPr>
      </p:sp>
      <p:sp>
        <p:nvSpPr>
          <p:cNvPr id="8" name="Shape 6"/>
          <p:cNvSpPr/>
          <p:nvPr/>
        </p:nvSpPr>
        <p:spPr>
          <a:xfrm>
            <a:off x="704088" y="2377440"/>
            <a:ext cx="548640" cy="548640"/>
          </a:xfrm>
          <a:prstGeom prst="ellipse">
            <a:avLst/>
          </a:prstGeom>
          <a:solidFill>
            <a:srgbClr val="E6F5F4"/>
          </a:solidFill>
          <a:ln/>
        </p:spPr>
      </p:sp>
      <p:pic>
        <p:nvPicPr>
          <p:cNvPr id="9" name="Image 0" descr="/home/claude/icons/compr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" y="2500884"/>
            <a:ext cx="301752" cy="30175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17320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6426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 at quality factors 90, 50, and 20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502920" y="3200400"/>
            <a:ext cx="5943600" cy="822960"/>
          </a:xfrm>
          <a:prstGeom prst="roundRect">
            <a:avLst>
              <a:gd name="adj" fmla="val 8889"/>
            </a:avLst>
          </a:prstGeom>
          <a:solidFill>
            <a:srgbClr val="F3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704088" y="3337560"/>
            <a:ext cx="548640" cy="548640"/>
          </a:xfrm>
          <a:prstGeom prst="ellipse">
            <a:avLst/>
          </a:prstGeom>
          <a:solidFill>
            <a:srgbClr val="E6F5F4"/>
          </a:solidFill>
          <a:ln/>
        </p:spPr>
      </p:sp>
      <p:pic>
        <p:nvPicPr>
          <p:cNvPr id="14" name="Image 1" descr="/home/claude/icons/wa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" y="3461004"/>
            <a:ext cx="301752" cy="30175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17320" y="3291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1417320" y="36027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Gaussian noise (two levels), salt-and-pepper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502920" y="4160520"/>
            <a:ext cx="5943600" cy="822960"/>
          </a:xfrm>
          <a:prstGeom prst="roundRect">
            <a:avLst>
              <a:gd name="adj" fmla="val 8889"/>
            </a:avLst>
          </a:prstGeom>
          <a:solidFill>
            <a:srgbClr val="F3F5F9"/>
          </a:solidFill>
          <a:ln/>
        </p:spPr>
      </p:sp>
      <p:sp>
        <p:nvSpPr>
          <p:cNvPr id="18" name="Shape 14"/>
          <p:cNvSpPr/>
          <p:nvPr/>
        </p:nvSpPr>
        <p:spPr>
          <a:xfrm>
            <a:off x="704088" y="4297680"/>
            <a:ext cx="548640" cy="548640"/>
          </a:xfrm>
          <a:prstGeom prst="ellipse">
            <a:avLst/>
          </a:prstGeom>
          <a:solidFill>
            <a:srgbClr val="E6F5F4"/>
          </a:solidFill>
          <a:ln/>
        </p:spPr>
      </p:sp>
      <p:pic>
        <p:nvPicPr>
          <p:cNvPr id="19" name="Image 2" descr="/home/claude/icons/fil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" y="4421124"/>
            <a:ext cx="301752" cy="30175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417320" y="4251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1417320" y="45628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median filter, Gaussian blur, unsharp sharpening</a:t>
            </a:r>
            <a:endParaRPr lang="en-US" sz="1080" dirty="0"/>
          </a:p>
        </p:txBody>
      </p:sp>
      <p:sp>
        <p:nvSpPr>
          <p:cNvPr id="22" name="Shape 17"/>
          <p:cNvSpPr/>
          <p:nvPr/>
        </p:nvSpPr>
        <p:spPr>
          <a:xfrm>
            <a:off x="502920" y="5120640"/>
            <a:ext cx="5943600" cy="822960"/>
          </a:xfrm>
          <a:prstGeom prst="roundRect">
            <a:avLst>
              <a:gd name="adj" fmla="val 8889"/>
            </a:avLst>
          </a:prstGeom>
          <a:solidFill>
            <a:srgbClr val="F3F5F9"/>
          </a:solidFill>
          <a:ln/>
        </p:spPr>
      </p:sp>
      <p:sp>
        <p:nvSpPr>
          <p:cNvPr id="23" name="Shape 18"/>
          <p:cNvSpPr/>
          <p:nvPr/>
        </p:nvSpPr>
        <p:spPr>
          <a:xfrm>
            <a:off x="704088" y="5257800"/>
            <a:ext cx="548640" cy="548640"/>
          </a:xfrm>
          <a:prstGeom prst="ellipse">
            <a:avLst/>
          </a:prstGeom>
          <a:solidFill>
            <a:srgbClr val="E6F5F4"/>
          </a:solidFill>
          <a:ln/>
        </p:spPr>
      </p:sp>
      <p:pic>
        <p:nvPicPr>
          <p:cNvPr id="24" name="Image 3" descr="/home/claude/icons/cr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" y="5381244"/>
            <a:ext cx="301752" cy="30175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417320" y="5212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/ Global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417320" y="55229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5°/15°, cropping 25%, scaling 0.5×, histogram equalization</a:t>
            </a:r>
            <a:endParaRPr lang="en-US" sz="1080" dirty="0"/>
          </a:p>
        </p:txBody>
      </p:sp>
      <p:sp>
        <p:nvSpPr>
          <p:cNvPr id="27" name="Text 21"/>
          <p:cNvSpPr txBox="1"/>
          <p:nvPr/>
        </p:nvSpPr>
        <p:spPr>
          <a:xfrm>
            <a:off x="6766560" y="1783080"/>
            <a:ext cx="4922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766560" y="2240280"/>
            <a:ext cx="2346808" cy="1572768"/>
          </a:xfrm>
          <a:prstGeom prst="roundRect">
            <a:avLst>
              <a:gd name="adj" fmla="val 4651"/>
            </a:avLst>
          </a:prstGeom>
          <a:solidFill>
            <a:srgbClr val="132347"/>
          </a:solidFill>
          <a:ln/>
        </p:spPr>
      </p:sp>
      <p:sp>
        <p:nvSpPr>
          <p:cNvPr id="29" name="Shape 23"/>
          <p:cNvSpPr/>
          <p:nvPr/>
        </p:nvSpPr>
        <p:spPr>
          <a:xfrm>
            <a:off x="7022592" y="2468880"/>
            <a:ext cx="502920" cy="502920"/>
          </a:xfrm>
          <a:prstGeom prst="ellipse">
            <a:avLst/>
          </a:prstGeom>
          <a:solidFill>
            <a:srgbClr val="1B2E57"/>
          </a:solidFill>
          <a:ln/>
        </p:spPr>
      </p:sp>
      <p:pic>
        <p:nvPicPr>
          <p:cNvPr id="30" name="Image 4" descr="/home/claude/icons/chartlin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5749" y="2582037"/>
            <a:ext cx="276606" cy="276606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022592" y="3081528"/>
            <a:ext cx="1889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7022592" y="3410712"/>
            <a:ext cx="1843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93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Imperceptibility, in dB — higher is better</a:t>
            </a:r>
            <a:endParaRPr lang="en-US" sz="980" dirty="0"/>
          </a:p>
        </p:txBody>
      </p:sp>
      <p:sp>
        <p:nvSpPr>
          <p:cNvPr id="33" name="Shape 26"/>
          <p:cNvSpPr/>
          <p:nvPr/>
        </p:nvSpPr>
        <p:spPr>
          <a:xfrm>
            <a:off x="9341968" y="2240280"/>
            <a:ext cx="2346808" cy="1572768"/>
          </a:xfrm>
          <a:prstGeom prst="roundRect">
            <a:avLst>
              <a:gd name="adj" fmla="val 4651"/>
            </a:avLst>
          </a:prstGeom>
          <a:solidFill>
            <a:srgbClr val="132347"/>
          </a:solidFill>
          <a:ln/>
        </p:spPr>
      </p:sp>
      <p:sp>
        <p:nvSpPr>
          <p:cNvPr id="34" name="Shape 27"/>
          <p:cNvSpPr/>
          <p:nvPr/>
        </p:nvSpPr>
        <p:spPr>
          <a:xfrm>
            <a:off x="9598000" y="2468880"/>
            <a:ext cx="502920" cy="502920"/>
          </a:xfrm>
          <a:prstGeom prst="ellipse">
            <a:avLst/>
          </a:prstGeom>
          <a:solidFill>
            <a:srgbClr val="1B2E57"/>
          </a:solidFill>
          <a:ln/>
        </p:spPr>
      </p:sp>
      <p:pic>
        <p:nvPicPr>
          <p:cNvPr id="35" name="Image 5" descr="/home/claude/icons/ima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1157" y="2582037"/>
            <a:ext cx="276606" cy="276606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9598000" y="3081528"/>
            <a:ext cx="1889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9598000" y="3410712"/>
            <a:ext cx="1843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93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similarity, 0–1 — higher is better</a:t>
            </a:r>
            <a:endParaRPr lang="en-US" sz="980" dirty="0"/>
          </a:p>
        </p:txBody>
      </p:sp>
      <p:sp>
        <p:nvSpPr>
          <p:cNvPr id="38" name="Shape 30"/>
          <p:cNvSpPr/>
          <p:nvPr/>
        </p:nvSpPr>
        <p:spPr>
          <a:xfrm>
            <a:off x="6766560" y="4041648"/>
            <a:ext cx="2346808" cy="1572768"/>
          </a:xfrm>
          <a:prstGeom prst="roundRect">
            <a:avLst>
              <a:gd name="adj" fmla="val 4651"/>
            </a:avLst>
          </a:prstGeom>
          <a:solidFill>
            <a:srgbClr val="132347"/>
          </a:solidFill>
          <a:ln/>
        </p:spPr>
      </p:sp>
      <p:sp>
        <p:nvSpPr>
          <p:cNvPr id="39" name="Shape 31"/>
          <p:cNvSpPr/>
          <p:nvPr/>
        </p:nvSpPr>
        <p:spPr>
          <a:xfrm>
            <a:off x="7022592" y="4270248"/>
            <a:ext cx="502920" cy="502920"/>
          </a:xfrm>
          <a:prstGeom prst="ellipse">
            <a:avLst/>
          </a:prstGeom>
          <a:solidFill>
            <a:srgbClr val="1B2E57"/>
          </a:solidFill>
          <a:ln/>
        </p:spPr>
      </p:sp>
      <p:pic>
        <p:nvPicPr>
          <p:cNvPr id="40" name="Image 6" descr="/home/claude/icons/bullsey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5749" y="4383405"/>
            <a:ext cx="276606" cy="276606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7022592" y="4882896"/>
            <a:ext cx="1889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</a:t>
            </a:r>
            <a:endParaRPr lang="en-US" sz="1600" dirty="0"/>
          </a:p>
        </p:txBody>
      </p:sp>
      <p:sp>
        <p:nvSpPr>
          <p:cNvPr id="42" name="Text 33"/>
          <p:cNvSpPr txBox="1"/>
          <p:nvPr/>
        </p:nvSpPr>
        <p:spPr>
          <a:xfrm>
            <a:off x="7022592" y="5212080"/>
            <a:ext cx="1843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93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fidelity, 0–1 — 0.75 = recognizable</a:t>
            </a:r>
            <a:endParaRPr lang="en-US" sz="980" dirty="0"/>
          </a:p>
        </p:txBody>
      </p:sp>
      <p:sp>
        <p:nvSpPr>
          <p:cNvPr id="43" name="Shape 34"/>
          <p:cNvSpPr/>
          <p:nvPr/>
        </p:nvSpPr>
        <p:spPr>
          <a:xfrm>
            <a:off x="9341968" y="4041648"/>
            <a:ext cx="2346808" cy="1572768"/>
          </a:xfrm>
          <a:prstGeom prst="roundRect">
            <a:avLst>
              <a:gd name="adj" fmla="val 4651"/>
            </a:avLst>
          </a:prstGeom>
          <a:solidFill>
            <a:srgbClr val="132347"/>
          </a:solidFill>
          <a:ln/>
        </p:spPr>
      </p:sp>
      <p:sp>
        <p:nvSpPr>
          <p:cNvPr id="44" name="Shape 35"/>
          <p:cNvSpPr/>
          <p:nvPr/>
        </p:nvSpPr>
        <p:spPr>
          <a:xfrm>
            <a:off x="9598000" y="4270248"/>
            <a:ext cx="502920" cy="502920"/>
          </a:xfrm>
          <a:prstGeom prst="ellipse">
            <a:avLst/>
          </a:prstGeom>
          <a:solidFill>
            <a:srgbClr val="1B2E57"/>
          </a:solidFill>
          <a:ln/>
        </p:spPr>
      </p:sp>
      <p:pic>
        <p:nvPicPr>
          <p:cNvPr id="45" name="Image 7" descr="/home/claude/icons/percentag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11157" y="4383405"/>
            <a:ext cx="276606" cy="276606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9598000" y="4882896"/>
            <a:ext cx="1889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</a:t>
            </a:r>
            <a:endParaRPr lang="en-US" sz="1600" dirty="0"/>
          </a:p>
        </p:txBody>
      </p:sp>
      <p:sp>
        <p:nvSpPr>
          <p:cNvPr id="47" name="Text 37"/>
          <p:cNvSpPr txBox="1"/>
          <p:nvPr/>
        </p:nvSpPr>
        <p:spPr>
          <a:xfrm>
            <a:off x="9598000" y="5212080"/>
            <a:ext cx="1843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93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error rate of extracted watermark — lower is better</a:t>
            </a:r>
            <a:endParaRPr lang="en-US" sz="980" dirty="0"/>
          </a:p>
        </p:txBody>
      </p:sp>
      <p:sp>
        <p:nvSpPr>
          <p:cNvPr id="48" name="Text 38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NMIMS MPSTME  ·  Image &amp; Video Processing</a:t>
            </a:r>
            <a:endParaRPr lang="en-US" sz="900" dirty="0"/>
          </a:p>
        </p:txBody>
      </p:sp>
      <p:sp>
        <p:nvSpPr>
          <p:cNvPr id="49" name="Text 39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7B8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384048"/>
            <a:ext cx="10728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1118585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in Python With Standard Scientific-Computing Libraries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78308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1472576" cy="1417320"/>
          </a:xfrm>
          <a:prstGeom prst="roundRect">
            <a:avLst>
              <a:gd name="adj" fmla="val 5161"/>
            </a:avLst>
          </a:prstGeom>
          <a:solidFill>
            <a:srgbClr val="F3F5F9"/>
          </a:solidFill>
          <a:ln/>
        </p:spPr>
      </p:sp>
      <p:sp>
        <p:nvSpPr>
          <p:cNvPr id="8" name="Shape 6"/>
          <p:cNvSpPr/>
          <p:nvPr/>
        </p:nvSpPr>
        <p:spPr>
          <a:xfrm>
            <a:off x="983176" y="239572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/home/claude/icons/pyth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390" y="2510942"/>
            <a:ext cx="281635" cy="28163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76072" y="2999232"/>
            <a:ext cx="132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76072" y="3291840"/>
            <a:ext cx="132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870" dirty="0"/>
          </a:p>
        </p:txBody>
      </p:sp>
      <p:sp>
        <p:nvSpPr>
          <p:cNvPr id="12" name="Shape 9"/>
          <p:cNvSpPr/>
          <p:nvPr/>
        </p:nvSpPr>
        <p:spPr>
          <a:xfrm>
            <a:off x="2121800" y="2194560"/>
            <a:ext cx="1472576" cy="1417320"/>
          </a:xfrm>
          <a:prstGeom prst="roundRect">
            <a:avLst>
              <a:gd name="adj" fmla="val 5161"/>
            </a:avLst>
          </a:prstGeom>
          <a:solidFill>
            <a:srgbClr val="F3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2602056" y="239572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/home/claude/icons/calcula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270" y="2510942"/>
            <a:ext cx="281635" cy="28163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194952" y="2999232"/>
            <a:ext cx="132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2194952" y="3291840"/>
            <a:ext cx="132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algebra, SVD</a:t>
            </a:r>
            <a:endParaRPr lang="en-US" sz="870" dirty="0"/>
          </a:p>
        </p:txBody>
      </p:sp>
      <p:sp>
        <p:nvSpPr>
          <p:cNvPr id="17" name="Shape 13"/>
          <p:cNvSpPr/>
          <p:nvPr/>
        </p:nvSpPr>
        <p:spPr>
          <a:xfrm>
            <a:off x="3740680" y="2194560"/>
            <a:ext cx="1472576" cy="1417320"/>
          </a:xfrm>
          <a:prstGeom prst="roundRect">
            <a:avLst>
              <a:gd name="adj" fmla="val 5161"/>
            </a:avLst>
          </a:prstGeom>
          <a:solidFill>
            <a:srgbClr val="F3F5F9"/>
          </a:solidFill>
          <a:ln/>
        </p:spPr>
      </p:sp>
      <p:sp>
        <p:nvSpPr>
          <p:cNvPr id="18" name="Shape 14"/>
          <p:cNvSpPr/>
          <p:nvPr/>
        </p:nvSpPr>
        <p:spPr>
          <a:xfrm>
            <a:off x="4220936" y="239572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/home/claude/icons/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6150" y="2510942"/>
            <a:ext cx="281635" cy="28163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813832" y="2999232"/>
            <a:ext cx="132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PyWavelets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3813832" y="3291840"/>
            <a:ext cx="132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DWT / inverse DWT</a:t>
            </a:r>
            <a:endParaRPr lang="en-US" sz="870" dirty="0"/>
          </a:p>
        </p:txBody>
      </p:sp>
      <p:sp>
        <p:nvSpPr>
          <p:cNvPr id="22" name="Shape 17"/>
          <p:cNvSpPr/>
          <p:nvPr/>
        </p:nvSpPr>
        <p:spPr>
          <a:xfrm>
            <a:off x="5359560" y="2194560"/>
            <a:ext cx="1472576" cy="1417320"/>
          </a:xfrm>
          <a:prstGeom prst="roundRect">
            <a:avLst>
              <a:gd name="adj" fmla="val 5161"/>
            </a:avLst>
          </a:prstGeom>
          <a:solidFill>
            <a:srgbClr val="F3F5F9"/>
          </a:solidFill>
          <a:ln/>
        </p:spPr>
      </p:sp>
      <p:sp>
        <p:nvSpPr>
          <p:cNvPr id="23" name="Shape 18"/>
          <p:cNvSpPr/>
          <p:nvPr/>
        </p:nvSpPr>
        <p:spPr>
          <a:xfrm>
            <a:off x="5839816" y="239572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/home/claude/icons/fil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30" y="2510942"/>
            <a:ext cx="281635" cy="28163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432712" y="2999232"/>
            <a:ext cx="132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5432712" y="3291840"/>
            <a:ext cx="132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DCT/IDCT, filtering</a:t>
            </a:r>
            <a:endParaRPr lang="en-US" sz="870" dirty="0"/>
          </a:p>
        </p:txBody>
      </p:sp>
      <p:sp>
        <p:nvSpPr>
          <p:cNvPr id="27" name="Shape 21"/>
          <p:cNvSpPr/>
          <p:nvPr/>
        </p:nvSpPr>
        <p:spPr>
          <a:xfrm>
            <a:off x="6978440" y="2194560"/>
            <a:ext cx="1472576" cy="1417320"/>
          </a:xfrm>
          <a:prstGeom prst="roundRect">
            <a:avLst>
              <a:gd name="adj" fmla="val 5161"/>
            </a:avLst>
          </a:prstGeom>
          <a:solidFill>
            <a:srgbClr val="F3F5F9"/>
          </a:solidFill>
          <a:ln/>
        </p:spPr>
      </p:sp>
      <p:sp>
        <p:nvSpPr>
          <p:cNvPr id="28" name="Shape 22"/>
          <p:cNvSpPr/>
          <p:nvPr/>
        </p:nvSpPr>
        <p:spPr>
          <a:xfrm>
            <a:off x="7458695" y="239572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4" descr="/home/claude/icons/ima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3910" y="2510942"/>
            <a:ext cx="281635" cy="28163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051592" y="2999232"/>
            <a:ext cx="132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scikit-image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7051592" y="3291840"/>
            <a:ext cx="132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PSNR, SSIM, transforms</a:t>
            </a:r>
            <a:endParaRPr lang="en-US" sz="870" dirty="0"/>
          </a:p>
        </p:txBody>
      </p:sp>
      <p:sp>
        <p:nvSpPr>
          <p:cNvPr id="32" name="Shape 25"/>
          <p:cNvSpPr/>
          <p:nvPr/>
        </p:nvSpPr>
        <p:spPr>
          <a:xfrm>
            <a:off x="8597319" y="2194560"/>
            <a:ext cx="1472576" cy="1417320"/>
          </a:xfrm>
          <a:prstGeom prst="roundRect">
            <a:avLst>
              <a:gd name="adj" fmla="val 5161"/>
            </a:avLst>
          </a:prstGeom>
          <a:solidFill>
            <a:srgbClr val="F3F5F9"/>
          </a:solidFill>
          <a:ln/>
        </p:spPr>
      </p:sp>
      <p:sp>
        <p:nvSpPr>
          <p:cNvPr id="33" name="Shape 26"/>
          <p:cNvSpPr/>
          <p:nvPr/>
        </p:nvSpPr>
        <p:spPr>
          <a:xfrm>
            <a:off x="9077575" y="239572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5" descr="/home/claude/icons/fileima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2790" y="2510942"/>
            <a:ext cx="281635" cy="281635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670471" y="2999232"/>
            <a:ext cx="132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</a:t>
            </a:r>
            <a:endParaRPr lang="en-US" sz="1100" dirty="0"/>
          </a:p>
        </p:txBody>
      </p:sp>
      <p:sp>
        <p:nvSpPr>
          <p:cNvPr id="36" name="Text 28"/>
          <p:cNvSpPr txBox="1"/>
          <p:nvPr/>
        </p:nvSpPr>
        <p:spPr>
          <a:xfrm>
            <a:off x="8670471" y="3291840"/>
            <a:ext cx="132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 simulation, I/O</a:t>
            </a:r>
            <a:endParaRPr lang="en-US" sz="870" dirty="0"/>
          </a:p>
        </p:txBody>
      </p:sp>
      <p:sp>
        <p:nvSpPr>
          <p:cNvPr id="37" name="Shape 29"/>
          <p:cNvSpPr/>
          <p:nvPr/>
        </p:nvSpPr>
        <p:spPr>
          <a:xfrm>
            <a:off x="10216199" y="2194560"/>
            <a:ext cx="1472576" cy="1417320"/>
          </a:xfrm>
          <a:prstGeom prst="roundRect">
            <a:avLst>
              <a:gd name="adj" fmla="val 5161"/>
            </a:avLst>
          </a:prstGeom>
          <a:solidFill>
            <a:srgbClr val="F3F5F9"/>
          </a:solidFill>
          <a:ln/>
        </p:spPr>
      </p:sp>
      <p:sp>
        <p:nvSpPr>
          <p:cNvPr id="38" name="Shape 30"/>
          <p:cNvSpPr/>
          <p:nvPr/>
        </p:nvSpPr>
        <p:spPr>
          <a:xfrm>
            <a:off x="10696455" y="239572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9" name="Image 6" descr="/home/claude/icons/chartb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11670" y="2510942"/>
            <a:ext cx="281635" cy="281635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10289351" y="2999232"/>
            <a:ext cx="132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Pandas</a:t>
            </a:r>
            <a:endParaRPr lang="en-US" sz="1100" dirty="0"/>
          </a:p>
        </p:txBody>
      </p:sp>
      <p:sp>
        <p:nvSpPr>
          <p:cNvPr id="41" name="Text 32"/>
          <p:cNvSpPr txBox="1"/>
          <p:nvPr/>
        </p:nvSpPr>
        <p:spPr>
          <a:xfrm>
            <a:off x="10289351" y="3291840"/>
            <a:ext cx="132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Visualization, tables</a:t>
            </a:r>
            <a:endParaRPr lang="en-US" sz="870" dirty="0"/>
          </a:p>
        </p:txBody>
      </p:sp>
      <p:sp>
        <p:nvSpPr>
          <p:cNvPr id="42" name="Shape 33"/>
          <p:cNvSpPr/>
          <p:nvPr/>
        </p:nvSpPr>
        <p:spPr>
          <a:xfrm>
            <a:off x="502920" y="3886200"/>
            <a:ext cx="5432908" cy="1874520"/>
          </a:xfrm>
          <a:prstGeom prst="roundRect">
            <a:avLst>
              <a:gd name="adj" fmla="val 3902"/>
            </a:avLst>
          </a:prstGeom>
          <a:solidFill>
            <a:srgbClr val="132347"/>
          </a:solidFill>
          <a:ln/>
        </p:spPr>
      </p:sp>
      <p:sp>
        <p:nvSpPr>
          <p:cNvPr id="43" name="Text 34"/>
          <p:cNvSpPr txBox="1"/>
          <p:nvPr/>
        </p:nvSpPr>
        <p:spPr>
          <a:xfrm>
            <a:off x="822960" y="4114800"/>
            <a:ext cx="47928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7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44" name="Text 35"/>
          <p:cNvSpPr txBox="1"/>
          <p:nvPr/>
        </p:nvSpPr>
        <p:spPr>
          <a:xfrm>
            <a:off x="822960" y="4453128"/>
            <a:ext cx="47928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93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standard 512×512 grayscale test images — “cameraman” and a grayscale “astronaut” (scikit-image sample set). The watermark is a procedurally generated 64×64 binary logo, avoiding any dependency on external or copyrighted image assets.</a:t>
            </a:r>
            <a:endParaRPr lang="en-US" sz="1200" dirty="0"/>
          </a:p>
        </p:txBody>
      </p:sp>
      <p:sp>
        <p:nvSpPr>
          <p:cNvPr id="45" name="Shape 36"/>
          <p:cNvSpPr/>
          <p:nvPr/>
        </p:nvSpPr>
        <p:spPr>
          <a:xfrm>
            <a:off x="6255868" y="3886200"/>
            <a:ext cx="5432908" cy="1874520"/>
          </a:xfrm>
          <a:prstGeom prst="roundRect">
            <a:avLst>
              <a:gd name="adj" fmla="val 3902"/>
            </a:avLst>
          </a:prstGeom>
          <a:solidFill>
            <a:srgbClr val="F3F5F9"/>
          </a:solidFill>
          <a:ln/>
        </p:spPr>
      </p:sp>
      <p:sp>
        <p:nvSpPr>
          <p:cNvPr id="46" name="Text 37"/>
          <p:cNvSpPr txBox="1"/>
          <p:nvPr/>
        </p:nvSpPr>
        <p:spPr>
          <a:xfrm>
            <a:off x="6575908" y="4114800"/>
            <a:ext cx="47928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STRUCTURE</a:t>
            </a:r>
            <a:endParaRPr lang="en-US" sz="1200" dirty="0"/>
          </a:p>
        </p:txBody>
      </p:sp>
      <p:sp>
        <p:nvSpPr>
          <p:cNvPr id="47" name="Text 38"/>
          <p:cNvSpPr txBox="1"/>
          <p:nvPr/>
        </p:nvSpPr>
        <p:spPr>
          <a:xfrm>
            <a:off x="6575908" y="4453128"/>
            <a:ext cx="47928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130" b="1" dirty="0">
                <a:solidFill>
                  <a:srgbClr val="132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watermark_core.py  </a:t>
            </a:r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13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embed / extract logic</a:t>
            </a:r>
            <a:endParaRPr lang="en-US" sz="1130" dirty="0"/>
          </a:p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130" b="1" dirty="0">
                <a:solidFill>
                  <a:srgbClr val="132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metrics.py  </a:t>
            </a:r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13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PSNR, SSIM, NC, BER</a:t>
            </a:r>
            <a:endParaRPr lang="en-US" sz="1130" dirty="0"/>
          </a:p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130" b="1" dirty="0">
                <a:solidFill>
                  <a:srgbClr val="132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attacks.py  </a:t>
            </a:r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13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15-attack benchmark suite</a:t>
            </a:r>
            <a:endParaRPr lang="en-US" sz="1130" dirty="0"/>
          </a:p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130" b="1" dirty="0">
                <a:solidFill>
                  <a:srgbClr val="132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run_experiment.py  </a:t>
            </a:r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13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end-to-end pipeline</a:t>
            </a:r>
            <a:endParaRPr lang="en-US" sz="1130" dirty="0"/>
          </a:p>
        </p:txBody>
      </p:sp>
      <p:sp>
        <p:nvSpPr>
          <p:cNvPr id="48" name="Text 39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NMIMS MPSTME  ·  Image &amp; Video Processing</a:t>
            </a:r>
            <a:endParaRPr lang="en-US" sz="900" dirty="0"/>
          </a:p>
        </p:txBody>
      </p:sp>
      <p:sp>
        <p:nvSpPr>
          <p:cNvPr id="49" name="Text 40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7B8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384048"/>
            <a:ext cx="10728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IMPERCEPTIBILITY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1118585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Watermark Is Statistically Invisible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703320" cy="1691640"/>
          </a:xfrm>
          <a:prstGeom prst="roundRect">
            <a:avLst>
              <a:gd name="adj" fmla="val 4324"/>
            </a:avLst>
          </a:prstGeom>
          <a:solidFill>
            <a:srgbClr val="132347"/>
          </a:solidFill>
          <a:ln/>
          <a:effectLst>
            <a:outerShdw sx="100000" sy="100000" kx="0" ky="0" algn="bl" rotWithShape="0" blurRad="88900" dist="25400" dir="5400000">
              <a:srgbClr val="1A2233">
                <a:alpha val="14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99339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35.6 </a:t>
            </a:r>
            <a:pPr indent="0" marL="0">
              <a:buNone/>
            </a:pPr>
            <a:r>
              <a:rPr lang="en-US" sz="1800" b="1" dirty="0">
                <a:solidFill>
                  <a:srgbClr val="17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PSNR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3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30 dB imperceptibility benchmark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657600"/>
            <a:ext cx="3703320" cy="1691640"/>
          </a:xfrm>
          <a:prstGeom prst="roundRect">
            <a:avLst>
              <a:gd name="adj" fmla="val 4324"/>
            </a:avLst>
          </a:prstGeom>
          <a:solidFill>
            <a:srgbClr val="F3F5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82219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0.996 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5262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SSIM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800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0.98 structural-similarity benchmark</a:t>
            </a:r>
            <a:endParaRPr lang="en-US" sz="1050" dirty="0"/>
          </a:p>
        </p:txBody>
      </p:sp>
      <p:pic>
        <p:nvPicPr>
          <p:cNvPr id="14" name="Image 0" descr="/home/claude/figs/cameraman_tripty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828800"/>
            <a:ext cx="7162495" cy="2506873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526280" y="1828800"/>
            <a:ext cx="7162495" cy="2506873"/>
          </a:xfrm>
          <a:prstGeom prst="roundRect">
            <a:avLst>
              <a:gd name="adj" fmla="val 1459"/>
            </a:avLst>
          </a:prstGeom>
          <a:ln w="12700">
            <a:solidFill>
              <a:srgbClr val="DCE2E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26280" y="4500265"/>
            <a:ext cx="7162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host · watermarked · amplified absolute difference — cameraman host, α = 0.10. The difference is visually near-zero, confirming imperceptibility.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526280" y="5067193"/>
            <a:ext cx="7162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host images (cameraman and astronaut) were evaluated; figures above show the cameraman host at the operating point α = 0.10.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NMIMS MPSTME  ·  Image &amp; Video Processing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7B8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384048"/>
            <a:ext cx="10728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ROBUSTNESS UNDER ATTACK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1118585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Scheme Held Up Against 13 of 15 Attacks — and Broke Two, Predictably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444752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Correlation per attack — cameraman host, 15 trials (Table 5.1). Aggregate across both host images: 25 of 30 trials ≥ 0.75, mean NC 0.832.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528255" y="175564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7B8B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802575" y="17282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≥ 0.75  (recognizable)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677095" y="175564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C144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51415" y="17282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&lt; 0.75  (below threshold)</a:t>
            </a:r>
            <a:endParaRPr lang="en-US" sz="10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02920" y="2084832"/>
          <a:ext cx="11185855" cy="43708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NMIMS MPSTME  ·  Image &amp; Video Processing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7B8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384048"/>
            <a:ext cx="10728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SENSITIVITY ANALYSIS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1118585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Knob Controls Everything: Alpha Trades Invisibility for Durability</a:t>
            </a:r>
            <a:endParaRPr lang="en-US" sz="2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783080"/>
          <a:ext cx="11185855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897880"/>
            <a:ext cx="11185855" cy="594360"/>
          </a:xfrm>
          <a:prstGeom prst="roundRect">
            <a:avLst>
              <a:gd name="adj" fmla="val 12308"/>
            </a:avLst>
          </a:prstGeom>
          <a:solidFill>
            <a:srgbClr val="F3F5F9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589788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operating point α = 0.10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in the favorable region — strong robustness with negligible visible distortion. Higher-tamper-evidence use cases (e.g. legal evidence images) could move to α ≈ 0.15–0.20 at a small, still-imperceptible PSNR cost.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NMIMS MPSTME  ·  Image &amp; Video Processing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7B8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384048"/>
            <a:ext cx="10728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FAILURE CASE ANALYSIS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1118585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Attacks Broke the Watermark — Here's Exactly Why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5432908" cy="3246120"/>
          </a:xfrm>
          <a:prstGeom prst="roundRect">
            <a:avLst>
              <a:gd name="adj" fmla="val 2254"/>
            </a:avLst>
          </a:prstGeom>
          <a:solidFill>
            <a:srgbClr val="FBEAE8"/>
          </a:solidFill>
          <a:ln w="12700">
            <a:solidFill>
              <a:srgbClr val="F0CF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icons/crop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174" y="2264054"/>
            <a:ext cx="318211" cy="31821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2130552"/>
            <a:ext cx="40613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Cropping 25%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554480" y="2487168"/>
            <a:ext cx="40613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= </a:t>
            </a:r>
            <a:pPr indent="0" marL="0">
              <a:buNone/>
            </a:pPr>
            <a:r>
              <a:rPr lang="en-US" sz="200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063240"/>
            <a:ext cx="47928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this scheme embeds into the singular values of the whole LL sub-band, zeroing a large contiguous region drastically changes the sub-band's global algebraic structure. Global, non-block-based SVD schemes are known to be geometry-fragile — a genuine, expected limitation, not an implementation bug.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55868" y="1828800"/>
            <a:ext cx="5432908" cy="3246120"/>
          </a:xfrm>
          <a:prstGeom prst="roundRect">
            <a:avLst>
              <a:gd name="adj" fmla="val 2254"/>
            </a:avLst>
          </a:prstGeom>
          <a:solidFill>
            <a:srgbClr val="FBEAE8"/>
          </a:solidFill>
          <a:ln w="12700">
            <a:solidFill>
              <a:srgbClr val="F0CFC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75908" y="21488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/home/claude/icons/adju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122" y="2264054"/>
            <a:ext cx="318211" cy="318211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307428" y="2130552"/>
            <a:ext cx="40613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Equalization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7307428" y="2487168"/>
            <a:ext cx="40613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= </a:t>
            </a:r>
            <a:pPr indent="0" marL="0">
              <a:buNone/>
            </a:pPr>
            <a:r>
              <a:rPr lang="en-US" sz="200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(cameraman)  /  </a:t>
            </a:r>
            <a:pPr indent="0" marL="0">
              <a:buNone/>
            </a:pPr>
            <a:r>
              <a:rPr lang="en-US" sz="200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</a:t>
            </a:r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(astronaut)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575908" y="3063240"/>
            <a:ext cx="47928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strongly non-linear, global pixel remapping redistributes energy across the entire intensity histogram — perturbing the LL sub-band far more than the noise or filtering attacks tested.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02920" y="5349240"/>
            <a:ext cx="11185855" cy="777240"/>
          </a:xfrm>
          <a:prstGeom prst="roundRect">
            <a:avLst>
              <a:gd name="adj" fmla="val 9412"/>
            </a:avLst>
          </a:prstGeom>
          <a:solidFill>
            <a:srgbClr val="132347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868680" y="534924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7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contrast: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 compression (all quality factors), median filtering, sharpening, and moderate rotation/scaling were all recovered with NC &gt; 0.93 on average — the scheme meets its design goal for the most common real-world image handling.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NMIMS MPSTME  ·  Image &amp; Video Processing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7B8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384048"/>
            <a:ext cx="10728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· FUTURE SCOPE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1118585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Concrete Extensions Turn This Into a Deployable System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541038" y="2249424"/>
            <a:ext cx="9109619" cy="0"/>
          </a:xfrm>
          <a:prstGeom prst="line">
            <a:avLst/>
          </a:prstGeom>
          <a:noFill/>
          <a:ln w="25400">
            <a:solidFill>
              <a:srgbClr val="DCE2EB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257574" y="1965960"/>
            <a:ext cx="566928" cy="566928"/>
          </a:xfrm>
          <a:prstGeom prst="ellipse">
            <a:avLst/>
          </a:prstGeom>
          <a:solidFill>
            <a:srgbClr val="13234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57574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852928"/>
            <a:ext cx="2076237" cy="2880360"/>
          </a:xfrm>
          <a:prstGeom prst="roundRect">
            <a:avLst>
              <a:gd name="adj" fmla="val 3523"/>
            </a:avLst>
          </a:prstGeom>
          <a:solidFill>
            <a:srgbClr val="F3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1285006" y="312724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0" descr="/home/claude/icons/thlar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0221" y="3242462"/>
            <a:ext cx="281635" cy="28163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40080" y="3767328"/>
            <a:ext cx="180191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Block-Based Embedding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4407408"/>
            <a:ext cx="1710477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watermark copies per block — directly fixes the cropping failure mode, at some capacity/PSNR cost.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3534979" y="1965960"/>
            <a:ext cx="566928" cy="566928"/>
          </a:xfrm>
          <a:prstGeom prst="ellipse">
            <a:avLst/>
          </a:prstGeom>
          <a:solidFill>
            <a:srgbClr val="13234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34979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2780325" y="2852928"/>
            <a:ext cx="2076237" cy="2880360"/>
          </a:xfrm>
          <a:prstGeom prst="roundRect">
            <a:avLst>
              <a:gd name="adj" fmla="val 3523"/>
            </a:avLst>
          </a:prstGeom>
          <a:solidFill>
            <a:srgbClr val="F3F5F9"/>
          </a:solidFill>
          <a:ln/>
        </p:spPr>
      </p:sp>
      <p:sp>
        <p:nvSpPr>
          <p:cNvPr id="17" name="Shape 14"/>
          <p:cNvSpPr/>
          <p:nvPr/>
        </p:nvSpPr>
        <p:spPr>
          <a:xfrm>
            <a:off x="3562411" y="312724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1" descr="/home/claude/icons/un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625" y="3242462"/>
            <a:ext cx="281635" cy="28163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2917485" y="3767328"/>
            <a:ext cx="180191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Blind Extraction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2963205" y="4407408"/>
            <a:ext cx="1710477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quantization-index-modulation (QIM) variant could remove the dependency on the embedding key.</a:t>
            </a:r>
            <a:endParaRPr lang="en-US" sz="980" dirty="0"/>
          </a:p>
        </p:txBody>
      </p:sp>
      <p:sp>
        <p:nvSpPr>
          <p:cNvPr id="21" name="Shape 17"/>
          <p:cNvSpPr/>
          <p:nvPr/>
        </p:nvSpPr>
        <p:spPr>
          <a:xfrm>
            <a:off x="5812384" y="1965960"/>
            <a:ext cx="566928" cy="566928"/>
          </a:xfrm>
          <a:prstGeom prst="ellipse">
            <a:avLst/>
          </a:prstGeom>
          <a:solidFill>
            <a:srgbClr val="13234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812384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5057729" y="2852928"/>
            <a:ext cx="2076237" cy="2880360"/>
          </a:xfrm>
          <a:prstGeom prst="roundRect">
            <a:avLst>
              <a:gd name="adj" fmla="val 3523"/>
            </a:avLst>
          </a:prstGeom>
          <a:solidFill>
            <a:srgbClr val="F3F5F9"/>
          </a:solidFill>
          <a:ln/>
        </p:spPr>
      </p:sp>
      <p:sp>
        <p:nvSpPr>
          <p:cNvPr id="24" name="Shape 20"/>
          <p:cNvSpPr/>
          <p:nvPr/>
        </p:nvSpPr>
        <p:spPr>
          <a:xfrm>
            <a:off x="5839816" y="312724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2" descr="/home/claude/icons/palet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030" y="3242462"/>
            <a:ext cx="281635" cy="281635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194889" y="3767328"/>
            <a:ext cx="180191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Image Extension</a:t>
            </a:r>
            <a:endParaRPr lang="en-US" sz="1250" dirty="0"/>
          </a:p>
        </p:txBody>
      </p:sp>
      <p:sp>
        <p:nvSpPr>
          <p:cNvPr id="27" name="Text 22"/>
          <p:cNvSpPr txBox="1"/>
          <p:nvPr/>
        </p:nvSpPr>
        <p:spPr>
          <a:xfrm>
            <a:off x="5240609" y="4407408"/>
            <a:ext cx="1710477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in the luminance (Y) channel of a YCbCr-converted color image, leaving chrominance untouched.</a:t>
            </a:r>
            <a:endParaRPr lang="en-US" sz="980" dirty="0"/>
          </a:p>
        </p:txBody>
      </p:sp>
      <p:sp>
        <p:nvSpPr>
          <p:cNvPr id="28" name="Shape 23"/>
          <p:cNvSpPr/>
          <p:nvPr/>
        </p:nvSpPr>
        <p:spPr>
          <a:xfrm>
            <a:off x="8089788" y="1965960"/>
            <a:ext cx="566928" cy="566928"/>
          </a:xfrm>
          <a:prstGeom prst="ellipse">
            <a:avLst/>
          </a:prstGeom>
          <a:solidFill>
            <a:srgbClr val="13234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8089788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7335134" y="2852928"/>
            <a:ext cx="2076237" cy="2880360"/>
          </a:xfrm>
          <a:prstGeom prst="roundRect">
            <a:avLst>
              <a:gd name="adj" fmla="val 3523"/>
            </a:avLst>
          </a:prstGeom>
          <a:solidFill>
            <a:srgbClr val="F3F5F9"/>
          </a:solidFill>
          <a:ln/>
        </p:spPr>
      </p:sp>
      <p:sp>
        <p:nvSpPr>
          <p:cNvPr id="31" name="Shape 26"/>
          <p:cNvSpPr/>
          <p:nvPr/>
        </p:nvSpPr>
        <p:spPr>
          <a:xfrm>
            <a:off x="8117220" y="312724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3" descr="/home/claude/icons/microchi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2435" y="3242462"/>
            <a:ext cx="281635" cy="28163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7472294" y="3767328"/>
            <a:ext cx="180191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/ Hardware</a:t>
            </a:r>
            <a:endParaRPr lang="en-US" sz="1250" dirty="0"/>
          </a:p>
        </p:txBody>
      </p:sp>
      <p:sp>
        <p:nvSpPr>
          <p:cNvPr id="34" name="Text 28"/>
          <p:cNvSpPr txBox="1"/>
          <p:nvPr/>
        </p:nvSpPr>
        <p:spPr>
          <a:xfrm>
            <a:off x="7518014" y="4407408"/>
            <a:ext cx="1710477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enough to port to embedded platforms (e.g. ESP32-class) for on-device, on-capture embedding.</a:t>
            </a:r>
            <a:endParaRPr lang="en-US" sz="980" dirty="0"/>
          </a:p>
        </p:txBody>
      </p:sp>
      <p:sp>
        <p:nvSpPr>
          <p:cNvPr id="35" name="Shape 29"/>
          <p:cNvSpPr/>
          <p:nvPr/>
        </p:nvSpPr>
        <p:spPr>
          <a:xfrm>
            <a:off x="10367193" y="1965960"/>
            <a:ext cx="566928" cy="566928"/>
          </a:xfrm>
          <a:prstGeom prst="ellipse">
            <a:avLst/>
          </a:prstGeom>
          <a:solidFill>
            <a:srgbClr val="13234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10367193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7" name="Shape 31"/>
          <p:cNvSpPr/>
          <p:nvPr/>
        </p:nvSpPr>
        <p:spPr>
          <a:xfrm>
            <a:off x="9612539" y="2852928"/>
            <a:ext cx="2076237" cy="2880360"/>
          </a:xfrm>
          <a:prstGeom prst="roundRect">
            <a:avLst>
              <a:gd name="adj" fmla="val 3523"/>
            </a:avLst>
          </a:prstGeom>
          <a:solidFill>
            <a:srgbClr val="F3F5F9"/>
          </a:solidFill>
          <a:ln/>
        </p:spPr>
      </p:sp>
      <p:sp>
        <p:nvSpPr>
          <p:cNvPr id="38" name="Shape 32"/>
          <p:cNvSpPr/>
          <p:nvPr/>
        </p:nvSpPr>
        <p:spPr>
          <a:xfrm>
            <a:off x="10394625" y="312724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9" name="Image 4" descr="/home/claude/icons/vide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9839" y="3242462"/>
            <a:ext cx="281635" cy="281635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9749699" y="3767328"/>
            <a:ext cx="180191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Extension</a:t>
            </a:r>
            <a:endParaRPr lang="en-US" sz="1250" dirty="0"/>
          </a:p>
        </p:txBody>
      </p:sp>
      <p:sp>
        <p:nvSpPr>
          <p:cNvPr id="41" name="Text 34"/>
          <p:cNvSpPr txBox="1"/>
          <p:nvPr/>
        </p:nvSpPr>
        <p:spPr>
          <a:xfrm>
            <a:off x="9795419" y="4407408"/>
            <a:ext cx="1710477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per-frame with temporal redundancy; attacks would include frame-dropping and re-encoding.</a:t>
            </a:r>
            <a:endParaRPr lang="en-US" sz="980" dirty="0"/>
          </a:p>
        </p:txBody>
      </p:sp>
      <p:sp>
        <p:nvSpPr>
          <p:cNvPr id="42" name="Text 3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NMIMS MPSTME  ·  Image &amp; Video Processing</a:t>
            </a:r>
            <a:endParaRPr lang="en-US" sz="900" dirty="0"/>
          </a:p>
        </p:txBody>
      </p:sp>
      <p:sp>
        <p:nvSpPr>
          <p:cNvPr id="43" name="Text 3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474720"/>
            <a:ext cx="4754880" cy="4754880"/>
          </a:xfrm>
          <a:prstGeom prst="ellipse">
            <a:avLst/>
          </a:prstGeom>
          <a:ln w="12700">
            <a:solidFill>
              <a:srgbClr val="17B8B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4023360"/>
            <a:ext cx="3657600" cy="3657600"/>
          </a:xfrm>
          <a:prstGeom prst="ellipse">
            <a:avLst/>
          </a:prstGeom>
          <a:ln w="12700">
            <a:solidFill>
              <a:srgbClr val="17B8B0">
                <a:alpha val="3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4572000"/>
            <a:ext cx="2560320" cy="2560320"/>
          </a:xfrm>
          <a:prstGeom prst="ellipse">
            <a:avLst/>
          </a:prstGeom>
          <a:ln w="12700">
            <a:solidFill>
              <a:srgbClr val="17B8B0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8404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7B8B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84048"/>
            <a:ext cx="10728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09728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Supports a Fully Transparent, Effective Watermarking Pipeline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5146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— DWT, DCT, SVD, and their inverses — is a closed-form, independently verifiable linear-algebraic operation. The two identified failure modes were explained from first principles, not hidden, and a concrete path to fixing them is already scoped.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703320"/>
            <a:ext cx="3545738" cy="1280160"/>
          </a:xfrm>
          <a:prstGeom prst="roundRect">
            <a:avLst>
              <a:gd name="adj" fmla="val 5714"/>
            </a:avLst>
          </a:prstGeom>
          <a:solidFill>
            <a:srgbClr val="1B2E57"/>
          </a:solidFill>
          <a:ln w="12700">
            <a:solidFill>
              <a:srgbClr val="2B3E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886200"/>
            <a:ext cx="2997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35.6 dB / 0.996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453128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3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PSNR / SSIM — imperceptible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22978" y="3703320"/>
            <a:ext cx="3545738" cy="1280160"/>
          </a:xfrm>
          <a:prstGeom prst="roundRect">
            <a:avLst>
              <a:gd name="adj" fmla="val 5714"/>
            </a:avLst>
          </a:prstGeom>
          <a:solidFill>
            <a:srgbClr val="1B2E57"/>
          </a:solidFill>
          <a:ln w="12700">
            <a:solidFill>
              <a:srgbClr val="2B3E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97298" y="3886200"/>
            <a:ext cx="2997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30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4597298" y="4453128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3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trials with NC ≥ 0.75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43037" y="3703320"/>
            <a:ext cx="3545738" cy="1280160"/>
          </a:xfrm>
          <a:prstGeom prst="roundRect">
            <a:avLst>
              <a:gd name="adj" fmla="val 5714"/>
            </a:avLst>
          </a:prstGeom>
          <a:solidFill>
            <a:srgbClr val="1B2E57"/>
          </a:solidFill>
          <a:ln w="12700">
            <a:solidFill>
              <a:srgbClr val="2B3E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7357" y="3886200"/>
            <a:ext cx="2997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Closed-Form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8417357" y="4453128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3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ML / DL — fully explainable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5394960"/>
            <a:ext cx="4206240" cy="0"/>
          </a:xfrm>
          <a:prstGeom prst="line">
            <a:avLst/>
          </a:prstGeom>
          <a:noFill/>
          <a:ln w="12700">
            <a:solidFill>
              <a:srgbClr val="2B3E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557784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7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—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Block-based redundant embedding is the clear next milestone: it directly addresses the cropping failure while preserving the transparency of every other stage.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NMIMS MPSTME  ·  Image &amp; Video Processing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7B8B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384048"/>
            <a:ext cx="10728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1118585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3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Cited in This Work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11185855" cy="749808"/>
          </a:xfrm>
          <a:prstGeom prst="roundRect">
            <a:avLst>
              <a:gd name="adj" fmla="val 9756"/>
            </a:avLst>
          </a:prstGeom>
          <a:solidFill>
            <a:srgbClr val="F3F5F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11226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3234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112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920240"/>
            <a:ext cx="101342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Cox, I. J., Kilian, J., Leighton, F. T., &amp; Shamoon, T. (1997). Secure spread spectrum watermarking for multimedia. IEEE Transactions on Image Processing, 6(12).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761488"/>
            <a:ext cx="11185855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95351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3234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761488"/>
            <a:ext cx="101342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Liu, R., &amp; Tan, T. (2002). An SVD-based watermarking scheme for protecting rightful ownership. IEEE Transactions on Multimedia, 4(1).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602736"/>
            <a:ext cx="11185855" cy="749808"/>
          </a:xfrm>
          <a:prstGeom prst="roundRect">
            <a:avLst>
              <a:gd name="adj" fmla="val 9756"/>
            </a:avLst>
          </a:prstGeom>
          <a:solidFill>
            <a:srgbClr val="F3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7947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3234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602736"/>
            <a:ext cx="101342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Ganic, E., &amp; Eskicioglu, A. M. (2004). Robust DWT-SVD domain image watermarking: embedding data in all frequencies. Proceedings of the ACM Multimedia and Security Workshop.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4443984"/>
            <a:ext cx="11185855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463600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3234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4636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4443984"/>
            <a:ext cx="101342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Gonzalez, R. C., &amp; Woods, R. E. Digital Image Processing (4th ed.). Pearson — chapters on wavelet and frequency-domain transforms.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5285232"/>
            <a:ext cx="11185855" cy="749808"/>
          </a:xfrm>
          <a:prstGeom prst="roundRect">
            <a:avLst>
              <a:gd name="adj" fmla="val 9756"/>
            </a:avLst>
          </a:prstGeom>
          <a:solidFill>
            <a:srgbClr val="F3F5F9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547725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3234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5477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5285232"/>
            <a:ext cx="101342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scikit-image and PyWavelets project documentation — standard test images and DWT/metric implementations used in this project.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NMIMS MPSTME  ·  Image &amp; Video Processing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Image Watermarking — Hybrid DWT-DCT-SVD</dc:title>
  <dc:subject>PptxGenJS Presentation</dc:subject>
  <dc:creator>Krishang Vikram Singh</dc:creator>
  <cp:lastModifiedBy>Krishang Vikram Singh</cp:lastModifiedBy>
  <cp:revision>1</cp:revision>
  <dcterms:created xsi:type="dcterms:W3CDTF">2026-09-04T05:04:49Z</dcterms:created>
  <dcterms:modified xsi:type="dcterms:W3CDTF">2026-09-04T05:04:49Z</dcterms:modified>
</cp:coreProperties>
</file>